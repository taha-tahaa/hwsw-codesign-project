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Taha. 0:20. Introduce both presenters and the one-line result. Do not explain anything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Taha. 1:20. The key move: the two benchmarks were chosen for contrast, not convenience. End on the bottom strip - it sets up both hardware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B6 carries what perf can and cannot do inside the guest - go there if asked. Taha. 1:10. This is a teaching slide. The disagreement between the two profilers is the point - do not rush the bottom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Taha. 0:50. Keep it short - this is orientation. The last line pre-empts an obvious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Taha. 1:10. Read the top three. Flag that move_to_front is second - that is the perf-vs-cProfile disagreement showing up. End on the call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Taha. 1:30. THE most important slide in the pyflate half. Pause after '2.3, not 250'. If short on time elsewhere, protect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Taha. 1:30. Read it left to right. BASELINE: the decoder walks a sorted list of Huffman objects and re-peeks the bitstream whenever the candidate length changes - about seven Python calls to decode one symbol. The profile is what pointed here: 148,271 symbols produced 341,601 peeks, only 2.3 per symbol, so the bottleneck is CALL COUNT, not scan depth. OPTIMIZED: the codes are already canonical, so limit/base/perm let us start at the minimum length and extend one bit at a time, and the bit cursor lives in local variables, so the hot loop makes no Python calls at all. Still one length at a time, still one core - 2.27x fewer instructions is where the 2.51x comes from. HARDWARE: the window exposes 20 bits, twenty comparators test every length simultaneously, and a priority encoder takes the shortest match, which prefix-free codes guarantee is the correct one. Be explicit about the two bottom boxes: 1115 to 445 ms is MEASURED in the guest; the 0.7 ms is an ESTIMATE under the assumptions printed there. Likely question: 'does the valid/ready handshake serialize your twenty comparators?' Answer: no - all twenty comparisons happen every cycle; the handshake only decides when the window retires bits and the symbol moves on. Second likely question: 'why not a systolic array?' Because the number of bits consumed per symbol is data-dependent, so a fixed-cadence array would mis-align; the parallelism comes from the comparators, the flow control from valid/ready.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Taha. 1:20. Land the IPC row. This is the strongest single piece of evidence in the whole project - instructions fell in near-exact proportion to the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 0:50. Your opening - re-establish yourself. The 18-per-pixel number is the hook; it justifies the hardware choice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 1:10. Point at the orange bars as a group - that is the 47%. The dynamic type checks cost more than the arithmetic they guard.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 1:20. Your strongest slide. Let the before/after sit for a beat before saying 49%. Protect this slide if running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 1:30. Left to right again. BASELINE: the renderer is written with Vector and Point objects, so every subtraction and dot product is a method call that first type-checks its operand - 509,871 of those checks in one frame - and each one allocates a temporary. Worse, the shadow ray is constructed INSIDE the loop over objects, so the same ray, square root included, is rebuilt eight times per light. That single line is the bottleneck the profile found. OPTIMIZED: hoist the shadow ray out of the loop, inline the intersection arithmetic on raw floats, cache radius squared, and track the nearest hit with a running minimum instead of building a list. The ablation numbers on the slide are what each change is worth. Critically, we kept the floating-point operand order, so the image is bit-identical - a speedup that changed a pixel would be worth nothing. HARDWARE: the kernel is the same shape every time, so eight processing elements each hold one sphere, preloaded once per frame, and the ray is broadcast to all of them; they compute in parallel and the nearest hit is reduced on the way out. The sqrt is the real design decision: shared, it sets one ray per eight cycles; replicated, one ray per cycle for about eight times the sqrt area. Be explicit: 809 to 282 ms is MEASURED; the 22 microseconds is an ESTIMATE. And state the Amdahl line yourself before anyone asks: intersection is 35% of the optimized runtime, so the whole-frame ceiling is 1.54x - the hardware replaces the kernel, not the renderer.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 1:20. Tie it explicitly to tutorial 2 - row vs column major. Staff will recognize their own example and it shows we connected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 1:00. The brief asks for performance/area/power trade-offs - this slide IS that requirement. If late, state the shared-vs-replicated trade and skip the ulp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 1:00. Do not hide this - a found bug is evidence the verification works. Say plainly: we wrote it carefully, reviewed it, and it was wrong on vector two. If asked what tb_top_block covers: the assembled accelerator is programmed through its CSRs like a driver would, fed one compressed block, and checked byte for byte - plus both Rule 3 refusals (randomised block, block bigger than the on-chip index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0:40. Taha reads the pyflate column, Lana the raytrace column, then one of you reads the bottom strip. Rehearse the handoff.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Taha. 0:25. Move briskly - do not dwell. Volunteering limitations pre-empts the question and reads as confidence, not weakness.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 0:15. Short. Then: 'Happy to take questions, and we have the code running if you would like to see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0:05. Stop here - this is the end of the presented material. Leave the slide up for the questions: it carries both headline numbers and the verification count. Everything after it is backup: B1 canonical Huffman, B2 the three interface rules, B3 the measurement environment, B4 what we rejected, B5 testing beyond the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how canonical decoding works, or how the hardware table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the HW/SW interface, the driver, or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where the numbers came from, or about measurement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'did you consider X'. Most likely question of the whole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whether the optimization generalizes, or only works on the one benchmark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Use if asked how we measured inside the VM, why the flame graphs use cpu-clock, or why there is no CPI stack. The cycles=0 story is the strongest bit - we nearly published a wrong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548640" y="1371600"/>
            <a:ext cx="11091672" cy="274320"/>
          </a:xfrm>
          <a:prstGeom prst="rect">
            <a:avLst/>
          </a:prstGeom>
          <a:noFill/>
          <a:ln/>
        </p:spPr>
        <p:txBody>
          <a:bodyPr wrap="square" lIns="0" tIns="0" rIns="0" bIns="0" rtlCol="0" anchor="ctr"/>
          <a:lstStyle/>
          <a:p>
            <a:pPr indent="0" marL="0">
              <a:buNone/>
            </a:pPr>
            <a:r>
              <a:rPr lang="en-US" sz="1300" b="1" spc="200" kern="0" dirty="0">
                <a:solidFill>
                  <a:srgbClr val="E8833A"/>
                </a:solidFill>
                <a:latin typeface="Calibri" pitchFamily="34" charset="0"/>
                <a:ea typeface="Calibri" pitchFamily="34" charset="-122"/>
                <a:cs typeface="Calibri" pitchFamily="34" charset="-120"/>
              </a:rPr>
              <a:t>HW/SW CO-DESIGN  ·  00460882</a:t>
            </a:r>
            <a:endParaRPr lang="en-US" sz="1300" dirty="0"/>
          </a:p>
        </p:txBody>
      </p:sp>
      <p:sp>
        <p:nvSpPr>
          <p:cNvPr id="3" name="Text 1"/>
          <p:cNvSpPr txBox="1"/>
          <p:nvPr/>
        </p:nvSpPr>
        <p:spPr>
          <a:xfrm>
            <a:off x="548640" y="1783080"/>
            <a:ext cx="7863840" cy="173736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Making Python Fast,</a:t>
            </a:r>
            <a:endParaRPr lang="en-US" sz="4200" dirty="0"/>
          </a:p>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Then Making It Hardware</a:t>
            </a:r>
            <a:endParaRPr lang="en-US" sz="4200" dirty="0"/>
          </a:p>
        </p:txBody>
      </p:sp>
      <p:sp>
        <p:nvSpPr>
          <p:cNvPr id="4" name="Text 2"/>
          <p:cNvSpPr txBox="1"/>
          <p:nvPr/>
        </p:nvSpPr>
        <p:spPr>
          <a:xfrm>
            <a:off x="548640" y="3657600"/>
            <a:ext cx="7680960" cy="640080"/>
          </a:xfrm>
          <a:prstGeom prst="rect">
            <a:avLst/>
          </a:prstGeom>
          <a:noFill/>
          <a:ln/>
        </p:spPr>
        <p:txBody>
          <a:bodyPr wrap="square" lIns="0" tIns="0" rIns="0" bIns="0" rtlCol="0" anchor="ctr"/>
          <a:lstStyle/>
          <a:p>
            <a:pPr indent="0" marL="0">
              <a:lnSpc>
                <a:spcPts val="2000"/>
              </a:lnSpc>
              <a:buNone/>
            </a:pPr>
            <a:r>
              <a:rPr lang="en-US" sz="1400" dirty="0">
                <a:solidFill>
                  <a:srgbClr val="AFBECD"/>
                </a:solidFill>
                <a:latin typeface="Calibri" pitchFamily="34" charset="0"/>
                <a:ea typeface="Calibri" pitchFamily="34" charset="-122"/>
                <a:cs typeface="Calibri" pitchFamily="34" charset="-120"/>
              </a:rPr>
              <a:t>Profiling two pyperformance benchmarks, optimizing them without changing a single output byte, and proposing an accelerator for each.</a:t>
            </a:r>
            <a:endParaRPr lang="en-US" sz="1400" dirty="0"/>
          </a:p>
        </p:txBody>
      </p:sp>
      <p:sp>
        <p:nvSpPr>
          <p:cNvPr id="5" name="Text 3"/>
          <p:cNvSpPr txBox="1"/>
          <p:nvPr/>
        </p:nvSpPr>
        <p:spPr>
          <a:xfrm>
            <a:off x="548640" y="4663440"/>
            <a:ext cx="731520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Taha Taha   ·   Lana Bakre</a:t>
            </a:r>
            <a:endParaRPr lang="en-US" sz="1600" dirty="0"/>
          </a:p>
        </p:txBody>
      </p:sp>
      <p:sp>
        <p:nvSpPr>
          <p:cNvPr id="6" name="Text 4"/>
          <p:cNvSpPr txBox="1"/>
          <p:nvPr/>
        </p:nvSpPr>
        <p:spPr>
          <a:xfrm>
            <a:off x="548640" y="4983480"/>
            <a:ext cx="7315200" cy="274320"/>
          </a:xfrm>
          <a:prstGeom prst="rect">
            <a:avLst/>
          </a:prstGeom>
          <a:noFill/>
          <a:ln/>
        </p:spPr>
        <p:txBody>
          <a:bodyPr wrap="square" lIns="0" tIns="0" rIns="0" bIns="0" rtlCol="0" anchor="ctr"/>
          <a:lstStyle/>
          <a:p>
            <a:pPr indent="0" marL="0">
              <a:buNone/>
            </a:pPr>
            <a:r>
              <a:rPr lang="en-US" sz="1200" dirty="0">
                <a:solidFill>
                  <a:srgbClr val="8A97A6"/>
                </a:solidFill>
                <a:latin typeface="Calibri" pitchFamily="34" charset="0"/>
                <a:ea typeface="Calibri" pitchFamily="34" charset="-122"/>
                <a:cs typeface="Calibri" pitchFamily="34" charset="-120"/>
              </a:rPr>
              <a:t>Final project  ·  Technion</a:t>
            </a:r>
            <a:endParaRPr lang="en-US" sz="1200" dirty="0"/>
          </a:p>
        </p:txBody>
      </p:sp>
      <p:sp>
        <p:nvSpPr>
          <p:cNvPr id="7" name="Shape 5"/>
          <p:cNvSpPr/>
          <p:nvPr/>
        </p:nvSpPr>
        <p:spPr>
          <a:xfrm>
            <a:off x="8686800" y="1783080"/>
            <a:ext cx="2971800" cy="3200400"/>
          </a:xfrm>
          <a:prstGeom prst="roundRect">
            <a:avLst>
              <a:gd name="adj" fmla="val 1846"/>
            </a:avLst>
          </a:prstGeom>
          <a:solidFill>
            <a:srgbClr val="2B3A4A"/>
          </a:solidFill>
          <a:ln w="9525">
            <a:solidFill>
              <a:srgbClr val="3C4E61"/>
            </a:solidFill>
            <a:prstDash val="solid"/>
          </a:ln>
        </p:spPr>
      </p:sp>
      <p:sp>
        <p:nvSpPr>
          <p:cNvPr id="8" name="Text 6"/>
          <p:cNvSpPr txBox="1"/>
          <p:nvPr/>
        </p:nvSpPr>
        <p:spPr>
          <a:xfrm>
            <a:off x="8915400" y="1965960"/>
            <a:ext cx="2514600" cy="228600"/>
          </a:xfrm>
          <a:prstGeom prst="rect">
            <a:avLst/>
          </a:prstGeom>
          <a:noFill/>
          <a:ln/>
        </p:spPr>
        <p:txBody>
          <a:bodyPr wrap="square" lIns="0" tIns="0" rIns="0" bIns="0" rtlCol="0" anchor="ctr"/>
          <a:lstStyle/>
          <a:p>
            <a:pPr indent="0" marL="0">
              <a:buNone/>
            </a:pPr>
            <a:r>
              <a:rPr lang="en-US" sz="1000" b="1" spc="150" kern="0" dirty="0">
                <a:solidFill>
                  <a:srgbClr val="8A97A6"/>
                </a:solidFill>
                <a:latin typeface="Calibri" pitchFamily="34" charset="0"/>
                <a:ea typeface="Calibri" pitchFamily="34" charset="-122"/>
                <a:cs typeface="Calibri" pitchFamily="34" charset="-120"/>
              </a:rPr>
              <a:t>RESULTS</a:t>
            </a:r>
            <a:endParaRPr lang="en-US" sz="1000" dirty="0"/>
          </a:p>
        </p:txBody>
      </p:sp>
      <p:sp>
        <p:nvSpPr>
          <p:cNvPr id="9" name="Text 7"/>
          <p:cNvSpPr txBox="1"/>
          <p:nvPr/>
        </p:nvSpPr>
        <p:spPr>
          <a:xfrm>
            <a:off x="8915400" y="2286000"/>
            <a:ext cx="2514600" cy="256032"/>
          </a:xfrm>
          <a:prstGeom prst="rect">
            <a:avLst/>
          </a:prstGeom>
          <a:noFill/>
          <a:ln/>
        </p:spPr>
        <p:txBody>
          <a:bodyPr wrap="square" lIns="0" tIns="0" rIns="0" bIns="0" rtlCol="0" anchor="ctr"/>
          <a:lstStyle/>
          <a:p>
            <a:pPr indent="0" marL="0">
              <a:buNone/>
            </a:pPr>
            <a:r>
              <a:rPr lang="en-US" sz="1300" dirty="0">
                <a:solidFill>
                  <a:srgbClr val="AFBECD"/>
                </a:solidFill>
                <a:latin typeface="Calibri" pitchFamily="34" charset="0"/>
                <a:ea typeface="Calibri" pitchFamily="34" charset="-122"/>
                <a:cs typeface="Calibri" pitchFamily="34" charset="-120"/>
              </a:rPr>
              <a:t>pyflate</a:t>
            </a:r>
            <a:endParaRPr lang="en-US" sz="1300" dirty="0"/>
          </a:p>
        </p:txBody>
      </p:sp>
      <p:sp>
        <p:nvSpPr>
          <p:cNvPr id="10" name="Text 8"/>
          <p:cNvSpPr txBox="1"/>
          <p:nvPr/>
        </p:nvSpPr>
        <p:spPr>
          <a:xfrm>
            <a:off x="8915400" y="2523744"/>
            <a:ext cx="2514600" cy="548640"/>
          </a:xfrm>
          <a:prstGeom prst="rect">
            <a:avLst/>
          </a:prstGeom>
          <a:noFill/>
          <a:ln/>
        </p:spPr>
        <p:txBody>
          <a:bodyPr wrap="square" lIns="0" tIns="0" rIns="0" bIns="0" rtlCol="0" anchor="ctr"/>
          <a:lstStyle/>
          <a:p>
            <a:pPr indent="0" marL="0">
              <a:buNone/>
            </a:pPr>
            <a:r>
              <a:rPr lang="en-US" sz="3400" b="1" dirty="0">
                <a:solidFill>
                  <a:srgbClr val="2D9B8A"/>
                </a:solidFill>
                <a:latin typeface="Cambria" pitchFamily="34" charset="0"/>
                <a:ea typeface="Cambria" pitchFamily="34" charset="-122"/>
                <a:cs typeface="Cambria" pitchFamily="34" charset="-120"/>
              </a:rPr>
              <a:t>2.51×</a:t>
            </a:r>
            <a:endParaRPr lang="en-US" sz="3400" dirty="0"/>
          </a:p>
        </p:txBody>
      </p:sp>
      <p:sp>
        <p:nvSpPr>
          <p:cNvPr id="11" name="Text 9"/>
          <p:cNvSpPr txBox="1"/>
          <p:nvPr/>
        </p:nvSpPr>
        <p:spPr>
          <a:xfrm>
            <a:off x="8915400" y="3246120"/>
            <a:ext cx="2514600" cy="256032"/>
          </a:xfrm>
          <a:prstGeom prst="rect">
            <a:avLst/>
          </a:prstGeom>
          <a:noFill/>
          <a:ln/>
        </p:spPr>
        <p:txBody>
          <a:bodyPr wrap="square" lIns="0" tIns="0" rIns="0" bIns="0" rtlCol="0" anchor="ctr"/>
          <a:lstStyle/>
          <a:p>
            <a:pPr indent="0" marL="0">
              <a:buNone/>
            </a:pPr>
            <a:r>
              <a:rPr lang="en-US" sz="1300" dirty="0">
                <a:solidFill>
                  <a:srgbClr val="AFBECD"/>
                </a:solidFill>
                <a:latin typeface="Calibri" pitchFamily="34" charset="0"/>
                <a:ea typeface="Calibri" pitchFamily="34" charset="-122"/>
                <a:cs typeface="Calibri" pitchFamily="34" charset="-120"/>
              </a:rPr>
              <a:t>raytrace</a:t>
            </a:r>
            <a:endParaRPr lang="en-US" sz="1300" dirty="0"/>
          </a:p>
        </p:txBody>
      </p:sp>
      <p:sp>
        <p:nvSpPr>
          <p:cNvPr id="12" name="Text 10"/>
          <p:cNvSpPr txBox="1"/>
          <p:nvPr/>
        </p:nvSpPr>
        <p:spPr>
          <a:xfrm>
            <a:off x="8915400" y="3483864"/>
            <a:ext cx="2514600" cy="548640"/>
          </a:xfrm>
          <a:prstGeom prst="rect">
            <a:avLst/>
          </a:prstGeom>
          <a:noFill/>
          <a:ln/>
        </p:spPr>
        <p:txBody>
          <a:bodyPr wrap="square" lIns="0" tIns="0" rIns="0" bIns="0" rtlCol="0" anchor="ctr"/>
          <a:lstStyle/>
          <a:p>
            <a:pPr indent="0" marL="0">
              <a:buNone/>
            </a:pPr>
            <a:r>
              <a:rPr lang="en-US" sz="3400" b="1" dirty="0">
                <a:solidFill>
                  <a:srgbClr val="2D9B8A"/>
                </a:solidFill>
                <a:latin typeface="Cambria" pitchFamily="34" charset="0"/>
                <a:ea typeface="Cambria" pitchFamily="34" charset="-122"/>
                <a:cs typeface="Cambria" pitchFamily="34" charset="-120"/>
              </a:rPr>
              <a:t>2.87×</a:t>
            </a:r>
            <a:endParaRPr lang="en-US" sz="3400" dirty="0"/>
          </a:p>
        </p:txBody>
      </p:sp>
      <p:sp>
        <p:nvSpPr>
          <p:cNvPr id="13" name="Text 11"/>
          <p:cNvSpPr txBox="1"/>
          <p:nvPr/>
        </p:nvSpPr>
        <p:spPr>
          <a:xfrm>
            <a:off x="8915400" y="4114800"/>
            <a:ext cx="2514600" cy="960120"/>
          </a:xfrm>
          <a:prstGeom prst="rect">
            <a:avLst/>
          </a:prstGeom>
          <a:noFill/>
          <a:ln/>
        </p:spPr>
        <p:txBody>
          <a:bodyPr wrap="square" lIns="0" tIns="0" rIns="0" bIns="0" rtlCol="0" anchor="ctr"/>
          <a:lstStyle/>
          <a:p>
            <a:pPr indent="0" marL="0">
              <a:lnSpc>
                <a:spcPts val="1500"/>
              </a:lnSpc>
              <a:buNone/>
            </a:pPr>
            <a:r>
              <a:rPr lang="en-US" sz="1100" dirty="0">
                <a:solidFill>
                  <a:srgbClr val="8A97A6"/>
                </a:solidFill>
                <a:latin typeface="Calibri" pitchFamily="34" charset="0"/>
                <a:ea typeface="Calibri" pitchFamily="34" charset="-122"/>
                <a:cs typeface="Calibri" pitchFamily="34" charset="-120"/>
              </a:rPr>
              <a:t>Output byte-identical.</a:t>
            </a:r>
            <a:endParaRPr lang="en-US" sz="1100" dirty="0"/>
          </a:p>
          <a:p>
            <a:pPr indent="0" marL="0">
              <a:lnSpc>
                <a:spcPts val="1500"/>
              </a:lnSpc>
              <a:buNone/>
            </a:pPr>
            <a:r>
              <a:rPr lang="en-US" sz="1100" dirty="0">
                <a:solidFill>
                  <a:srgbClr val="8A97A6"/>
                </a:solidFill>
                <a:latin typeface="Calibri" pitchFamily="34" charset="0"/>
                <a:ea typeface="Calibri" pitchFamily="34" charset="-122"/>
                <a:cs typeface="Calibri" pitchFamily="34" charset="-120"/>
              </a:rPr>
              <a:t>Requirement was 7%.</a:t>
            </a:r>
            <a:endParaRPr lang="en-US" sz="1100" dirty="0"/>
          </a:p>
          <a:p>
            <a:pPr indent="0" marL="0">
              <a:lnSpc>
                <a:spcPts val="1500"/>
              </a:lnSpc>
              <a:buNone/>
            </a:pPr>
            <a:endParaRPr lang="en-US" sz="1100" dirty="0"/>
          </a:p>
          <a:p>
            <a:pPr indent="0" marL="0">
              <a:lnSpc>
                <a:spcPts val="1500"/>
              </a:lnSpc>
              <a:buNone/>
            </a:pPr>
            <a:r>
              <a:rPr lang="en-US" sz="1100" dirty="0">
                <a:solidFill>
                  <a:srgbClr val="8A97A6"/>
                </a:solidFill>
                <a:latin typeface="Calibri" pitchFamily="34" charset="0"/>
                <a:ea typeface="Calibri" pitchFamily="34" charset="-122"/>
                <a:cs typeface="Calibri" pitchFamily="34" charset="-120"/>
              </a:rPr>
              <a:t>Measured inside the</a:t>
            </a:r>
            <a:endParaRPr lang="en-US" sz="1100" dirty="0"/>
          </a:p>
          <a:p>
            <a:pPr indent="0" marL="0">
              <a:lnSpc>
                <a:spcPts val="1500"/>
              </a:lnSpc>
              <a:buNone/>
            </a:pPr>
            <a:r>
              <a:rPr lang="en-US" sz="1100" dirty="0">
                <a:solidFill>
                  <a:srgbClr val="8A97A6"/>
                </a:solidFill>
                <a:latin typeface="Calibri" pitchFamily="34" charset="0"/>
                <a:ea typeface="Calibri" pitchFamily="34" charset="-122"/>
                <a:cs typeface="Calibri" pitchFamily="34" charset="-120"/>
              </a:rPr>
              <a:t>course QEMU image.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E8833A"/>
                </a:solidFill>
                <a:latin typeface="Calibri" pitchFamily="34" charset="0"/>
                <a:ea typeface="Calibri" pitchFamily="34" charset="-122"/>
                <a:cs typeface="Calibri" pitchFamily="34" charset="-120"/>
              </a:rPr>
              <a:t>THE TASK</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Two benchmarks, chosen to disagree with each other</a:t>
            </a:r>
            <a:endParaRPr lang="en-US" sz="2900" dirty="0"/>
          </a:p>
        </p:txBody>
      </p:sp>
      <p:sp>
        <p:nvSpPr>
          <p:cNvPr id="4" name="Text 2"/>
          <p:cNvSpPr txBox="1"/>
          <p:nvPr/>
        </p:nvSpPr>
        <p:spPr>
          <a:xfrm>
            <a:off x="548640" y="1371600"/>
            <a:ext cx="11091672" cy="548640"/>
          </a:xfrm>
          <a:prstGeom prst="rect">
            <a:avLst/>
          </a:prstGeom>
          <a:noFill/>
          <a:ln/>
        </p:spPr>
        <p:txBody>
          <a:bodyPr wrap="square" lIns="0" tIns="0" rIns="0" bIns="0" rtlCol="0" anchor="ctr"/>
          <a:lstStyle/>
          <a:p>
            <a:pPr indent="0" marL="0">
              <a:lnSpc>
                <a:spcPts val="1900"/>
              </a:lnSpc>
              <a:buNone/>
            </a:pPr>
            <a:r>
              <a:rPr lang="en-US" sz="1400" dirty="0">
                <a:solidFill>
                  <a:srgbClr val="1B2430"/>
                </a:solidFill>
                <a:latin typeface="Calibri" pitchFamily="34" charset="0"/>
                <a:ea typeface="Calibri" pitchFamily="34" charset="-122"/>
                <a:cs typeface="Calibri" pitchFamily="34" charset="-120"/>
              </a:rPr>
              <a:t>The brief asked for 2 of 13 approved pyperformance benchmarks, ≥7% faster each. We picked a pair that stress opposite parts of the machine — because that is what lets one project motivate both accelerator paradigms from the course.</a:t>
            </a:r>
            <a:endParaRPr lang="en-US" sz="1400" dirty="0"/>
          </a:p>
        </p:txBody>
      </p:sp>
      <p:sp>
        <p:nvSpPr>
          <p:cNvPr id="5" name="Shape 3"/>
          <p:cNvSpPr/>
          <p:nvPr/>
        </p:nvSpPr>
        <p:spPr>
          <a:xfrm>
            <a:off x="548640" y="2103120"/>
            <a:ext cx="5394960" cy="3017520"/>
          </a:xfrm>
          <a:prstGeom prst="roundRect">
            <a:avLst>
              <a:gd name="adj" fmla="val 1818"/>
            </a:avLst>
          </a:prstGeom>
          <a:solidFill>
            <a:srgbClr val="F3F6F8"/>
          </a:solidFill>
          <a:ln w="9525">
            <a:solidFill>
              <a:srgbClr val="DBE2E8"/>
            </a:solidFill>
            <a:prstDash val="solid"/>
          </a:ln>
        </p:spPr>
      </p:sp>
      <p:sp>
        <p:nvSpPr>
          <p:cNvPr id="6" name="Text 4"/>
          <p:cNvSpPr txBox="1"/>
          <p:nvPr/>
        </p:nvSpPr>
        <p:spPr>
          <a:xfrm>
            <a:off x="822960" y="2286000"/>
            <a:ext cx="4846320" cy="365760"/>
          </a:xfrm>
          <a:prstGeom prst="rect">
            <a:avLst/>
          </a:prstGeom>
          <a:noFill/>
          <a:ln/>
        </p:spPr>
        <p:txBody>
          <a:bodyPr wrap="square" lIns="0" tIns="0" rIns="0" bIns="0" rtlCol="0" anchor="ctr"/>
          <a:lstStyle/>
          <a:p>
            <a:pPr indent="0" marL="0">
              <a:buNone/>
            </a:pPr>
            <a:r>
              <a:rPr lang="en-US" sz="2200" b="1" dirty="0">
                <a:solidFill>
                  <a:srgbClr val="1B2430"/>
                </a:solidFill>
                <a:latin typeface="Cambria" pitchFamily="34" charset="0"/>
                <a:ea typeface="Cambria" pitchFamily="34" charset="-122"/>
                <a:cs typeface="Cambria" pitchFamily="34" charset="-120"/>
              </a:rPr>
              <a:t>pyflate</a:t>
            </a:r>
            <a:endParaRPr lang="en-US" sz="2200" dirty="0"/>
          </a:p>
        </p:txBody>
      </p:sp>
      <p:sp>
        <p:nvSpPr>
          <p:cNvPr id="7" name="Text 5"/>
          <p:cNvSpPr txBox="1"/>
          <p:nvPr/>
        </p:nvSpPr>
        <p:spPr>
          <a:xfrm>
            <a:off x="822960" y="2633472"/>
            <a:ext cx="4846320" cy="256032"/>
          </a:xfrm>
          <a:prstGeom prst="rect">
            <a:avLst/>
          </a:prstGeom>
          <a:noFill/>
          <a:ln/>
        </p:spPr>
        <p:txBody>
          <a:bodyPr wrap="square" lIns="0" tIns="0" rIns="0" bIns="0" rtlCol="0" anchor="ctr"/>
          <a:lstStyle/>
          <a:p>
            <a:pPr indent="0" marL="0">
              <a:buNone/>
            </a:pPr>
            <a:r>
              <a:rPr lang="en-US" sz="1200" dirty="0">
                <a:solidFill>
                  <a:srgbClr val="6B7785"/>
                </a:solidFill>
                <a:latin typeface="Calibri" pitchFamily="34" charset="0"/>
                <a:ea typeface="Calibri" pitchFamily="34" charset="-122"/>
                <a:cs typeface="Calibri" pitchFamily="34" charset="-120"/>
              </a:rPr>
              <a:t>pure-Python bzip2 decompressor</a:t>
            </a:r>
            <a:endParaRPr lang="en-US" sz="1200" dirty="0"/>
          </a:p>
        </p:txBody>
      </p:sp>
      <p:sp>
        <p:nvSpPr>
          <p:cNvPr id="8" name="Text 6"/>
          <p:cNvSpPr txBox="1"/>
          <p:nvPr/>
        </p:nvSpPr>
        <p:spPr>
          <a:xfrm>
            <a:off x="822960" y="3017520"/>
            <a:ext cx="4846320" cy="1737360"/>
          </a:xfrm>
          <a:prstGeom prst="rect">
            <a:avLst/>
          </a:prstGeom>
          <a:noFill/>
          <a:ln/>
        </p:spPr>
        <p:txBody>
          <a:bodyPr wrap="square" lIns="0" tIns="0" rIns="0" bIns="0" rtlCol="0" anchor="ctr"/>
          <a:lstStyle/>
          <a:p>
            <a:pPr marL="342900" indent="-342900">
              <a:lnSpc>
                <a:spcPts val="1900"/>
              </a:lnSpc>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integer, control-flow, irregular memory</a:t>
            </a:r>
            <a:endParaRPr lang="en-US" sz="1300" dirty="0"/>
          </a:p>
          <a:p>
            <a:pPr marL="342900" indent="-342900">
              <a:lnSpc>
                <a:spcPts val="1900"/>
              </a:lnSpc>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variable-length Huffman codes</a:t>
            </a:r>
            <a:endParaRPr lang="en-US" sz="1300" dirty="0"/>
          </a:p>
          <a:p>
            <a:pPr marL="342900" indent="-342900">
              <a:lnSpc>
                <a:spcPts val="1900"/>
              </a:lnSpc>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bits consumed per symbol: 1 to 20</a:t>
            </a:r>
            <a:endParaRPr lang="en-US" sz="1300" dirty="0"/>
          </a:p>
          <a:p>
            <a:pPr marL="342900" indent="-342900">
              <a:lnSpc>
                <a:spcPts val="1900"/>
              </a:lnSpc>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 data-dependent rate → DATAFLOW</a:t>
            </a:r>
            <a:endParaRPr lang="en-US" sz="1300" dirty="0"/>
          </a:p>
        </p:txBody>
      </p:sp>
      <p:sp>
        <p:nvSpPr>
          <p:cNvPr id="9" name="Shape 7"/>
          <p:cNvSpPr/>
          <p:nvPr/>
        </p:nvSpPr>
        <p:spPr>
          <a:xfrm>
            <a:off x="6245352" y="2103120"/>
            <a:ext cx="5394960" cy="3017520"/>
          </a:xfrm>
          <a:prstGeom prst="roundRect">
            <a:avLst>
              <a:gd name="adj" fmla="val 1818"/>
            </a:avLst>
          </a:prstGeom>
          <a:solidFill>
            <a:srgbClr val="F3F6F8"/>
          </a:solidFill>
          <a:ln w="9525">
            <a:solidFill>
              <a:srgbClr val="DBE2E8"/>
            </a:solidFill>
            <a:prstDash val="solid"/>
          </a:ln>
        </p:spPr>
      </p:sp>
      <p:sp>
        <p:nvSpPr>
          <p:cNvPr id="10" name="Text 8"/>
          <p:cNvSpPr txBox="1"/>
          <p:nvPr/>
        </p:nvSpPr>
        <p:spPr>
          <a:xfrm>
            <a:off x="6519672" y="2286000"/>
            <a:ext cx="4846320" cy="365760"/>
          </a:xfrm>
          <a:prstGeom prst="rect">
            <a:avLst/>
          </a:prstGeom>
          <a:noFill/>
          <a:ln/>
        </p:spPr>
        <p:txBody>
          <a:bodyPr wrap="square" lIns="0" tIns="0" rIns="0" bIns="0" rtlCol="0" anchor="ctr"/>
          <a:lstStyle/>
          <a:p>
            <a:pPr indent="0" marL="0">
              <a:buNone/>
            </a:pPr>
            <a:r>
              <a:rPr lang="en-US" sz="2200" b="1" dirty="0">
                <a:solidFill>
                  <a:srgbClr val="1B2430"/>
                </a:solidFill>
                <a:latin typeface="Cambria" pitchFamily="34" charset="0"/>
                <a:ea typeface="Cambria" pitchFamily="34" charset="-122"/>
                <a:cs typeface="Cambria" pitchFamily="34" charset="-120"/>
              </a:rPr>
              <a:t>raytrace</a:t>
            </a:r>
            <a:endParaRPr lang="en-US" sz="2200" dirty="0"/>
          </a:p>
        </p:txBody>
      </p:sp>
      <p:sp>
        <p:nvSpPr>
          <p:cNvPr id="11" name="Text 9"/>
          <p:cNvSpPr txBox="1"/>
          <p:nvPr/>
        </p:nvSpPr>
        <p:spPr>
          <a:xfrm>
            <a:off x="6519672" y="2633472"/>
            <a:ext cx="4846320" cy="256032"/>
          </a:xfrm>
          <a:prstGeom prst="rect">
            <a:avLst/>
          </a:prstGeom>
          <a:noFill/>
          <a:ln/>
        </p:spPr>
        <p:txBody>
          <a:bodyPr wrap="square" lIns="0" tIns="0" rIns="0" bIns="0" rtlCol="0" anchor="ctr"/>
          <a:lstStyle/>
          <a:p>
            <a:pPr indent="0" marL="0">
              <a:buNone/>
            </a:pPr>
            <a:r>
              <a:rPr lang="en-US" sz="1200" dirty="0">
                <a:solidFill>
                  <a:srgbClr val="6B7785"/>
                </a:solidFill>
                <a:latin typeface="Calibri" pitchFamily="34" charset="0"/>
                <a:ea typeface="Calibri" pitchFamily="34" charset="-122"/>
                <a:cs typeface="Calibri" pitchFamily="34" charset="-120"/>
              </a:rPr>
              <a:t>pure-Python recursive ray tracer</a:t>
            </a:r>
            <a:endParaRPr lang="en-US" sz="1200" dirty="0"/>
          </a:p>
        </p:txBody>
      </p:sp>
      <p:sp>
        <p:nvSpPr>
          <p:cNvPr id="12" name="Text 10"/>
          <p:cNvSpPr txBox="1"/>
          <p:nvPr/>
        </p:nvSpPr>
        <p:spPr>
          <a:xfrm>
            <a:off x="6519672" y="3017520"/>
            <a:ext cx="4846320" cy="1737360"/>
          </a:xfrm>
          <a:prstGeom prst="rect">
            <a:avLst/>
          </a:prstGeom>
          <a:noFill/>
          <a:ln/>
        </p:spPr>
        <p:txBody>
          <a:bodyPr wrap="square" lIns="0" tIns="0" rIns="0" bIns="0" rtlCol="0" anchor="ctr"/>
          <a:lstStyle/>
          <a:p>
            <a:pPr marL="342900" indent="-342900">
              <a:lnSpc>
                <a:spcPts val="1900"/>
              </a:lnSpc>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floating point, allocation bound</a:t>
            </a:r>
            <a:endParaRPr lang="en-US" sz="1300" dirty="0"/>
          </a:p>
          <a:p>
            <a:pPr marL="342900" indent="-342900">
              <a:lnSpc>
                <a:spcPts val="1900"/>
              </a:lnSpc>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every test the same fixed shape</a:t>
            </a:r>
            <a:endParaRPr lang="en-US" sz="1300" dirty="0"/>
          </a:p>
          <a:p>
            <a:pPr marL="342900" indent="-342900">
              <a:lnSpc>
                <a:spcPts val="1900"/>
              </a:lnSpc>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fixed operand count, fixed latency</a:t>
            </a:r>
            <a:endParaRPr lang="en-US" sz="1300" dirty="0"/>
          </a:p>
          <a:p>
            <a:pPr marL="342900" indent="-342900">
              <a:lnSpc>
                <a:spcPts val="1900"/>
              </a:lnSpc>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 fixed cadence → SYSTOLIC-STYLE ARRAY</a:t>
            </a:r>
            <a:endParaRPr lang="en-US" sz="1300" dirty="0"/>
          </a:p>
        </p:txBody>
      </p:sp>
      <p:sp>
        <p:nvSpPr>
          <p:cNvPr id="13" name="Shape 11"/>
          <p:cNvSpPr/>
          <p:nvPr/>
        </p:nvSpPr>
        <p:spPr>
          <a:xfrm>
            <a:off x="548640" y="5349240"/>
            <a:ext cx="11091672" cy="658368"/>
          </a:xfrm>
          <a:prstGeom prst="roundRect">
            <a:avLst>
              <a:gd name="adj" fmla="val 8333"/>
            </a:avLst>
          </a:prstGeom>
          <a:solidFill>
            <a:srgbClr val="1B2430"/>
          </a:solidFill>
          <a:ln w="12700">
            <a:solidFill>
              <a:srgbClr val="1B2430"/>
            </a:solidFill>
            <a:prstDash val="solid"/>
          </a:ln>
        </p:spPr>
      </p:sp>
      <p:sp>
        <p:nvSpPr>
          <p:cNvPr id="14" name="Text 12"/>
          <p:cNvSpPr txBox="1"/>
          <p:nvPr/>
        </p:nvSpPr>
        <p:spPr>
          <a:xfrm>
            <a:off x="822960" y="5458968"/>
            <a:ext cx="10543032" cy="457200"/>
          </a:xfrm>
          <a:prstGeom prst="rect">
            <a:avLst/>
          </a:prstGeom>
          <a:noFill/>
          <a:ln/>
        </p:spPr>
        <p:txBody>
          <a:bodyPr wrap="square" lIns="0" tIns="0" rIns="0" bIns="0" rtlCol="0" anchor="ctr"/>
          <a:lstStyle/>
          <a:p>
            <a:pPr indent="0" marL="0">
              <a:buNone/>
            </a:pPr>
            <a:r>
              <a:rPr lang="en-US" sz="1300" i="1" dirty="0">
                <a:solidFill>
                  <a:srgbClr val="E8EDF2"/>
                </a:solidFill>
                <a:latin typeface="Calibri" pitchFamily="34" charset="0"/>
                <a:ea typeface="Calibri" pitchFamily="34" charset="-122"/>
                <a:cs typeface="Calibri" pitchFamily="34" charset="-120"/>
              </a:rPr>
              <a:t>A conventional systolic array relies on regular, fixed-cadence data movement. A variable-length stream needs explicit valid/ready flow control to avoid misalignment — which is why pyflate is a dataflow design and ray–sphere intersection is not.</a:t>
            </a:r>
            <a:endParaRPr lang="en-US" sz="1300" dirty="0"/>
          </a:p>
        </p:txBody>
      </p:sp>
      <p:sp>
        <p:nvSpPr>
          <p:cNvPr id="15" name="Text 13"/>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Taha</a:t>
            </a:r>
            <a:endParaRPr lang="en-US" sz="1000" dirty="0"/>
          </a:p>
        </p:txBody>
      </p:sp>
      <p:sp>
        <p:nvSpPr>
          <p:cNvPr id="16" name="Text 14"/>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2D9B8A"/>
                </a:solidFill>
                <a:latin typeface="Calibri" pitchFamily="34" charset="0"/>
                <a:ea typeface="Calibri" pitchFamily="34" charset="-122"/>
                <a:cs typeface="Calibri" pitchFamily="34" charset="-120"/>
              </a:rPr>
              <a:t>METHOD</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No single tool answers both questions</a:t>
            </a:r>
            <a:endParaRPr lang="en-US" sz="2900" dirty="0"/>
          </a:p>
        </p:txBody>
      </p:sp>
      <p:sp>
        <p:nvSpPr>
          <p:cNvPr id="4" name="Text 2"/>
          <p:cNvSpPr txBox="1"/>
          <p:nvPr/>
        </p:nvSpPr>
        <p:spPr>
          <a:xfrm>
            <a:off x="548640" y="1371600"/>
            <a:ext cx="11091672" cy="457200"/>
          </a:xfrm>
          <a:prstGeom prst="rect">
            <a:avLst/>
          </a:prstGeom>
          <a:noFill/>
          <a:ln/>
        </p:spPr>
        <p:txBody>
          <a:bodyPr wrap="square" lIns="0" tIns="0" rIns="0" bIns="0" rtlCol="0" anchor="ctr"/>
          <a:lstStyle/>
          <a:p>
            <a:pPr indent="0" marL="0">
              <a:lnSpc>
                <a:spcPts val="1900"/>
              </a:lnSpc>
              <a:buNone/>
            </a:pPr>
            <a:r>
              <a:rPr lang="en-US" sz="1400" dirty="0">
                <a:solidFill>
                  <a:srgbClr val="1B2430"/>
                </a:solidFill>
                <a:latin typeface="Calibri" pitchFamily="34" charset="0"/>
                <a:ea typeface="Calibri" pitchFamily="34" charset="-122"/>
                <a:cs typeface="Calibri" pitchFamily="34" charset="-120"/>
              </a:rPr>
              <a:t>Lecture 4 makes the point directly: a flame graph shows you WHERE, performance counters show you WHY. We used three views, because each one lies in a different direction.</a:t>
            </a:r>
            <a:endParaRPr lang="en-US" sz="1400" dirty="0"/>
          </a:p>
        </p:txBody>
      </p:sp>
      <p:sp>
        <p:nvSpPr>
          <p:cNvPr id="5" name="Shape 3"/>
          <p:cNvSpPr/>
          <p:nvPr/>
        </p:nvSpPr>
        <p:spPr>
          <a:xfrm>
            <a:off x="548640" y="2011680"/>
            <a:ext cx="3474720" cy="2286000"/>
          </a:xfrm>
          <a:prstGeom prst="roundRect">
            <a:avLst>
              <a:gd name="adj" fmla="val 2400"/>
            </a:avLst>
          </a:prstGeom>
          <a:solidFill>
            <a:srgbClr val="F3F6F8"/>
          </a:solidFill>
          <a:ln w="9525">
            <a:solidFill>
              <a:srgbClr val="DBE2E8"/>
            </a:solidFill>
            <a:prstDash val="solid"/>
          </a:ln>
        </p:spPr>
      </p:sp>
      <p:sp>
        <p:nvSpPr>
          <p:cNvPr id="6" name="Shape 4"/>
          <p:cNvSpPr/>
          <p:nvPr/>
        </p:nvSpPr>
        <p:spPr>
          <a:xfrm>
            <a:off x="822960" y="2240280"/>
            <a:ext cx="384048" cy="384048"/>
          </a:xfrm>
          <a:prstGeom prst="ellipse">
            <a:avLst/>
          </a:prstGeom>
          <a:solidFill>
            <a:srgbClr val="E8833A"/>
          </a:solidFill>
          <a:ln w="12700">
            <a:solidFill>
              <a:srgbClr val="E8833A"/>
            </a:solidFill>
            <a:prstDash val="solid"/>
          </a:ln>
        </p:spPr>
      </p:sp>
      <p:sp>
        <p:nvSpPr>
          <p:cNvPr id="7" name="Text 5"/>
          <p:cNvSpPr txBox="1"/>
          <p:nvPr/>
        </p:nvSpPr>
        <p:spPr>
          <a:xfrm>
            <a:off x="822960" y="2240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325880" y="2258568"/>
            <a:ext cx="2560320" cy="274320"/>
          </a:xfrm>
          <a:prstGeom prst="rect">
            <a:avLst/>
          </a:prstGeom>
          <a:noFill/>
          <a:ln/>
        </p:spPr>
        <p:txBody>
          <a:bodyPr wrap="square" lIns="0" tIns="0" rIns="0" bIns="0" rtlCol="0" anchor="ctr"/>
          <a:lstStyle/>
          <a:p>
            <a:pPr indent="0" marL="0">
              <a:buNone/>
            </a:pPr>
            <a:r>
              <a:rPr lang="en-US" sz="1400" b="1" dirty="0">
                <a:solidFill>
                  <a:srgbClr val="1B2430"/>
                </a:solidFill>
                <a:latin typeface="Courier New" pitchFamily="34" charset="0"/>
                <a:ea typeface="Courier New" pitchFamily="34" charset="-122"/>
                <a:cs typeface="Courier New" pitchFamily="34" charset="-120"/>
              </a:rPr>
              <a:t>py-spy</a:t>
            </a:r>
            <a:endParaRPr lang="en-US" sz="1400" dirty="0"/>
          </a:p>
        </p:txBody>
      </p:sp>
      <p:sp>
        <p:nvSpPr>
          <p:cNvPr id="9" name="Text 7"/>
          <p:cNvSpPr txBox="1"/>
          <p:nvPr/>
        </p:nvSpPr>
        <p:spPr>
          <a:xfrm>
            <a:off x="822960" y="2788920"/>
            <a:ext cx="2926080" cy="310896"/>
          </a:xfrm>
          <a:prstGeom prst="rect">
            <a:avLst/>
          </a:prstGeom>
          <a:noFill/>
          <a:ln/>
        </p:spPr>
        <p:txBody>
          <a:bodyPr wrap="square" lIns="0" tIns="0" rIns="0" bIns="0" rtlCol="0" anchor="ctr"/>
          <a:lstStyle/>
          <a:p>
            <a:pPr indent="0" marL="0">
              <a:buNone/>
            </a:pPr>
            <a:r>
              <a:rPr lang="en-US" sz="1900" b="1" dirty="0">
                <a:solidFill>
                  <a:srgbClr val="E8833A"/>
                </a:solidFill>
                <a:latin typeface="Cambria" pitchFamily="34" charset="0"/>
                <a:ea typeface="Cambria" pitchFamily="34" charset="-122"/>
                <a:cs typeface="Cambria" pitchFamily="34" charset="-120"/>
              </a:rPr>
              <a:t>WHERE</a:t>
            </a:r>
            <a:endParaRPr lang="en-US" sz="1900" dirty="0"/>
          </a:p>
        </p:txBody>
      </p:sp>
      <p:sp>
        <p:nvSpPr>
          <p:cNvPr id="10" name="Text 8"/>
          <p:cNvSpPr txBox="1"/>
          <p:nvPr/>
        </p:nvSpPr>
        <p:spPr>
          <a:xfrm>
            <a:off x="822960" y="3154680"/>
            <a:ext cx="2926080" cy="914400"/>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samples PYTHON frames directly;</a:t>
            </a:r>
            <a:endParaRPr lang="en-US" sz="1200" dirty="0"/>
          </a:p>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no -X perf needed</a:t>
            </a:r>
            <a:endParaRPr lang="en-US" sz="1200" dirty="0"/>
          </a:p>
        </p:txBody>
      </p:sp>
      <p:sp>
        <p:nvSpPr>
          <p:cNvPr id="11" name="Shape 9"/>
          <p:cNvSpPr/>
          <p:nvPr/>
        </p:nvSpPr>
        <p:spPr>
          <a:xfrm>
            <a:off x="4352544" y="2011680"/>
            <a:ext cx="3474720" cy="2286000"/>
          </a:xfrm>
          <a:prstGeom prst="roundRect">
            <a:avLst>
              <a:gd name="adj" fmla="val 2400"/>
            </a:avLst>
          </a:prstGeom>
          <a:solidFill>
            <a:srgbClr val="F3F6F8"/>
          </a:solidFill>
          <a:ln w="9525">
            <a:solidFill>
              <a:srgbClr val="DBE2E8"/>
            </a:solidFill>
            <a:prstDash val="solid"/>
          </a:ln>
        </p:spPr>
      </p:sp>
      <p:sp>
        <p:nvSpPr>
          <p:cNvPr id="12" name="Shape 10"/>
          <p:cNvSpPr/>
          <p:nvPr/>
        </p:nvSpPr>
        <p:spPr>
          <a:xfrm>
            <a:off x="4626864" y="2240280"/>
            <a:ext cx="384048" cy="384048"/>
          </a:xfrm>
          <a:prstGeom prst="ellipse">
            <a:avLst/>
          </a:prstGeom>
          <a:solidFill>
            <a:srgbClr val="7A6FA8"/>
          </a:solidFill>
          <a:ln w="12700">
            <a:solidFill>
              <a:srgbClr val="7A6FA8"/>
            </a:solidFill>
            <a:prstDash val="solid"/>
          </a:ln>
        </p:spPr>
      </p:sp>
      <p:sp>
        <p:nvSpPr>
          <p:cNvPr id="13" name="Text 11"/>
          <p:cNvSpPr txBox="1"/>
          <p:nvPr/>
        </p:nvSpPr>
        <p:spPr>
          <a:xfrm>
            <a:off x="4626864" y="2240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5129784" y="2258568"/>
            <a:ext cx="2560320" cy="274320"/>
          </a:xfrm>
          <a:prstGeom prst="rect">
            <a:avLst/>
          </a:prstGeom>
          <a:noFill/>
          <a:ln/>
        </p:spPr>
        <p:txBody>
          <a:bodyPr wrap="square" lIns="0" tIns="0" rIns="0" bIns="0" rtlCol="0" anchor="ctr"/>
          <a:lstStyle/>
          <a:p>
            <a:pPr indent="0" marL="0">
              <a:buNone/>
            </a:pPr>
            <a:r>
              <a:rPr lang="en-US" sz="1400" b="1" dirty="0">
                <a:solidFill>
                  <a:srgbClr val="1B2430"/>
                </a:solidFill>
                <a:latin typeface="Courier New" pitchFamily="34" charset="0"/>
                <a:ea typeface="Courier New" pitchFamily="34" charset="-122"/>
                <a:cs typeface="Courier New" pitchFamily="34" charset="-120"/>
              </a:rPr>
              <a:t>cProfile</a:t>
            </a:r>
            <a:endParaRPr lang="en-US" sz="1400" dirty="0"/>
          </a:p>
        </p:txBody>
      </p:sp>
      <p:sp>
        <p:nvSpPr>
          <p:cNvPr id="15" name="Text 13"/>
          <p:cNvSpPr txBox="1"/>
          <p:nvPr/>
        </p:nvSpPr>
        <p:spPr>
          <a:xfrm>
            <a:off x="4626864" y="2788920"/>
            <a:ext cx="2926080" cy="310896"/>
          </a:xfrm>
          <a:prstGeom prst="rect">
            <a:avLst/>
          </a:prstGeom>
          <a:noFill/>
          <a:ln/>
        </p:spPr>
        <p:txBody>
          <a:bodyPr wrap="square" lIns="0" tIns="0" rIns="0" bIns="0" rtlCol="0" anchor="ctr"/>
          <a:lstStyle/>
          <a:p>
            <a:pPr indent="0" marL="0">
              <a:buNone/>
            </a:pPr>
            <a:r>
              <a:rPr lang="en-US" sz="1900" b="1" dirty="0">
                <a:solidFill>
                  <a:srgbClr val="7A6FA8"/>
                </a:solidFill>
                <a:latin typeface="Cambria" pitchFamily="34" charset="0"/>
                <a:ea typeface="Cambria" pitchFamily="34" charset="-122"/>
                <a:cs typeface="Cambria" pitchFamily="34" charset="-120"/>
              </a:rPr>
              <a:t>HOW MANY</a:t>
            </a:r>
            <a:endParaRPr lang="en-US" sz="1900" dirty="0"/>
          </a:p>
        </p:txBody>
      </p:sp>
      <p:sp>
        <p:nvSpPr>
          <p:cNvPr id="16" name="Text 14"/>
          <p:cNvSpPr txBox="1"/>
          <p:nvPr/>
        </p:nvSpPr>
        <p:spPr>
          <a:xfrm>
            <a:off x="4626864" y="3154680"/>
            <a:ext cx="2926080" cy="914400"/>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call counts, which perf cannot give</a:t>
            </a:r>
            <a:endParaRPr lang="en-US" sz="1200" dirty="0"/>
          </a:p>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 but it charges per call, not per cycle</a:t>
            </a:r>
            <a:endParaRPr lang="en-US" sz="1200" dirty="0"/>
          </a:p>
        </p:txBody>
      </p:sp>
      <p:sp>
        <p:nvSpPr>
          <p:cNvPr id="17" name="Shape 15"/>
          <p:cNvSpPr/>
          <p:nvPr/>
        </p:nvSpPr>
        <p:spPr>
          <a:xfrm>
            <a:off x="8156448" y="2011680"/>
            <a:ext cx="3474720" cy="2286000"/>
          </a:xfrm>
          <a:prstGeom prst="roundRect">
            <a:avLst>
              <a:gd name="adj" fmla="val 2400"/>
            </a:avLst>
          </a:prstGeom>
          <a:solidFill>
            <a:srgbClr val="F3F6F8"/>
          </a:solidFill>
          <a:ln w="9525">
            <a:solidFill>
              <a:srgbClr val="DBE2E8"/>
            </a:solidFill>
            <a:prstDash val="solid"/>
          </a:ln>
        </p:spPr>
      </p:sp>
      <p:sp>
        <p:nvSpPr>
          <p:cNvPr id="18" name="Shape 16"/>
          <p:cNvSpPr/>
          <p:nvPr/>
        </p:nvSpPr>
        <p:spPr>
          <a:xfrm>
            <a:off x="8430768" y="2240280"/>
            <a:ext cx="384048" cy="384048"/>
          </a:xfrm>
          <a:prstGeom prst="ellipse">
            <a:avLst/>
          </a:prstGeom>
          <a:solidFill>
            <a:srgbClr val="2D9B8A"/>
          </a:solidFill>
          <a:ln w="12700">
            <a:solidFill>
              <a:srgbClr val="2D9B8A"/>
            </a:solidFill>
            <a:prstDash val="solid"/>
          </a:ln>
        </p:spPr>
      </p:sp>
      <p:sp>
        <p:nvSpPr>
          <p:cNvPr id="19" name="Text 17"/>
          <p:cNvSpPr txBox="1"/>
          <p:nvPr/>
        </p:nvSpPr>
        <p:spPr>
          <a:xfrm>
            <a:off x="8430768" y="2240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8933688" y="2258568"/>
            <a:ext cx="2560320" cy="274320"/>
          </a:xfrm>
          <a:prstGeom prst="rect">
            <a:avLst/>
          </a:prstGeom>
          <a:noFill/>
          <a:ln/>
        </p:spPr>
        <p:txBody>
          <a:bodyPr wrap="square" lIns="0" tIns="0" rIns="0" bIns="0" rtlCol="0" anchor="ctr"/>
          <a:lstStyle/>
          <a:p>
            <a:pPr indent="0" marL="0">
              <a:buNone/>
            </a:pPr>
            <a:r>
              <a:rPr lang="en-US" sz="1400" b="1" dirty="0">
                <a:solidFill>
                  <a:srgbClr val="1B2430"/>
                </a:solidFill>
                <a:latin typeface="Courier New" pitchFamily="34" charset="0"/>
                <a:ea typeface="Courier New" pitchFamily="34" charset="-122"/>
                <a:cs typeface="Courier New" pitchFamily="34" charset="-120"/>
              </a:rPr>
              <a:t>perf stat</a:t>
            </a:r>
            <a:endParaRPr lang="en-US" sz="1400" dirty="0"/>
          </a:p>
        </p:txBody>
      </p:sp>
      <p:sp>
        <p:nvSpPr>
          <p:cNvPr id="21" name="Text 19"/>
          <p:cNvSpPr txBox="1"/>
          <p:nvPr/>
        </p:nvSpPr>
        <p:spPr>
          <a:xfrm>
            <a:off x="8430768" y="2788920"/>
            <a:ext cx="2926080" cy="310896"/>
          </a:xfrm>
          <a:prstGeom prst="rect">
            <a:avLst/>
          </a:prstGeom>
          <a:noFill/>
          <a:ln/>
        </p:spPr>
        <p:txBody>
          <a:bodyPr wrap="square" lIns="0" tIns="0" rIns="0" bIns="0" rtlCol="0" anchor="ctr"/>
          <a:lstStyle/>
          <a:p>
            <a:pPr indent="0" marL="0">
              <a:buNone/>
            </a:pPr>
            <a:r>
              <a:rPr lang="en-US" sz="1900" b="1" dirty="0">
                <a:solidFill>
                  <a:srgbClr val="2D9B8A"/>
                </a:solidFill>
                <a:latin typeface="Cambria" pitchFamily="34" charset="0"/>
                <a:ea typeface="Cambria" pitchFamily="34" charset="-122"/>
                <a:cs typeface="Cambria" pitchFamily="34" charset="-120"/>
              </a:rPr>
              <a:t>WHY</a:t>
            </a:r>
            <a:endParaRPr lang="en-US" sz="1900" dirty="0"/>
          </a:p>
        </p:txBody>
      </p:sp>
      <p:sp>
        <p:nvSpPr>
          <p:cNvPr id="22" name="Text 20"/>
          <p:cNvSpPr txBox="1"/>
          <p:nvPr/>
        </p:nvSpPr>
        <p:spPr>
          <a:xfrm>
            <a:off x="8430768" y="3154680"/>
            <a:ext cx="2926080" cy="914400"/>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cycles, IPC, cache, branch</a:t>
            </a:r>
            <a:endParaRPr lang="en-US" sz="1200" dirty="0"/>
          </a:p>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 the mechanism behind the speedup</a:t>
            </a:r>
            <a:endParaRPr lang="en-US" sz="1200" dirty="0"/>
          </a:p>
        </p:txBody>
      </p:sp>
      <p:sp>
        <p:nvSpPr>
          <p:cNvPr id="23" name="Shape 21"/>
          <p:cNvSpPr/>
          <p:nvPr/>
        </p:nvSpPr>
        <p:spPr>
          <a:xfrm>
            <a:off x="548640" y="4572000"/>
            <a:ext cx="11091672" cy="1417320"/>
          </a:xfrm>
          <a:prstGeom prst="roundRect">
            <a:avLst>
              <a:gd name="adj" fmla="val 3871"/>
            </a:avLst>
          </a:prstGeom>
          <a:solidFill>
            <a:srgbClr val="FDF3EC"/>
          </a:solidFill>
          <a:ln w="9525">
            <a:solidFill>
              <a:srgbClr val="DBE2E8"/>
            </a:solidFill>
            <a:prstDash val="solid"/>
          </a:ln>
        </p:spPr>
      </p:sp>
      <p:sp>
        <p:nvSpPr>
          <p:cNvPr id="24" name="Text 22"/>
          <p:cNvSpPr txBox="1"/>
          <p:nvPr/>
        </p:nvSpPr>
        <p:spPr>
          <a:xfrm>
            <a:off x="822960" y="4709160"/>
            <a:ext cx="10543032" cy="27432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The two profilers disagreed — and that was the useful part.</a:t>
            </a:r>
            <a:endParaRPr lang="en-US" sz="1400" dirty="0"/>
          </a:p>
        </p:txBody>
      </p:sp>
      <p:sp>
        <p:nvSpPr>
          <p:cNvPr id="25" name="Text 23"/>
          <p:cNvSpPr txBox="1"/>
          <p:nvPr/>
        </p:nvSpPr>
        <p:spPr>
          <a:xfrm>
            <a:off x="822960" y="5010912"/>
            <a:ext cx="10543032" cy="868680"/>
          </a:xfrm>
          <a:prstGeom prst="rect">
            <a:avLst/>
          </a:prstGeom>
          <a:noFill/>
          <a:ln/>
        </p:spPr>
        <p:txBody>
          <a:bodyPr wrap="square" lIns="0" tIns="0" rIns="0" bIns="0" rtlCol="0" anchor="ctr"/>
          <a:lstStyle/>
          <a:p>
            <a:pPr indent="0" marL="0">
              <a:lnSpc>
                <a:spcPts val="1800"/>
              </a:lnSpc>
              <a:buNone/>
            </a:pPr>
            <a:r>
              <a:rPr lang="en-US" sz="1300" dirty="0">
                <a:solidFill>
                  <a:srgbClr val="1B2430"/>
                </a:solidFill>
                <a:latin typeface="Calibri" pitchFamily="34" charset="0"/>
                <a:ea typeface="Calibri" pitchFamily="34" charset="-122"/>
                <a:cs typeface="Calibri" pitchFamily="34" charset="-120"/>
              </a:rPr>
              <a:t>cProfile charges move_to_front about 10%. py-spy puts it at 15.69% — third overall. Instrumentation charges per CALL; sampling charges per CYCLE. move_to_front rebuilds a list from three slices on every one of its 92,803 calls, so a call-count profiler under-reports exactly that shape. We rewrote the analysis around the sampler.</a:t>
            </a:r>
            <a:endParaRPr lang="en-US" sz="1300" dirty="0"/>
          </a:p>
        </p:txBody>
      </p:sp>
      <p:sp>
        <p:nvSpPr>
          <p:cNvPr id="26" name="Text 24"/>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Taha</a:t>
            </a:r>
            <a:endParaRPr lang="en-US" sz="1000" dirty="0"/>
          </a:p>
        </p:txBody>
      </p:sp>
      <p:sp>
        <p:nvSpPr>
          <p:cNvPr id="27" name="Text 25"/>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E8833A"/>
                </a:solidFill>
                <a:latin typeface="Calibri" pitchFamily="34" charset="0"/>
                <a:ea typeface="Calibri" pitchFamily="34" charset="-122"/>
                <a:cs typeface="Calibri" pitchFamily="34" charset="-120"/>
              </a:rPr>
              <a:t>BENCHMARK 1  ·  PYFLATE</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A bzip2 decompressor written entirely in Python</a:t>
            </a:r>
            <a:endParaRPr lang="en-US" sz="2900" dirty="0"/>
          </a:p>
        </p:txBody>
      </p:sp>
      <p:sp>
        <p:nvSpPr>
          <p:cNvPr id="4" name="Text 2"/>
          <p:cNvSpPr txBox="1"/>
          <p:nvPr/>
        </p:nvSpPr>
        <p:spPr>
          <a:xfrm>
            <a:off x="548640" y="1371600"/>
            <a:ext cx="6949440" cy="502920"/>
          </a:xfrm>
          <a:prstGeom prst="rect">
            <a:avLst/>
          </a:prstGeom>
          <a:noFill/>
          <a:ln/>
        </p:spPr>
        <p:txBody>
          <a:bodyPr wrap="square" lIns="0" tIns="0" rIns="0" bIns="0" rtlCol="0" anchor="ctr"/>
          <a:lstStyle/>
          <a:p>
            <a:pPr indent="0" marL="0">
              <a:lnSpc>
                <a:spcPts val="1900"/>
              </a:lnSpc>
              <a:buNone/>
            </a:pPr>
            <a:r>
              <a:rPr lang="en-US" sz="1400" dirty="0">
                <a:solidFill>
                  <a:srgbClr val="1B2430"/>
                </a:solidFill>
                <a:latin typeface="Calibri" pitchFamily="34" charset="0"/>
                <a:ea typeface="Calibri" pitchFamily="34" charset="-122"/>
                <a:cs typeface="Calibri" pitchFamily="34" charset="-120"/>
              </a:rPr>
              <a:t>67,562 compressed bytes in, 399,360 bytes out. The benchmark carries its own MD5, and we used it as the correctness oracle for the whole project.</a:t>
            </a:r>
            <a:endParaRPr lang="en-US" sz="1400" dirty="0"/>
          </a:p>
        </p:txBody>
      </p:sp>
      <p:sp>
        <p:nvSpPr>
          <p:cNvPr id="5" name="Shape 3"/>
          <p:cNvSpPr/>
          <p:nvPr/>
        </p:nvSpPr>
        <p:spPr>
          <a:xfrm>
            <a:off x="548640" y="2148840"/>
            <a:ext cx="2514600" cy="1600200"/>
          </a:xfrm>
          <a:prstGeom prst="roundRect">
            <a:avLst>
              <a:gd name="adj" fmla="val 3429"/>
            </a:avLst>
          </a:prstGeom>
          <a:solidFill>
            <a:srgbClr val="F3F6F8"/>
          </a:solidFill>
          <a:ln w="9525">
            <a:solidFill>
              <a:srgbClr val="DBE2E8"/>
            </a:solidFill>
            <a:prstDash val="solid"/>
          </a:ln>
        </p:spPr>
      </p:sp>
      <p:sp>
        <p:nvSpPr>
          <p:cNvPr id="6" name="Text 4"/>
          <p:cNvSpPr txBox="1"/>
          <p:nvPr/>
        </p:nvSpPr>
        <p:spPr>
          <a:xfrm>
            <a:off x="731520" y="2331720"/>
            <a:ext cx="2148840" cy="594360"/>
          </a:xfrm>
          <a:prstGeom prst="rect">
            <a:avLst/>
          </a:prstGeom>
          <a:noFill/>
          <a:ln/>
        </p:spPr>
        <p:txBody>
          <a:bodyPr wrap="square" lIns="0" tIns="0" rIns="0" bIns="0" rtlCol="0" anchor="ctr"/>
          <a:lstStyle/>
          <a:p>
            <a:pPr indent="0" marL="0">
              <a:lnSpc>
                <a:spcPts val="2000"/>
              </a:lnSpc>
              <a:buNone/>
            </a:pPr>
            <a:r>
              <a:rPr lang="en-US" sz="1700" b="1" dirty="0">
                <a:solidFill>
                  <a:srgbClr val="E8833A"/>
                </a:solidFill>
                <a:latin typeface="Cambria" pitchFamily="34" charset="0"/>
                <a:ea typeface="Cambria" pitchFamily="34" charset="-122"/>
                <a:cs typeface="Cambria" pitchFamily="34" charset="-120"/>
              </a:rPr>
              <a:t>Huffman</a:t>
            </a:r>
            <a:endParaRPr lang="en-US" sz="1700" dirty="0"/>
          </a:p>
          <a:p>
            <a:pPr indent="0" marL="0">
              <a:lnSpc>
                <a:spcPts val="2000"/>
              </a:lnSpc>
              <a:buNone/>
            </a:pPr>
            <a:r>
              <a:rPr lang="en-US" sz="1700" b="1" dirty="0">
                <a:solidFill>
                  <a:srgbClr val="E8833A"/>
                </a:solidFill>
                <a:latin typeface="Cambria" pitchFamily="34" charset="0"/>
                <a:ea typeface="Cambria" pitchFamily="34" charset="-122"/>
                <a:cs typeface="Cambria" pitchFamily="34" charset="-120"/>
              </a:rPr>
              <a:t>decode</a:t>
            </a:r>
            <a:endParaRPr lang="en-US" sz="1700" dirty="0"/>
          </a:p>
        </p:txBody>
      </p:sp>
      <p:sp>
        <p:nvSpPr>
          <p:cNvPr id="7" name="Text 5"/>
          <p:cNvSpPr txBox="1"/>
          <p:nvPr/>
        </p:nvSpPr>
        <p:spPr>
          <a:xfrm>
            <a:off x="731520" y="2971800"/>
            <a:ext cx="2148840" cy="640080"/>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variable-length</a:t>
            </a:r>
            <a:endParaRPr lang="en-US" sz="1100" dirty="0"/>
          </a:p>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prefix codes</a:t>
            </a:r>
            <a:endParaRPr lang="en-US" sz="1100" dirty="0"/>
          </a:p>
        </p:txBody>
      </p:sp>
      <p:sp>
        <p:nvSpPr>
          <p:cNvPr id="8" name="Shape 6"/>
          <p:cNvSpPr/>
          <p:nvPr/>
        </p:nvSpPr>
        <p:spPr>
          <a:xfrm>
            <a:off x="3108960" y="2926080"/>
            <a:ext cx="237744" cy="0"/>
          </a:xfrm>
          <a:prstGeom prst="line">
            <a:avLst/>
          </a:prstGeom>
          <a:noFill/>
          <a:ln w="22225">
            <a:solidFill>
              <a:srgbClr val="6B7785"/>
            </a:solidFill>
            <a:prstDash val="solid"/>
            <a:tailEnd type="triangle"/>
          </a:ln>
        </p:spPr>
      </p:sp>
      <p:sp>
        <p:nvSpPr>
          <p:cNvPr id="9" name="Shape 7"/>
          <p:cNvSpPr/>
          <p:nvPr/>
        </p:nvSpPr>
        <p:spPr>
          <a:xfrm>
            <a:off x="3401568" y="2148840"/>
            <a:ext cx="2514600" cy="1600200"/>
          </a:xfrm>
          <a:prstGeom prst="roundRect">
            <a:avLst>
              <a:gd name="adj" fmla="val 3429"/>
            </a:avLst>
          </a:prstGeom>
          <a:solidFill>
            <a:srgbClr val="F3F6F8"/>
          </a:solidFill>
          <a:ln w="9525">
            <a:solidFill>
              <a:srgbClr val="DBE2E8"/>
            </a:solidFill>
            <a:prstDash val="solid"/>
          </a:ln>
        </p:spPr>
      </p:sp>
      <p:sp>
        <p:nvSpPr>
          <p:cNvPr id="10" name="Text 8"/>
          <p:cNvSpPr txBox="1"/>
          <p:nvPr/>
        </p:nvSpPr>
        <p:spPr>
          <a:xfrm>
            <a:off x="3584448" y="2331720"/>
            <a:ext cx="2148840" cy="594360"/>
          </a:xfrm>
          <a:prstGeom prst="rect">
            <a:avLst/>
          </a:prstGeom>
          <a:noFill/>
          <a:ln/>
        </p:spPr>
        <p:txBody>
          <a:bodyPr wrap="square" lIns="0" tIns="0" rIns="0" bIns="0" rtlCol="0" anchor="ctr"/>
          <a:lstStyle/>
          <a:p>
            <a:pPr indent="0" marL="0">
              <a:lnSpc>
                <a:spcPts val="2000"/>
              </a:lnSpc>
              <a:buNone/>
            </a:pPr>
            <a:r>
              <a:rPr lang="en-US" sz="1700" b="1" dirty="0">
                <a:solidFill>
                  <a:srgbClr val="E8833A"/>
                </a:solidFill>
                <a:latin typeface="Cambria" pitchFamily="34" charset="0"/>
                <a:ea typeface="Cambria" pitchFamily="34" charset="-122"/>
                <a:cs typeface="Cambria" pitchFamily="34" charset="-120"/>
              </a:rPr>
              <a:t>Move-to-</a:t>
            </a:r>
            <a:endParaRPr lang="en-US" sz="1700" dirty="0"/>
          </a:p>
          <a:p>
            <a:pPr indent="0" marL="0">
              <a:lnSpc>
                <a:spcPts val="2000"/>
              </a:lnSpc>
              <a:buNone/>
            </a:pPr>
            <a:r>
              <a:rPr lang="en-US" sz="1700" b="1" dirty="0">
                <a:solidFill>
                  <a:srgbClr val="E8833A"/>
                </a:solidFill>
                <a:latin typeface="Cambria" pitchFamily="34" charset="0"/>
                <a:ea typeface="Cambria" pitchFamily="34" charset="-122"/>
                <a:cs typeface="Cambria" pitchFamily="34" charset="-120"/>
              </a:rPr>
              <a:t>front</a:t>
            </a:r>
            <a:endParaRPr lang="en-US" sz="1700" dirty="0"/>
          </a:p>
        </p:txBody>
      </p:sp>
      <p:sp>
        <p:nvSpPr>
          <p:cNvPr id="11" name="Text 9"/>
          <p:cNvSpPr txBox="1"/>
          <p:nvPr/>
        </p:nvSpPr>
        <p:spPr>
          <a:xfrm>
            <a:off x="3584448" y="2971800"/>
            <a:ext cx="2148840" cy="640080"/>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alphabet reordered</a:t>
            </a:r>
            <a:endParaRPr lang="en-US" sz="1100" dirty="0"/>
          </a:p>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after every symbol</a:t>
            </a:r>
            <a:endParaRPr lang="en-US" sz="1100" dirty="0"/>
          </a:p>
        </p:txBody>
      </p:sp>
      <p:sp>
        <p:nvSpPr>
          <p:cNvPr id="12" name="Shape 10"/>
          <p:cNvSpPr/>
          <p:nvPr/>
        </p:nvSpPr>
        <p:spPr>
          <a:xfrm>
            <a:off x="5961888" y="2926080"/>
            <a:ext cx="237744" cy="0"/>
          </a:xfrm>
          <a:prstGeom prst="line">
            <a:avLst/>
          </a:prstGeom>
          <a:noFill/>
          <a:ln w="22225">
            <a:solidFill>
              <a:srgbClr val="6B7785"/>
            </a:solidFill>
            <a:prstDash val="solid"/>
            <a:tailEnd type="triangle"/>
          </a:ln>
        </p:spPr>
      </p:sp>
      <p:sp>
        <p:nvSpPr>
          <p:cNvPr id="13" name="Shape 11"/>
          <p:cNvSpPr/>
          <p:nvPr/>
        </p:nvSpPr>
        <p:spPr>
          <a:xfrm>
            <a:off x="6254496" y="2148840"/>
            <a:ext cx="2514600" cy="1600200"/>
          </a:xfrm>
          <a:prstGeom prst="roundRect">
            <a:avLst>
              <a:gd name="adj" fmla="val 3429"/>
            </a:avLst>
          </a:prstGeom>
          <a:solidFill>
            <a:srgbClr val="F3F6F8"/>
          </a:solidFill>
          <a:ln w="9525">
            <a:solidFill>
              <a:srgbClr val="DBE2E8"/>
            </a:solidFill>
            <a:prstDash val="solid"/>
          </a:ln>
        </p:spPr>
      </p:sp>
      <p:sp>
        <p:nvSpPr>
          <p:cNvPr id="14" name="Text 12"/>
          <p:cNvSpPr txBox="1"/>
          <p:nvPr/>
        </p:nvSpPr>
        <p:spPr>
          <a:xfrm>
            <a:off x="6437376" y="2331720"/>
            <a:ext cx="2148840" cy="594360"/>
          </a:xfrm>
          <a:prstGeom prst="rect">
            <a:avLst/>
          </a:prstGeom>
          <a:noFill/>
          <a:ln/>
        </p:spPr>
        <p:txBody>
          <a:bodyPr wrap="square" lIns="0" tIns="0" rIns="0" bIns="0" rtlCol="0" anchor="ctr"/>
          <a:lstStyle/>
          <a:p>
            <a:pPr indent="0" marL="0">
              <a:lnSpc>
                <a:spcPts val="2000"/>
              </a:lnSpc>
              <a:buNone/>
            </a:pPr>
            <a:r>
              <a:rPr lang="en-US" sz="1700" b="1" dirty="0">
                <a:solidFill>
                  <a:srgbClr val="7A6FA8"/>
                </a:solidFill>
                <a:latin typeface="Cambria" pitchFamily="34" charset="0"/>
                <a:ea typeface="Cambria" pitchFamily="34" charset="-122"/>
                <a:cs typeface="Cambria" pitchFamily="34" charset="-120"/>
              </a:rPr>
              <a:t>Inverse</a:t>
            </a:r>
            <a:endParaRPr lang="en-US" sz="1700" dirty="0"/>
          </a:p>
          <a:p>
            <a:pPr indent="0" marL="0">
              <a:lnSpc>
                <a:spcPts val="2000"/>
              </a:lnSpc>
              <a:buNone/>
            </a:pPr>
            <a:r>
              <a:rPr lang="en-US" sz="1700" b="1" dirty="0">
                <a:solidFill>
                  <a:srgbClr val="7A6FA8"/>
                </a:solidFill>
                <a:latin typeface="Cambria" pitchFamily="34" charset="0"/>
                <a:ea typeface="Cambria" pitchFamily="34" charset="-122"/>
                <a:cs typeface="Cambria" pitchFamily="34" charset="-120"/>
              </a:rPr>
              <a:t>BWT</a:t>
            </a:r>
            <a:endParaRPr lang="en-US" sz="1700" dirty="0"/>
          </a:p>
        </p:txBody>
      </p:sp>
      <p:sp>
        <p:nvSpPr>
          <p:cNvPr id="15" name="Text 13"/>
          <p:cNvSpPr txBox="1"/>
          <p:nvPr/>
        </p:nvSpPr>
        <p:spPr>
          <a:xfrm>
            <a:off x="6437376" y="2971800"/>
            <a:ext cx="2148840" cy="640080"/>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pointer chase</a:t>
            </a:r>
            <a:endParaRPr lang="en-US" sz="1100" dirty="0"/>
          </a:p>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end = T[end]</a:t>
            </a:r>
            <a:endParaRPr lang="en-US" sz="1100" dirty="0"/>
          </a:p>
        </p:txBody>
      </p:sp>
      <p:sp>
        <p:nvSpPr>
          <p:cNvPr id="16" name="Shape 14"/>
          <p:cNvSpPr/>
          <p:nvPr/>
        </p:nvSpPr>
        <p:spPr>
          <a:xfrm>
            <a:off x="8814816" y="2926080"/>
            <a:ext cx="237744" cy="0"/>
          </a:xfrm>
          <a:prstGeom prst="line">
            <a:avLst/>
          </a:prstGeom>
          <a:noFill/>
          <a:ln w="22225">
            <a:solidFill>
              <a:srgbClr val="6B7785"/>
            </a:solidFill>
            <a:prstDash val="solid"/>
            <a:tailEnd type="triangle"/>
          </a:ln>
        </p:spPr>
      </p:sp>
      <p:sp>
        <p:nvSpPr>
          <p:cNvPr id="17" name="Shape 15"/>
          <p:cNvSpPr/>
          <p:nvPr/>
        </p:nvSpPr>
        <p:spPr>
          <a:xfrm>
            <a:off x="9107424" y="2148840"/>
            <a:ext cx="2514600" cy="1600200"/>
          </a:xfrm>
          <a:prstGeom prst="roundRect">
            <a:avLst>
              <a:gd name="adj" fmla="val 3429"/>
            </a:avLst>
          </a:prstGeom>
          <a:solidFill>
            <a:srgbClr val="F3F6F8"/>
          </a:solidFill>
          <a:ln w="9525">
            <a:solidFill>
              <a:srgbClr val="DBE2E8"/>
            </a:solidFill>
            <a:prstDash val="solid"/>
          </a:ln>
        </p:spPr>
      </p:sp>
      <p:sp>
        <p:nvSpPr>
          <p:cNvPr id="18" name="Text 16"/>
          <p:cNvSpPr txBox="1"/>
          <p:nvPr/>
        </p:nvSpPr>
        <p:spPr>
          <a:xfrm>
            <a:off x="9290304" y="2331720"/>
            <a:ext cx="2148840" cy="594360"/>
          </a:xfrm>
          <a:prstGeom prst="rect">
            <a:avLst/>
          </a:prstGeom>
          <a:noFill/>
          <a:ln/>
        </p:spPr>
        <p:txBody>
          <a:bodyPr wrap="square" lIns="0" tIns="0" rIns="0" bIns="0" rtlCol="0" anchor="ctr"/>
          <a:lstStyle/>
          <a:p>
            <a:pPr indent="0" marL="0">
              <a:lnSpc>
                <a:spcPts val="2000"/>
              </a:lnSpc>
              <a:buNone/>
            </a:pPr>
            <a:r>
              <a:rPr lang="en-US" sz="1700" b="1" dirty="0">
                <a:solidFill>
                  <a:srgbClr val="6B7785"/>
                </a:solidFill>
                <a:latin typeface="Cambria" pitchFamily="34" charset="0"/>
                <a:ea typeface="Cambria" pitchFamily="34" charset="-122"/>
                <a:cs typeface="Cambria" pitchFamily="34" charset="-120"/>
              </a:rPr>
              <a:t>RLE</a:t>
            </a:r>
            <a:endParaRPr lang="en-US" sz="1700" dirty="0"/>
          </a:p>
          <a:p>
            <a:pPr indent="0" marL="0">
              <a:lnSpc>
                <a:spcPts val="2000"/>
              </a:lnSpc>
              <a:buNone/>
            </a:pPr>
            <a:r>
              <a:rPr lang="en-US" sz="1700" b="1" dirty="0">
                <a:solidFill>
                  <a:srgbClr val="6B7785"/>
                </a:solidFill>
                <a:latin typeface="Cambria" pitchFamily="34" charset="0"/>
                <a:ea typeface="Cambria" pitchFamily="34" charset="-122"/>
                <a:cs typeface="Cambria" pitchFamily="34" charset="-120"/>
              </a:rPr>
              <a:t>expand</a:t>
            </a:r>
            <a:endParaRPr lang="en-US" sz="1700" dirty="0"/>
          </a:p>
        </p:txBody>
      </p:sp>
      <p:sp>
        <p:nvSpPr>
          <p:cNvPr id="19" name="Text 17"/>
          <p:cNvSpPr txBox="1"/>
          <p:nvPr/>
        </p:nvSpPr>
        <p:spPr>
          <a:xfrm>
            <a:off x="9290304" y="2971800"/>
            <a:ext cx="2148840" cy="640080"/>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runs of ≥ 4</a:t>
            </a:r>
            <a:endParaRPr lang="en-US" sz="1100" dirty="0"/>
          </a:p>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identical bytes</a:t>
            </a:r>
            <a:endParaRPr lang="en-US" sz="1100" dirty="0"/>
          </a:p>
        </p:txBody>
      </p:sp>
      <p:sp>
        <p:nvSpPr>
          <p:cNvPr id="20" name="Text 18"/>
          <p:cNvSpPr txBox="1"/>
          <p:nvPr/>
        </p:nvSpPr>
        <p:spPr>
          <a:xfrm>
            <a:off x="548640" y="4069080"/>
            <a:ext cx="11091672" cy="29260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Why a benchmark would implement bzip2 in Python at all</a:t>
            </a:r>
            <a:endParaRPr lang="en-US" sz="1400" dirty="0"/>
          </a:p>
        </p:txBody>
      </p:sp>
      <p:sp>
        <p:nvSpPr>
          <p:cNvPr id="21" name="Text 19"/>
          <p:cNvSpPr txBox="1"/>
          <p:nvPr/>
        </p:nvSpPr>
        <p:spPr>
          <a:xfrm>
            <a:off x="548640" y="4389120"/>
            <a:ext cx="11091672" cy="685800"/>
          </a:xfrm>
          <a:prstGeom prst="rect">
            <a:avLst/>
          </a:prstGeom>
          <a:noFill/>
          <a:ln/>
        </p:spPr>
        <p:txBody>
          <a:bodyPr wrap="square" lIns="0" tIns="0" rIns="0" bIns="0" rtlCol="0" anchor="ctr"/>
          <a:lstStyle/>
          <a:p>
            <a:pPr indent="0" marL="0">
              <a:lnSpc>
                <a:spcPts val="1800"/>
              </a:lnSpc>
              <a:buNone/>
            </a:pPr>
            <a:r>
              <a:rPr lang="en-US" sz="1300" dirty="0">
                <a:solidFill>
                  <a:srgbClr val="1B2430"/>
                </a:solidFill>
                <a:latin typeface="Calibri" pitchFamily="34" charset="0"/>
                <a:ea typeface="Calibri" pitchFamily="34" charset="-122"/>
                <a:cs typeface="Calibri" pitchFamily="34" charset="-120"/>
              </a:rPr>
              <a:t>It is deliberate. Calling libbz2 would measure C, not the interpreter. Every import is stdlib — hashlib, struct, os. So this benchmark measures Python executing bit manipulation and table lookups, which is precisely what makes it interesting to optimize and to accelerate.</a:t>
            </a:r>
            <a:endParaRPr lang="en-US" sz="1300" dirty="0"/>
          </a:p>
        </p:txBody>
      </p:sp>
      <p:sp>
        <p:nvSpPr>
          <p:cNvPr id="22" name="Text 20"/>
          <p:cNvSpPr txBox="1"/>
          <p:nvPr/>
        </p:nvSpPr>
        <p:spPr>
          <a:xfrm>
            <a:off x="548640" y="5212080"/>
            <a:ext cx="11091672" cy="548640"/>
          </a:xfrm>
          <a:prstGeom prst="rect">
            <a:avLst/>
          </a:prstGeom>
          <a:noFill/>
          <a:ln/>
        </p:spPr>
        <p:txBody>
          <a:bodyPr wrap="square" lIns="0" tIns="0" rIns="0" bIns="0" rtlCol="0" anchor="ctr"/>
          <a:lstStyle/>
          <a:p>
            <a:pPr indent="0" marL="0">
              <a:lnSpc>
                <a:spcPts val="1800"/>
              </a:lnSpc>
              <a:buNone/>
            </a:pPr>
            <a:r>
              <a:rPr lang="en-US" sz="1300" i="1" dirty="0">
                <a:solidFill>
                  <a:srgbClr val="2D9B8A"/>
                </a:solidFill>
                <a:latin typeface="Calibri" pitchFamily="34" charset="0"/>
                <a:ea typeface="Calibri" pitchFamily="34" charset="-122"/>
                <a:cs typeface="Calibri" pitchFamily="34" charset="-120"/>
              </a:rPr>
              <a:t>This also rules out an easy cheat: swapping in libbz2 would have scored a huge speedup while measuring nothing and teaching nothing. We did not do it.</a:t>
            </a:r>
            <a:endParaRPr lang="en-US" sz="1300" dirty="0"/>
          </a:p>
        </p:txBody>
      </p:sp>
      <p:sp>
        <p:nvSpPr>
          <p:cNvPr id="23" name="Text 21"/>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Taha</a:t>
            </a:r>
            <a:endParaRPr lang="en-US" sz="1000" dirty="0"/>
          </a:p>
        </p:txBody>
      </p:sp>
      <p:sp>
        <p:nvSpPr>
          <p:cNvPr id="24" name="Text 22"/>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E8833A"/>
                </a:solidFill>
                <a:latin typeface="Calibri" pitchFamily="34" charset="0"/>
                <a:ea typeface="Calibri" pitchFamily="34" charset="-122"/>
                <a:cs typeface="Calibri" pitchFamily="34" charset="-120"/>
              </a:rPr>
              <a:t>BENCHMARK 1  ·  ANALYSIS</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Where the time actually goes</a:t>
            </a:r>
            <a:endParaRPr lang="en-US" sz="2900" dirty="0"/>
          </a:p>
        </p:txBody>
      </p:sp>
      <p:sp>
        <p:nvSpPr>
          <p:cNvPr id="4" name="Text 2"/>
          <p:cNvSpPr txBox="1"/>
          <p:nvPr/>
        </p:nvSpPr>
        <p:spPr>
          <a:xfrm>
            <a:off x="548640" y="1371600"/>
            <a:ext cx="6766560" cy="274320"/>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py-spy, cycle-weighted, Python function names. Measured inside the QEMU guest.</a:t>
            </a:r>
            <a:endParaRPr lang="en-US" sz="1300" dirty="0"/>
          </a:p>
        </p:txBody>
      </p:sp>
      <p:sp>
        <p:nvSpPr>
          <p:cNvPr id="5" name="Text 3"/>
          <p:cNvSpPr txBox="1"/>
          <p:nvPr/>
        </p:nvSpPr>
        <p:spPr>
          <a:xfrm>
            <a:off x="548640" y="1783080"/>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decode_huffman_block</a:t>
            </a:r>
            <a:endParaRPr lang="en-US" sz="1100" dirty="0"/>
          </a:p>
        </p:txBody>
      </p:sp>
      <p:sp>
        <p:nvSpPr>
          <p:cNvPr id="6" name="Shape 4"/>
          <p:cNvSpPr/>
          <p:nvPr/>
        </p:nvSpPr>
        <p:spPr>
          <a:xfrm>
            <a:off x="4206240" y="1847088"/>
            <a:ext cx="3378549" cy="182880"/>
          </a:xfrm>
          <a:prstGeom prst="rect">
            <a:avLst/>
          </a:prstGeom>
          <a:solidFill>
            <a:srgbClr val="E8833A"/>
          </a:solidFill>
          <a:ln w="12700">
            <a:solidFill>
              <a:srgbClr val="E8833A"/>
            </a:solidFill>
            <a:prstDash val="solid"/>
          </a:ln>
        </p:spPr>
      </p:sp>
      <p:sp>
        <p:nvSpPr>
          <p:cNvPr id="7" name="Text 5"/>
          <p:cNvSpPr txBox="1"/>
          <p:nvPr/>
        </p:nvSpPr>
        <p:spPr>
          <a:xfrm>
            <a:off x="7882128" y="1783080"/>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21.79%</a:t>
            </a:r>
            <a:endParaRPr lang="en-US" sz="1100" dirty="0"/>
          </a:p>
        </p:txBody>
      </p:sp>
      <p:sp>
        <p:nvSpPr>
          <p:cNvPr id="8" name="Text 6"/>
          <p:cNvSpPr txBox="1"/>
          <p:nvPr/>
        </p:nvSpPr>
        <p:spPr>
          <a:xfrm>
            <a:off x="548640" y="2203704"/>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find_next_symbol</a:t>
            </a:r>
            <a:endParaRPr lang="en-US" sz="1100" dirty="0"/>
          </a:p>
        </p:txBody>
      </p:sp>
      <p:sp>
        <p:nvSpPr>
          <p:cNvPr id="9" name="Shape 7"/>
          <p:cNvSpPr/>
          <p:nvPr/>
        </p:nvSpPr>
        <p:spPr>
          <a:xfrm>
            <a:off x="4206240" y="2267712"/>
            <a:ext cx="2564534" cy="182880"/>
          </a:xfrm>
          <a:prstGeom prst="rect">
            <a:avLst/>
          </a:prstGeom>
          <a:solidFill>
            <a:srgbClr val="E8833A"/>
          </a:solidFill>
          <a:ln w="12700">
            <a:solidFill>
              <a:srgbClr val="E8833A"/>
            </a:solidFill>
            <a:prstDash val="solid"/>
          </a:ln>
        </p:spPr>
      </p:sp>
      <p:sp>
        <p:nvSpPr>
          <p:cNvPr id="10" name="Text 8"/>
          <p:cNvSpPr txBox="1"/>
          <p:nvPr/>
        </p:nvSpPr>
        <p:spPr>
          <a:xfrm>
            <a:off x="7882128" y="2203704"/>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16.54%</a:t>
            </a:r>
            <a:endParaRPr lang="en-US" sz="1100" dirty="0"/>
          </a:p>
        </p:txBody>
      </p:sp>
      <p:sp>
        <p:nvSpPr>
          <p:cNvPr id="11" name="Text 9"/>
          <p:cNvSpPr txBox="1"/>
          <p:nvPr/>
        </p:nvSpPr>
        <p:spPr>
          <a:xfrm>
            <a:off x="548640" y="2624328"/>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move_to_front</a:t>
            </a:r>
            <a:endParaRPr lang="en-US" sz="1100" dirty="0"/>
          </a:p>
        </p:txBody>
      </p:sp>
      <p:sp>
        <p:nvSpPr>
          <p:cNvPr id="12" name="Shape 10"/>
          <p:cNvSpPr/>
          <p:nvPr/>
        </p:nvSpPr>
        <p:spPr>
          <a:xfrm>
            <a:off x="4206240" y="2688336"/>
            <a:ext cx="2432741" cy="182880"/>
          </a:xfrm>
          <a:prstGeom prst="rect">
            <a:avLst/>
          </a:prstGeom>
          <a:solidFill>
            <a:srgbClr val="E8833A"/>
          </a:solidFill>
          <a:ln w="12700">
            <a:solidFill>
              <a:srgbClr val="E8833A"/>
            </a:solidFill>
            <a:prstDash val="solid"/>
          </a:ln>
        </p:spPr>
      </p:sp>
      <p:sp>
        <p:nvSpPr>
          <p:cNvPr id="13" name="Text 11"/>
          <p:cNvSpPr txBox="1"/>
          <p:nvPr/>
        </p:nvSpPr>
        <p:spPr>
          <a:xfrm>
            <a:off x="7882128" y="2624328"/>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15.69%</a:t>
            </a:r>
            <a:endParaRPr lang="en-US" sz="1100" dirty="0"/>
          </a:p>
        </p:txBody>
      </p:sp>
      <p:sp>
        <p:nvSpPr>
          <p:cNvPr id="14" name="Text 12"/>
          <p:cNvSpPr txBox="1"/>
          <p:nvPr/>
        </p:nvSpPr>
        <p:spPr>
          <a:xfrm>
            <a:off x="548640" y="3044952"/>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readbits</a:t>
            </a:r>
            <a:endParaRPr lang="en-US" sz="1100" dirty="0"/>
          </a:p>
        </p:txBody>
      </p:sp>
      <p:sp>
        <p:nvSpPr>
          <p:cNvPr id="15" name="Shape 13"/>
          <p:cNvSpPr/>
          <p:nvPr/>
        </p:nvSpPr>
        <p:spPr>
          <a:xfrm>
            <a:off x="4206240" y="3108960"/>
            <a:ext cx="1505540" cy="182880"/>
          </a:xfrm>
          <a:prstGeom prst="rect">
            <a:avLst/>
          </a:prstGeom>
          <a:solidFill>
            <a:srgbClr val="E8833A"/>
          </a:solidFill>
          <a:ln w="12700">
            <a:solidFill>
              <a:srgbClr val="E8833A"/>
            </a:solidFill>
            <a:prstDash val="solid"/>
          </a:ln>
        </p:spPr>
      </p:sp>
      <p:sp>
        <p:nvSpPr>
          <p:cNvPr id="16" name="Text 14"/>
          <p:cNvSpPr txBox="1"/>
          <p:nvPr/>
        </p:nvSpPr>
        <p:spPr>
          <a:xfrm>
            <a:off x="7882128" y="3044952"/>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9.71%</a:t>
            </a:r>
            <a:endParaRPr lang="en-US" sz="1100" dirty="0"/>
          </a:p>
        </p:txBody>
      </p:sp>
      <p:sp>
        <p:nvSpPr>
          <p:cNvPr id="17" name="Text 15"/>
          <p:cNvSpPr txBox="1"/>
          <p:nvPr/>
        </p:nvSpPr>
        <p:spPr>
          <a:xfrm>
            <a:off x="548640" y="3465576"/>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snoopbits</a:t>
            </a:r>
            <a:endParaRPr lang="en-US" sz="1100" dirty="0"/>
          </a:p>
        </p:txBody>
      </p:sp>
      <p:sp>
        <p:nvSpPr>
          <p:cNvPr id="18" name="Shape 16"/>
          <p:cNvSpPr/>
          <p:nvPr/>
        </p:nvSpPr>
        <p:spPr>
          <a:xfrm>
            <a:off x="4206240" y="3529584"/>
            <a:ext cx="1434217" cy="182880"/>
          </a:xfrm>
          <a:prstGeom prst="rect">
            <a:avLst/>
          </a:prstGeom>
          <a:solidFill>
            <a:srgbClr val="E8833A"/>
          </a:solidFill>
          <a:ln w="12700">
            <a:solidFill>
              <a:srgbClr val="E8833A"/>
            </a:solidFill>
            <a:prstDash val="solid"/>
          </a:ln>
        </p:spPr>
      </p:sp>
      <p:sp>
        <p:nvSpPr>
          <p:cNvPr id="19" name="Text 17"/>
          <p:cNvSpPr txBox="1"/>
          <p:nvPr/>
        </p:nvSpPr>
        <p:spPr>
          <a:xfrm>
            <a:off x="7882128" y="3465576"/>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9.25%</a:t>
            </a:r>
            <a:endParaRPr lang="en-US" sz="1100" dirty="0"/>
          </a:p>
        </p:txBody>
      </p:sp>
      <p:sp>
        <p:nvSpPr>
          <p:cNvPr id="20" name="Text 18"/>
          <p:cNvSpPr txBox="1"/>
          <p:nvPr/>
        </p:nvSpPr>
        <p:spPr>
          <a:xfrm>
            <a:off x="548640" y="3886200"/>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bwt_transform</a:t>
            </a:r>
            <a:endParaRPr lang="en-US" sz="1100" dirty="0"/>
          </a:p>
        </p:txBody>
      </p:sp>
      <p:sp>
        <p:nvSpPr>
          <p:cNvPr id="21" name="Shape 19"/>
          <p:cNvSpPr/>
          <p:nvPr/>
        </p:nvSpPr>
        <p:spPr>
          <a:xfrm>
            <a:off x="4206240" y="3950208"/>
            <a:ext cx="1397004" cy="182880"/>
          </a:xfrm>
          <a:prstGeom prst="rect">
            <a:avLst/>
          </a:prstGeom>
          <a:solidFill>
            <a:srgbClr val="E8833A"/>
          </a:solidFill>
          <a:ln w="12700">
            <a:solidFill>
              <a:srgbClr val="E8833A"/>
            </a:solidFill>
            <a:prstDash val="solid"/>
          </a:ln>
        </p:spPr>
      </p:sp>
      <p:sp>
        <p:nvSpPr>
          <p:cNvPr id="22" name="Text 20"/>
          <p:cNvSpPr txBox="1"/>
          <p:nvPr/>
        </p:nvSpPr>
        <p:spPr>
          <a:xfrm>
            <a:off x="7882128" y="3886200"/>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9.01%</a:t>
            </a:r>
            <a:endParaRPr lang="en-US" sz="1100" dirty="0"/>
          </a:p>
        </p:txBody>
      </p:sp>
      <p:sp>
        <p:nvSpPr>
          <p:cNvPr id="23" name="Text 21"/>
          <p:cNvSpPr txBox="1"/>
          <p:nvPr/>
        </p:nvSpPr>
        <p:spPr>
          <a:xfrm>
            <a:off x="548640" y="4306824"/>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bwt_reverse</a:t>
            </a:r>
            <a:endParaRPr lang="en-US" sz="1100" dirty="0"/>
          </a:p>
        </p:txBody>
      </p:sp>
      <p:sp>
        <p:nvSpPr>
          <p:cNvPr id="24" name="Shape 22"/>
          <p:cNvSpPr/>
          <p:nvPr/>
        </p:nvSpPr>
        <p:spPr>
          <a:xfrm>
            <a:off x="4206240" y="4370832"/>
            <a:ext cx="955111" cy="182880"/>
          </a:xfrm>
          <a:prstGeom prst="rect">
            <a:avLst/>
          </a:prstGeom>
          <a:solidFill>
            <a:srgbClr val="E8833A"/>
          </a:solidFill>
          <a:ln w="12700">
            <a:solidFill>
              <a:srgbClr val="E8833A"/>
            </a:solidFill>
            <a:prstDash val="solid"/>
          </a:ln>
        </p:spPr>
      </p:sp>
      <p:sp>
        <p:nvSpPr>
          <p:cNvPr id="25" name="Text 23"/>
          <p:cNvSpPr txBox="1"/>
          <p:nvPr/>
        </p:nvSpPr>
        <p:spPr>
          <a:xfrm>
            <a:off x="7882128" y="4306824"/>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6.16%</a:t>
            </a:r>
            <a:endParaRPr lang="en-US" sz="1100" dirty="0"/>
          </a:p>
        </p:txBody>
      </p:sp>
      <p:sp>
        <p:nvSpPr>
          <p:cNvPr id="26" name="Text 24"/>
          <p:cNvSpPr txBox="1"/>
          <p:nvPr/>
        </p:nvSpPr>
        <p:spPr>
          <a:xfrm>
            <a:off x="548640" y="4727448"/>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_mask</a:t>
            </a:r>
            <a:endParaRPr lang="en-US" sz="1100" dirty="0"/>
          </a:p>
        </p:txBody>
      </p:sp>
      <p:sp>
        <p:nvSpPr>
          <p:cNvPr id="27" name="Shape 25"/>
          <p:cNvSpPr/>
          <p:nvPr/>
        </p:nvSpPr>
        <p:spPr>
          <a:xfrm>
            <a:off x="4206240" y="4791456"/>
            <a:ext cx="573687" cy="182880"/>
          </a:xfrm>
          <a:prstGeom prst="rect">
            <a:avLst/>
          </a:prstGeom>
          <a:solidFill>
            <a:srgbClr val="E8833A"/>
          </a:solidFill>
          <a:ln w="12700">
            <a:solidFill>
              <a:srgbClr val="E8833A"/>
            </a:solidFill>
            <a:prstDash val="solid"/>
          </a:ln>
        </p:spPr>
      </p:sp>
      <p:sp>
        <p:nvSpPr>
          <p:cNvPr id="28" name="Text 26"/>
          <p:cNvSpPr txBox="1"/>
          <p:nvPr/>
        </p:nvSpPr>
        <p:spPr>
          <a:xfrm>
            <a:off x="7882128" y="4727448"/>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3.70%</a:t>
            </a:r>
            <a:endParaRPr lang="en-US" sz="1100" dirty="0"/>
          </a:p>
        </p:txBody>
      </p:sp>
      <p:sp>
        <p:nvSpPr>
          <p:cNvPr id="29" name="Shape 27"/>
          <p:cNvSpPr/>
          <p:nvPr/>
        </p:nvSpPr>
        <p:spPr>
          <a:xfrm>
            <a:off x="8869680" y="1783080"/>
            <a:ext cx="2770632" cy="3383280"/>
          </a:xfrm>
          <a:prstGeom prst="roundRect">
            <a:avLst>
              <a:gd name="adj" fmla="val 1980"/>
            </a:avLst>
          </a:prstGeom>
          <a:solidFill>
            <a:srgbClr val="F3F6F8"/>
          </a:solidFill>
          <a:ln w="9525">
            <a:solidFill>
              <a:srgbClr val="DBE2E8"/>
            </a:solidFill>
            <a:prstDash val="solid"/>
          </a:ln>
        </p:spPr>
      </p:sp>
      <p:sp>
        <p:nvSpPr>
          <p:cNvPr id="30" name="Text 28"/>
          <p:cNvSpPr txBox="1"/>
          <p:nvPr/>
        </p:nvSpPr>
        <p:spPr>
          <a:xfrm>
            <a:off x="9098280" y="1938528"/>
            <a:ext cx="2331720" cy="237744"/>
          </a:xfrm>
          <a:prstGeom prst="rect">
            <a:avLst/>
          </a:prstGeom>
          <a:noFill/>
          <a:ln/>
        </p:spPr>
        <p:txBody>
          <a:bodyPr wrap="square" lIns="0" tIns="0" rIns="0" bIns="0" rtlCol="0" anchor="ctr"/>
          <a:lstStyle/>
          <a:p>
            <a:pPr indent="0" marL="0">
              <a:buNone/>
            </a:pPr>
            <a:r>
              <a:rPr lang="en-US" sz="1000" b="1" spc="120" kern="0" dirty="0">
                <a:solidFill>
                  <a:srgbClr val="6B7785"/>
                </a:solidFill>
                <a:latin typeface="Calibri" pitchFamily="34" charset="0"/>
                <a:ea typeface="Calibri" pitchFamily="34" charset="-122"/>
                <a:cs typeface="Calibri" pitchFamily="34" charset="-120"/>
              </a:rPr>
              <a:t>GROUPED BY STAGE</a:t>
            </a:r>
            <a:endParaRPr lang="en-US" sz="1000" dirty="0"/>
          </a:p>
        </p:txBody>
      </p:sp>
      <p:sp>
        <p:nvSpPr>
          <p:cNvPr id="31" name="Text 29"/>
          <p:cNvSpPr txBox="1"/>
          <p:nvPr/>
        </p:nvSpPr>
        <p:spPr>
          <a:xfrm>
            <a:off x="9098280" y="2286000"/>
            <a:ext cx="2331720" cy="384048"/>
          </a:xfrm>
          <a:prstGeom prst="rect">
            <a:avLst/>
          </a:prstGeom>
          <a:noFill/>
          <a:ln/>
        </p:spPr>
        <p:txBody>
          <a:bodyPr wrap="square" lIns="0" tIns="0" rIns="0" bIns="0" rtlCol="0" anchor="ctr"/>
          <a:lstStyle/>
          <a:p>
            <a:pPr indent="0" marL="0">
              <a:buNone/>
            </a:pPr>
            <a:r>
              <a:rPr lang="en-US" sz="2200" b="1" dirty="0">
                <a:solidFill>
                  <a:srgbClr val="1B2430"/>
                </a:solidFill>
                <a:latin typeface="Cambria" pitchFamily="34" charset="0"/>
                <a:ea typeface="Cambria" pitchFamily="34" charset="-122"/>
                <a:cs typeface="Cambria" pitchFamily="34" charset="-120"/>
              </a:rPr>
              <a:t>42.0%</a:t>
            </a:r>
            <a:endParaRPr lang="en-US" sz="2200" dirty="0"/>
          </a:p>
        </p:txBody>
      </p:sp>
      <p:sp>
        <p:nvSpPr>
          <p:cNvPr id="32" name="Text 30"/>
          <p:cNvSpPr txBox="1"/>
          <p:nvPr/>
        </p:nvSpPr>
        <p:spPr>
          <a:xfrm>
            <a:off x="9098280" y="2651760"/>
            <a:ext cx="2331720" cy="237744"/>
          </a:xfrm>
          <a:prstGeom prst="rect">
            <a:avLst/>
          </a:prstGeom>
          <a:noFill/>
          <a:ln/>
        </p:spPr>
        <p:txBody>
          <a:bodyPr wrap="square" lIns="0" tIns="0" rIns="0" bIns="0" rtlCol="0" anchor="ctr"/>
          <a:lstStyle/>
          <a:p>
            <a:pPr indent="0" marL="0">
              <a:buNone/>
            </a:pPr>
            <a:r>
              <a:rPr lang="en-US" sz="1100" dirty="0">
                <a:solidFill>
                  <a:srgbClr val="6B7785"/>
                </a:solidFill>
                <a:latin typeface="Calibri" pitchFamily="34" charset="0"/>
                <a:ea typeface="Calibri" pitchFamily="34" charset="-122"/>
                <a:cs typeface="Calibri" pitchFamily="34" charset="-120"/>
              </a:rPr>
              <a:t>Huffman decode</a:t>
            </a:r>
            <a:endParaRPr lang="en-US" sz="1100" dirty="0"/>
          </a:p>
        </p:txBody>
      </p:sp>
      <p:sp>
        <p:nvSpPr>
          <p:cNvPr id="33" name="Text 31"/>
          <p:cNvSpPr txBox="1"/>
          <p:nvPr/>
        </p:nvSpPr>
        <p:spPr>
          <a:xfrm>
            <a:off x="9098280" y="2971800"/>
            <a:ext cx="2331720" cy="384048"/>
          </a:xfrm>
          <a:prstGeom prst="rect">
            <a:avLst/>
          </a:prstGeom>
          <a:noFill/>
          <a:ln/>
        </p:spPr>
        <p:txBody>
          <a:bodyPr wrap="square" lIns="0" tIns="0" rIns="0" bIns="0" rtlCol="0" anchor="ctr"/>
          <a:lstStyle/>
          <a:p>
            <a:pPr indent="0" marL="0">
              <a:buNone/>
            </a:pPr>
            <a:r>
              <a:rPr lang="en-US" sz="2200" b="1" dirty="0">
                <a:solidFill>
                  <a:srgbClr val="1B2430"/>
                </a:solidFill>
                <a:latin typeface="Cambria" pitchFamily="34" charset="0"/>
                <a:ea typeface="Cambria" pitchFamily="34" charset="-122"/>
                <a:cs typeface="Cambria" pitchFamily="34" charset="-120"/>
              </a:rPr>
              <a:t>15.7%</a:t>
            </a:r>
            <a:endParaRPr lang="en-US" sz="2200" dirty="0"/>
          </a:p>
        </p:txBody>
      </p:sp>
      <p:sp>
        <p:nvSpPr>
          <p:cNvPr id="34" name="Text 32"/>
          <p:cNvSpPr txBox="1"/>
          <p:nvPr/>
        </p:nvSpPr>
        <p:spPr>
          <a:xfrm>
            <a:off x="9098280" y="3337560"/>
            <a:ext cx="2331720" cy="237744"/>
          </a:xfrm>
          <a:prstGeom prst="rect">
            <a:avLst/>
          </a:prstGeom>
          <a:noFill/>
          <a:ln/>
        </p:spPr>
        <p:txBody>
          <a:bodyPr wrap="square" lIns="0" tIns="0" rIns="0" bIns="0" rtlCol="0" anchor="ctr"/>
          <a:lstStyle/>
          <a:p>
            <a:pPr indent="0" marL="0">
              <a:buNone/>
            </a:pPr>
            <a:r>
              <a:rPr lang="en-US" sz="1100" dirty="0">
                <a:solidFill>
                  <a:srgbClr val="6B7785"/>
                </a:solidFill>
                <a:latin typeface="Calibri" pitchFamily="34" charset="0"/>
                <a:ea typeface="Calibri" pitchFamily="34" charset="-122"/>
                <a:cs typeface="Calibri" pitchFamily="34" charset="-120"/>
              </a:rPr>
              <a:t>Move-to-front</a:t>
            </a:r>
            <a:endParaRPr lang="en-US" sz="1100" dirty="0"/>
          </a:p>
        </p:txBody>
      </p:sp>
      <p:sp>
        <p:nvSpPr>
          <p:cNvPr id="35" name="Text 33"/>
          <p:cNvSpPr txBox="1"/>
          <p:nvPr/>
        </p:nvSpPr>
        <p:spPr>
          <a:xfrm>
            <a:off x="9098280" y="3657600"/>
            <a:ext cx="2331720" cy="384048"/>
          </a:xfrm>
          <a:prstGeom prst="rect">
            <a:avLst/>
          </a:prstGeom>
          <a:noFill/>
          <a:ln/>
        </p:spPr>
        <p:txBody>
          <a:bodyPr wrap="square" lIns="0" tIns="0" rIns="0" bIns="0" rtlCol="0" anchor="ctr"/>
          <a:lstStyle/>
          <a:p>
            <a:pPr indent="0" marL="0">
              <a:buNone/>
            </a:pPr>
            <a:r>
              <a:rPr lang="en-US" sz="2200" b="1" dirty="0">
                <a:solidFill>
                  <a:srgbClr val="1B2430"/>
                </a:solidFill>
                <a:latin typeface="Cambria" pitchFamily="34" charset="0"/>
                <a:ea typeface="Cambria" pitchFamily="34" charset="-122"/>
                <a:cs typeface="Cambria" pitchFamily="34" charset="-120"/>
              </a:rPr>
              <a:t>15.2%</a:t>
            </a:r>
            <a:endParaRPr lang="en-US" sz="2200" dirty="0"/>
          </a:p>
        </p:txBody>
      </p:sp>
      <p:sp>
        <p:nvSpPr>
          <p:cNvPr id="36" name="Text 34"/>
          <p:cNvSpPr txBox="1"/>
          <p:nvPr/>
        </p:nvSpPr>
        <p:spPr>
          <a:xfrm>
            <a:off x="9098280" y="4023360"/>
            <a:ext cx="2331720" cy="237744"/>
          </a:xfrm>
          <a:prstGeom prst="rect">
            <a:avLst/>
          </a:prstGeom>
          <a:noFill/>
          <a:ln/>
        </p:spPr>
        <p:txBody>
          <a:bodyPr wrap="square" lIns="0" tIns="0" rIns="0" bIns="0" rtlCol="0" anchor="ctr"/>
          <a:lstStyle/>
          <a:p>
            <a:pPr indent="0" marL="0">
              <a:buNone/>
            </a:pPr>
            <a:r>
              <a:rPr lang="en-US" sz="1100" dirty="0">
                <a:solidFill>
                  <a:srgbClr val="6B7785"/>
                </a:solidFill>
                <a:latin typeface="Calibri" pitchFamily="34" charset="0"/>
                <a:ea typeface="Calibri" pitchFamily="34" charset="-122"/>
                <a:cs typeface="Calibri" pitchFamily="34" charset="-120"/>
              </a:rPr>
              <a:t>Inverse BWT</a:t>
            </a:r>
            <a:endParaRPr lang="en-US" sz="1100" dirty="0"/>
          </a:p>
        </p:txBody>
      </p:sp>
      <p:sp>
        <p:nvSpPr>
          <p:cNvPr id="37" name="Text 35"/>
          <p:cNvSpPr txBox="1"/>
          <p:nvPr/>
        </p:nvSpPr>
        <p:spPr>
          <a:xfrm>
            <a:off x="9098280" y="4343400"/>
            <a:ext cx="2331720" cy="384048"/>
          </a:xfrm>
          <a:prstGeom prst="rect">
            <a:avLst/>
          </a:prstGeom>
          <a:noFill/>
          <a:ln/>
        </p:spPr>
        <p:txBody>
          <a:bodyPr wrap="square" lIns="0" tIns="0" rIns="0" bIns="0" rtlCol="0" anchor="ctr"/>
          <a:lstStyle/>
          <a:p>
            <a:pPr indent="0" marL="0">
              <a:buNone/>
            </a:pPr>
            <a:r>
              <a:rPr lang="en-US" sz="2200" b="1" dirty="0">
                <a:solidFill>
                  <a:srgbClr val="1B2430"/>
                </a:solidFill>
                <a:latin typeface="Cambria" pitchFamily="34" charset="0"/>
                <a:ea typeface="Cambria" pitchFamily="34" charset="-122"/>
                <a:cs typeface="Cambria" pitchFamily="34" charset="-120"/>
              </a:rPr>
              <a:t>21.8%</a:t>
            </a:r>
            <a:endParaRPr lang="en-US" sz="2200" dirty="0"/>
          </a:p>
        </p:txBody>
      </p:sp>
      <p:sp>
        <p:nvSpPr>
          <p:cNvPr id="38" name="Text 36"/>
          <p:cNvSpPr txBox="1"/>
          <p:nvPr/>
        </p:nvSpPr>
        <p:spPr>
          <a:xfrm>
            <a:off x="9098280" y="4709160"/>
            <a:ext cx="2331720" cy="237744"/>
          </a:xfrm>
          <a:prstGeom prst="rect">
            <a:avLst/>
          </a:prstGeom>
          <a:noFill/>
          <a:ln/>
        </p:spPr>
        <p:txBody>
          <a:bodyPr wrap="square" lIns="0" tIns="0" rIns="0" bIns="0" rtlCol="0" anchor="ctr"/>
          <a:lstStyle/>
          <a:p>
            <a:pPr indent="0" marL="0">
              <a:buNone/>
            </a:pPr>
            <a:r>
              <a:rPr lang="en-US" sz="1100" dirty="0">
                <a:solidFill>
                  <a:srgbClr val="6B7785"/>
                </a:solidFill>
                <a:latin typeface="Calibri" pitchFamily="34" charset="0"/>
                <a:ea typeface="Calibri" pitchFamily="34" charset="-122"/>
                <a:cs typeface="Calibri" pitchFamily="34" charset="-120"/>
              </a:rPr>
              <a:t>decode loop body</a:t>
            </a:r>
            <a:endParaRPr lang="en-US" sz="1100" dirty="0"/>
          </a:p>
        </p:txBody>
      </p:sp>
      <p:sp>
        <p:nvSpPr>
          <p:cNvPr id="39" name="Text 37"/>
          <p:cNvSpPr txBox="1"/>
          <p:nvPr/>
        </p:nvSpPr>
        <p:spPr>
          <a:xfrm>
            <a:off x="548640" y="5349240"/>
            <a:ext cx="11091672" cy="36576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3,185,454 Python function calls to decompress 400 KB.  That is the number to keep in your head for the next slide.</a:t>
            </a:r>
            <a:endParaRPr lang="en-US" sz="1400" dirty="0"/>
          </a:p>
        </p:txBody>
      </p:sp>
      <p:sp>
        <p:nvSpPr>
          <p:cNvPr id="40" name="Text 38"/>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Taha</a:t>
            </a:r>
            <a:endParaRPr lang="en-US" sz="1000" dirty="0"/>
          </a:p>
        </p:txBody>
      </p:sp>
      <p:sp>
        <p:nvSpPr>
          <p:cNvPr id="41" name="Text 39"/>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E8833A"/>
                </a:solidFill>
                <a:latin typeface="Calibri" pitchFamily="34" charset="0"/>
                <a:ea typeface="Calibri" pitchFamily="34" charset="-122"/>
                <a:cs typeface="Calibri" pitchFamily="34" charset="-120"/>
              </a:rPr>
              <a:t>BENCHMARK 1  ·  THE TURNING POINT</a:t>
            </a:r>
            <a:endParaRPr lang="en-US" sz="1100" dirty="0"/>
          </a:p>
        </p:txBody>
      </p:sp>
      <p:sp>
        <p:nvSpPr>
          <p:cNvPr id="3" name="Text 1"/>
          <p:cNvSpPr txBox="1"/>
          <p:nvPr/>
        </p:nvSpPr>
        <p:spPr>
          <a:xfrm>
            <a:off x="548640" y="713232"/>
            <a:ext cx="11091672"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obvious diagnosis was wrong</a:t>
            </a:r>
            <a:endParaRPr lang="en-US" sz="3200" dirty="0"/>
          </a:p>
        </p:txBody>
      </p:sp>
      <p:sp>
        <p:nvSpPr>
          <p:cNvPr id="4" name="Text 2"/>
          <p:cNvSpPr txBox="1"/>
          <p:nvPr/>
        </p:nvSpPr>
        <p:spPr>
          <a:xfrm>
            <a:off x="548640" y="1444752"/>
            <a:ext cx="10515600" cy="457200"/>
          </a:xfrm>
          <a:prstGeom prst="rect">
            <a:avLst/>
          </a:prstGeom>
          <a:noFill/>
          <a:ln/>
        </p:spPr>
        <p:txBody>
          <a:bodyPr wrap="square" lIns="0" tIns="0" rIns="0" bIns="0" rtlCol="0" anchor="ctr"/>
          <a:lstStyle/>
          <a:p>
            <a:pPr indent="0" marL="0">
              <a:lnSpc>
                <a:spcPts val="1900"/>
              </a:lnSpc>
              <a:buNone/>
            </a:pPr>
            <a:r>
              <a:rPr lang="en-US" sz="1400" dirty="0">
                <a:solidFill>
                  <a:srgbClr val="AFBECD"/>
                </a:solidFill>
                <a:latin typeface="Calibri" pitchFamily="34" charset="0"/>
                <a:ea typeface="Calibri" pitchFamily="34" charset="-122"/>
                <a:cs typeface="Calibri" pitchFamily="34" charset="-120"/>
              </a:rPr>
              <a:t>find_next_symbol() walks a sorted table linearly, so everyone's first conclusion is "the scan is too deep". We almost optimized the wrong thing.</a:t>
            </a:r>
            <a:endParaRPr lang="en-US" sz="1400" dirty="0"/>
          </a:p>
        </p:txBody>
      </p:sp>
      <p:sp>
        <p:nvSpPr>
          <p:cNvPr id="5" name="Shape 3"/>
          <p:cNvSpPr/>
          <p:nvPr/>
        </p:nvSpPr>
        <p:spPr>
          <a:xfrm>
            <a:off x="548640" y="2148840"/>
            <a:ext cx="3520440" cy="1691640"/>
          </a:xfrm>
          <a:prstGeom prst="roundRect">
            <a:avLst>
              <a:gd name="adj" fmla="val 3243"/>
            </a:avLst>
          </a:prstGeom>
          <a:solidFill>
            <a:srgbClr val="2B3A4A"/>
          </a:solidFill>
          <a:ln w="9525">
            <a:solidFill>
              <a:srgbClr val="3C4E61"/>
            </a:solidFill>
            <a:prstDash val="solid"/>
          </a:ln>
        </p:spPr>
      </p:sp>
      <p:sp>
        <p:nvSpPr>
          <p:cNvPr id="6" name="Text 4"/>
          <p:cNvSpPr txBox="1"/>
          <p:nvPr/>
        </p:nvSpPr>
        <p:spPr>
          <a:xfrm>
            <a:off x="777240" y="2377440"/>
            <a:ext cx="3063240" cy="56692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148,271</a:t>
            </a:r>
            <a:endParaRPr lang="en-US" sz="3400" dirty="0"/>
          </a:p>
        </p:txBody>
      </p:sp>
      <p:sp>
        <p:nvSpPr>
          <p:cNvPr id="7" name="Text 5"/>
          <p:cNvSpPr txBox="1"/>
          <p:nvPr/>
        </p:nvSpPr>
        <p:spPr>
          <a:xfrm>
            <a:off x="777240" y="2971800"/>
            <a:ext cx="3063240" cy="548640"/>
          </a:xfrm>
          <a:prstGeom prst="rect">
            <a:avLst/>
          </a:prstGeom>
          <a:noFill/>
          <a:ln/>
        </p:spPr>
        <p:txBody>
          <a:bodyPr wrap="square" lIns="0" tIns="0" rIns="0" bIns="0" rtlCol="0" anchor="ctr"/>
          <a:lstStyle/>
          <a:p>
            <a:pPr indent="0" marL="0">
              <a:buNone/>
            </a:pPr>
            <a:r>
              <a:rPr lang="en-US" sz="1200" dirty="0">
                <a:solidFill>
                  <a:srgbClr val="AFBECD"/>
                </a:solidFill>
                <a:latin typeface="Calibri" pitchFamily="34" charset="0"/>
                <a:ea typeface="Calibri" pitchFamily="34" charset="-122"/>
                <a:cs typeface="Calibri" pitchFamily="34" charset="-120"/>
              </a:rPr>
              <a:t>calls to find_next_symbol</a:t>
            </a:r>
            <a:endParaRPr lang="en-US" sz="1200" dirty="0"/>
          </a:p>
        </p:txBody>
      </p:sp>
      <p:sp>
        <p:nvSpPr>
          <p:cNvPr id="8" name="Shape 6"/>
          <p:cNvSpPr/>
          <p:nvPr/>
        </p:nvSpPr>
        <p:spPr>
          <a:xfrm>
            <a:off x="4343400" y="2148840"/>
            <a:ext cx="3520440" cy="1691640"/>
          </a:xfrm>
          <a:prstGeom prst="roundRect">
            <a:avLst>
              <a:gd name="adj" fmla="val 3243"/>
            </a:avLst>
          </a:prstGeom>
          <a:solidFill>
            <a:srgbClr val="2B3A4A"/>
          </a:solidFill>
          <a:ln w="9525">
            <a:solidFill>
              <a:srgbClr val="3C4E61"/>
            </a:solidFill>
            <a:prstDash val="solid"/>
          </a:ln>
        </p:spPr>
      </p:sp>
      <p:sp>
        <p:nvSpPr>
          <p:cNvPr id="9" name="Text 7"/>
          <p:cNvSpPr txBox="1"/>
          <p:nvPr/>
        </p:nvSpPr>
        <p:spPr>
          <a:xfrm>
            <a:off x="4572000" y="2377440"/>
            <a:ext cx="3063240" cy="56692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341,601</a:t>
            </a:r>
            <a:endParaRPr lang="en-US" sz="3400" dirty="0"/>
          </a:p>
        </p:txBody>
      </p:sp>
      <p:sp>
        <p:nvSpPr>
          <p:cNvPr id="10" name="Text 8"/>
          <p:cNvSpPr txBox="1"/>
          <p:nvPr/>
        </p:nvSpPr>
        <p:spPr>
          <a:xfrm>
            <a:off x="4572000" y="2971800"/>
            <a:ext cx="3063240" cy="548640"/>
          </a:xfrm>
          <a:prstGeom prst="rect">
            <a:avLst/>
          </a:prstGeom>
          <a:noFill/>
          <a:ln/>
        </p:spPr>
        <p:txBody>
          <a:bodyPr wrap="square" lIns="0" tIns="0" rIns="0" bIns="0" rtlCol="0" anchor="ctr"/>
          <a:lstStyle/>
          <a:p>
            <a:pPr indent="0" marL="0">
              <a:buNone/>
            </a:pPr>
            <a:r>
              <a:rPr lang="en-US" sz="1200" dirty="0">
                <a:solidFill>
                  <a:srgbClr val="AFBECD"/>
                </a:solidFill>
                <a:latin typeface="Calibri" pitchFamily="34" charset="0"/>
                <a:ea typeface="Calibri" pitchFamily="34" charset="-122"/>
                <a:cs typeface="Calibri" pitchFamily="34" charset="-120"/>
              </a:rPr>
              <a:t>calls to snoopbits</a:t>
            </a:r>
            <a:endParaRPr lang="en-US" sz="1200" dirty="0"/>
          </a:p>
        </p:txBody>
      </p:sp>
      <p:sp>
        <p:nvSpPr>
          <p:cNvPr id="11" name="Shape 9"/>
          <p:cNvSpPr/>
          <p:nvPr/>
        </p:nvSpPr>
        <p:spPr>
          <a:xfrm>
            <a:off x="8138160" y="2148840"/>
            <a:ext cx="3502152" cy="1691640"/>
          </a:xfrm>
          <a:prstGeom prst="roundRect">
            <a:avLst>
              <a:gd name="adj" fmla="val 3243"/>
            </a:avLst>
          </a:prstGeom>
          <a:solidFill>
            <a:srgbClr val="E8833A"/>
          </a:solidFill>
          <a:ln w="12700">
            <a:solidFill>
              <a:srgbClr val="E8833A"/>
            </a:solidFill>
            <a:prstDash val="solid"/>
          </a:ln>
        </p:spPr>
      </p:sp>
      <p:sp>
        <p:nvSpPr>
          <p:cNvPr id="12" name="Text 10"/>
          <p:cNvSpPr txBox="1"/>
          <p:nvPr/>
        </p:nvSpPr>
        <p:spPr>
          <a:xfrm>
            <a:off x="8366760" y="2331720"/>
            <a:ext cx="3063240" cy="658368"/>
          </a:xfrm>
          <a:prstGeom prst="rect">
            <a:avLst/>
          </a:prstGeom>
          <a:noFill/>
          <a:ln/>
        </p:spPr>
        <p:txBody>
          <a:bodyPr wrap="square" lIns="0" tIns="0" rIns="0" bIns="0" rtlCol="0" anchor="ctr"/>
          <a:lstStyle/>
          <a:p>
            <a:pPr indent="0" marL="0">
              <a:buNone/>
            </a:pPr>
            <a:r>
              <a:rPr lang="en-US" sz="4200" b="1" dirty="0">
                <a:solidFill>
                  <a:srgbClr val="1B2430"/>
                </a:solidFill>
                <a:latin typeface="Cambria" pitchFamily="34" charset="0"/>
                <a:ea typeface="Cambria" pitchFamily="34" charset="-122"/>
                <a:cs typeface="Cambria" pitchFamily="34" charset="-120"/>
              </a:rPr>
              <a:t>2.3</a:t>
            </a:r>
            <a:endParaRPr lang="en-US" sz="4200" dirty="0"/>
          </a:p>
        </p:txBody>
      </p:sp>
      <p:sp>
        <p:nvSpPr>
          <p:cNvPr id="13" name="Text 11"/>
          <p:cNvSpPr txBox="1"/>
          <p:nvPr/>
        </p:nvSpPr>
        <p:spPr>
          <a:xfrm>
            <a:off x="8366760" y="3017520"/>
            <a:ext cx="3063240" cy="548640"/>
          </a:xfrm>
          <a:prstGeom prst="rect">
            <a:avLst/>
          </a:prstGeom>
          <a:noFill/>
          <a:ln/>
        </p:spPr>
        <p:txBody>
          <a:bodyPr wrap="square" lIns="0" tIns="0" rIns="0" bIns="0" rtlCol="0" anchor="ctr"/>
          <a:lstStyle/>
          <a:p>
            <a:pPr indent="0" marL="0">
              <a:buNone/>
            </a:pPr>
            <a:r>
              <a:rPr lang="en-US" sz="1200" b="1" dirty="0">
                <a:solidFill>
                  <a:srgbClr val="3A2412"/>
                </a:solidFill>
                <a:latin typeface="Calibri" pitchFamily="34" charset="0"/>
                <a:ea typeface="Calibri" pitchFamily="34" charset="-122"/>
                <a:cs typeface="Calibri" pitchFamily="34" charset="-120"/>
              </a:rPr>
              <a:t>probes per symbol — not ~250</a:t>
            </a:r>
            <a:endParaRPr lang="en-US" sz="1200" dirty="0"/>
          </a:p>
        </p:txBody>
      </p:sp>
      <p:sp>
        <p:nvSpPr>
          <p:cNvPr id="14" name="Text 12"/>
          <p:cNvSpPr txBox="1"/>
          <p:nvPr/>
        </p:nvSpPr>
        <p:spPr>
          <a:xfrm>
            <a:off x="548640" y="4069080"/>
            <a:ext cx="10881360" cy="365760"/>
          </a:xfrm>
          <a:prstGeom prst="rect">
            <a:avLst/>
          </a:prstGeom>
          <a:noFill/>
          <a:ln/>
        </p:spPr>
        <p:txBody>
          <a:bodyPr wrap="square" lIns="0" tIns="0" rIns="0" bIns="0" rtlCol="0" anchor="ctr"/>
          <a:lstStyle/>
          <a:p>
            <a:pPr indent="0" marL="0">
              <a:buNone/>
            </a:pPr>
            <a:r>
              <a:rPr lang="en-US" sz="1400" dirty="0">
                <a:solidFill>
                  <a:srgbClr val="E8EDF2"/>
                </a:solidFill>
                <a:latin typeface="Calibri" pitchFamily="34" charset="0"/>
                <a:ea typeface="Calibri" pitchFamily="34" charset="-122"/>
                <a:cs typeface="Calibri" pitchFamily="34" charset="-120"/>
              </a:rPr>
              <a:t>Why: move-to-front keeps the hot symbols on short codes, so the scan almost always exits after two probes.</a:t>
            </a:r>
            <a:endParaRPr lang="en-US" sz="1400" dirty="0"/>
          </a:p>
        </p:txBody>
      </p:sp>
      <p:sp>
        <p:nvSpPr>
          <p:cNvPr id="15" name="Shape 13"/>
          <p:cNvSpPr/>
          <p:nvPr/>
        </p:nvSpPr>
        <p:spPr>
          <a:xfrm>
            <a:off x="548640" y="4617720"/>
            <a:ext cx="11091672" cy="1325880"/>
          </a:xfrm>
          <a:prstGeom prst="roundRect">
            <a:avLst>
              <a:gd name="adj" fmla="val 4138"/>
            </a:avLst>
          </a:prstGeom>
          <a:solidFill>
            <a:srgbClr val="2B3A4A"/>
          </a:solidFill>
          <a:ln w="19050">
            <a:solidFill>
              <a:srgbClr val="2D9B8A"/>
            </a:solidFill>
            <a:prstDash val="solid"/>
          </a:ln>
        </p:spPr>
      </p:sp>
      <p:sp>
        <p:nvSpPr>
          <p:cNvPr id="16" name="Text 14"/>
          <p:cNvSpPr txBox="1"/>
          <p:nvPr/>
        </p:nvSpPr>
        <p:spPr>
          <a:xfrm>
            <a:off x="822960" y="4773168"/>
            <a:ext cx="10543032" cy="1005840"/>
          </a:xfrm>
          <a:prstGeom prst="rect">
            <a:avLst/>
          </a:prstGeom>
          <a:noFill/>
          <a:ln/>
        </p:spPr>
        <p:txBody>
          <a:bodyPr wrap="square" lIns="0" tIns="0" rIns="0" bIns="0" rtlCol="0" anchor="ctr"/>
          <a:lstStyle/>
          <a:p>
            <a:pPr indent="0" marL="0">
              <a:lnSpc>
                <a:spcPts val="2000"/>
              </a:lnSpc>
              <a:buNone/>
            </a:pPr>
            <a:r>
              <a:rPr lang="en-US" sz="1400" dirty="0">
                <a:solidFill>
                  <a:srgbClr val="FFFFFF"/>
                </a:solidFill>
                <a:latin typeface="Calibri" pitchFamily="34" charset="0"/>
                <a:ea typeface="Calibri" pitchFamily="34" charset="-122"/>
                <a:cs typeface="Calibri" pitchFamily="34" charset="-120"/>
              </a:rPr>
              <a:t>So the cost was never scan depth. Decoding ONE symbol cost about seven Python function calls: find_next_symbol, ~2.3 snoopbits, a readbits, and several _mask. The fix had to remove CALLS, not iterations — the opposite of what the benchmark's own source comment suggests.</a:t>
            </a:r>
            <a:endParaRPr lang="en-US" sz="1400" dirty="0"/>
          </a:p>
        </p:txBody>
      </p:sp>
      <p:sp>
        <p:nvSpPr>
          <p:cNvPr id="17" name="Text 15"/>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8A97A6"/>
                </a:solidFill>
                <a:latin typeface="Calibri" pitchFamily="34" charset="0"/>
                <a:ea typeface="Calibri" pitchFamily="34" charset="-122"/>
                <a:cs typeface="Calibri" pitchFamily="34" charset="-120"/>
              </a:rPr>
              <a:t>Taha</a:t>
            </a:r>
            <a:endParaRPr lang="en-US" sz="1000" dirty="0"/>
          </a:p>
        </p:txBody>
      </p:sp>
      <p:sp>
        <p:nvSpPr>
          <p:cNvPr id="18" name="Text 16"/>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8A97A6"/>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E8833A"/>
                </a:solidFill>
                <a:latin typeface="Calibri" pitchFamily="34" charset="0"/>
                <a:ea typeface="Calibri" pitchFamily="34" charset="-122"/>
                <a:cs typeface="Calibri" pitchFamily="34" charset="-120"/>
              </a:rPr>
              <a:t>BENCHMARK 1  ·  THE THREE IMPLEMENTATIONS</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One Huffman symbol, three ways</a:t>
            </a:r>
            <a:endParaRPr lang="en-US" sz="2900" dirty="0"/>
          </a:p>
        </p:txBody>
      </p:sp>
      <p:sp>
        <p:nvSpPr>
          <p:cNvPr id="4" name="Text 2"/>
          <p:cNvSpPr txBox="1"/>
          <p:nvPr/>
        </p:nvSpPr>
        <p:spPr>
          <a:xfrm>
            <a:off x="548640" y="1280160"/>
            <a:ext cx="11091672" cy="27432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Same bzip2 stream, same decoded byte. What changes is how much work one symbol costs — and how much of it happens at once.</a:t>
            </a:r>
            <a:endParaRPr lang="en-US" sz="1250" dirty="0"/>
          </a:p>
        </p:txBody>
      </p:sp>
      <p:sp>
        <p:nvSpPr>
          <p:cNvPr id="5" name="Shape 3"/>
          <p:cNvSpPr/>
          <p:nvPr/>
        </p:nvSpPr>
        <p:spPr>
          <a:xfrm>
            <a:off x="548640" y="1645920"/>
            <a:ext cx="3520440" cy="365760"/>
          </a:xfrm>
          <a:prstGeom prst="roundRect">
            <a:avLst>
              <a:gd name="adj" fmla="val 12500"/>
            </a:avLst>
          </a:prstGeom>
          <a:solidFill>
            <a:srgbClr val="E8833A"/>
          </a:solidFill>
          <a:ln w="12700">
            <a:solidFill>
              <a:srgbClr val="E8833A"/>
            </a:solidFill>
            <a:prstDash val="solid"/>
          </a:ln>
        </p:spPr>
      </p:sp>
      <p:sp>
        <p:nvSpPr>
          <p:cNvPr id="6" name="Text 4"/>
          <p:cNvSpPr txBox="1"/>
          <p:nvPr/>
        </p:nvSpPr>
        <p:spPr>
          <a:xfrm>
            <a:off x="548640" y="1645920"/>
            <a:ext cx="3520440" cy="365760"/>
          </a:xfrm>
          <a:prstGeom prst="rect">
            <a:avLst/>
          </a:prstGeom>
          <a:noFill/>
          <a:ln/>
        </p:spPr>
        <p:txBody>
          <a:bodyPr wrap="square" lIns="0" tIns="0" rIns="0" bIns="0" rtlCol="0" anchor="ctr"/>
          <a:lstStyle/>
          <a:p>
            <a:pPr algn="ctr" indent="0" marL="0">
              <a:buNone/>
            </a:pPr>
            <a:r>
              <a:rPr lang="en-US" sz="1150" b="1" spc="80" kern="0" dirty="0">
                <a:solidFill>
                  <a:srgbClr val="FFFFFF"/>
                </a:solidFill>
                <a:latin typeface="Calibri" pitchFamily="34" charset="0"/>
                <a:ea typeface="Calibri" pitchFamily="34" charset="-122"/>
                <a:cs typeface="Calibri" pitchFamily="34" charset="-120"/>
              </a:rPr>
              <a:t>A   BASELINE SOFTWARE</a:t>
            </a:r>
            <a:endParaRPr lang="en-US" sz="1150" dirty="0"/>
          </a:p>
        </p:txBody>
      </p:sp>
      <p:sp>
        <p:nvSpPr>
          <p:cNvPr id="7" name="Shape 5"/>
          <p:cNvSpPr/>
          <p:nvPr/>
        </p:nvSpPr>
        <p:spPr>
          <a:xfrm>
            <a:off x="4334256" y="1645920"/>
            <a:ext cx="3520440" cy="365760"/>
          </a:xfrm>
          <a:prstGeom prst="roundRect">
            <a:avLst>
              <a:gd name="adj" fmla="val 12500"/>
            </a:avLst>
          </a:prstGeom>
          <a:solidFill>
            <a:srgbClr val="2D9B8A"/>
          </a:solidFill>
          <a:ln w="12700">
            <a:solidFill>
              <a:srgbClr val="2D9B8A"/>
            </a:solidFill>
            <a:prstDash val="solid"/>
          </a:ln>
        </p:spPr>
      </p:sp>
      <p:sp>
        <p:nvSpPr>
          <p:cNvPr id="8" name="Text 6"/>
          <p:cNvSpPr txBox="1"/>
          <p:nvPr/>
        </p:nvSpPr>
        <p:spPr>
          <a:xfrm>
            <a:off x="4334256" y="1645920"/>
            <a:ext cx="3520440" cy="365760"/>
          </a:xfrm>
          <a:prstGeom prst="rect">
            <a:avLst/>
          </a:prstGeom>
          <a:noFill/>
          <a:ln/>
        </p:spPr>
        <p:txBody>
          <a:bodyPr wrap="square" lIns="0" tIns="0" rIns="0" bIns="0" rtlCol="0" anchor="ctr"/>
          <a:lstStyle/>
          <a:p>
            <a:pPr algn="ctr" indent="0" marL="0">
              <a:buNone/>
            </a:pPr>
            <a:r>
              <a:rPr lang="en-US" sz="1150" b="1" spc="80" kern="0" dirty="0">
                <a:solidFill>
                  <a:srgbClr val="FFFFFF"/>
                </a:solidFill>
                <a:latin typeface="Calibri" pitchFamily="34" charset="0"/>
                <a:ea typeface="Calibri" pitchFamily="34" charset="-122"/>
                <a:cs typeface="Calibri" pitchFamily="34" charset="-120"/>
              </a:rPr>
              <a:t>B   OPTIMIZED SOFTWARE</a:t>
            </a:r>
            <a:endParaRPr lang="en-US" sz="1150" dirty="0"/>
          </a:p>
        </p:txBody>
      </p:sp>
      <p:sp>
        <p:nvSpPr>
          <p:cNvPr id="9" name="Shape 7"/>
          <p:cNvSpPr/>
          <p:nvPr/>
        </p:nvSpPr>
        <p:spPr>
          <a:xfrm>
            <a:off x="8119872" y="1645920"/>
            <a:ext cx="3520440" cy="365760"/>
          </a:xfrm>
          <a:prstGeom prst="roundRect">
            <a:avLst>
              <a:gd name="adj" fmla="val 12500"/>
            </a:avLst>
          </a:prstGeom>
          <a:solidFill>
            <a:srgbClr val="3C5A78"/>
          </a:solidFill>
          <a:ln w="12700">
            <a:solidFill>
              <a:srgbClr val="3C5A78"/>
            </a:solidFill>
            <a:prstDash val="solid"/>
          </a:ln>
        </p:spPr>
      </p:sp>
      <p:sp>
        <p:nvSpPr>
          <p:cNvPr id="10" name="Text 8"/>
          <p:cNvSpPr txBox="1"/>
          <p:nvPr/>
        </p:nvSpPr>
        <p:spPr>
          <a:xfrm>
            <a:off x="8119872" y="1645920"/>
            <a:ext cx="3520440" cy="365760"/>
          </a:xfrm>
          <a:prstGeom prst="rect">
            <a:avLst/>
          </a:prstGeom>
          <a:noFill/>
          <a:ln/>
        </p:spPr>
        <p:txBody>
          <a:bodyPr wrap="square" lIns="0" tIns="0" rIns="0" bIns="0" rtlCol="0" anchor="ctr"/>
          <a:lstStyle/>
          <a:p>
            <a:pPr algn="ctr" indent="0" marL="0">
              <a:buNone/>
            </a:pPr>
            <a:r>
              <a:rPr lang="en-US" sz="1150" b="1" spc="80" kern="0" dirty="0">
                <a:solidFill>
                  <a:srgbClr val="FFFFFF"/>
                </a:solidFill>
                <a:latin typeface="Calibri" pitchFamily="34" charset="0"/>
                <a:ea typeface="Calibri" pitchFamily="34" charset="-122"/>
                <a:cs typeface="Calibri" pitchFamily="34" charset="-120"/>
              </a:rPr>
              <a:t>C   HARDWARE ACCELERATOR</a:t>
            </a:r>
            <a:endParaRPr lang="en-US" sz="1150" dirty="0"/>
          </a:p>
        </p:txBody>
      </p:sp>
      <p:sp>
        <p:nvSpPr>
          <p:cNvPr id="11" name="Shape 9"/>
          <p:cNvSpPr/>
          <p:nvPr/>
        </p:nvSpPr>
        <p:spPr>
          <a:xfrm>
            <a:off x="548640" y="2029968"/>
            <a:ext cx="3520440" cy="2761488"/>
          </a:xfrm>
          <a:prstGeom prst="roundRect">
            <a:avLst>
              <a:gd name="adj" fmla="val 1987"/>
            </a:avLst>
          </a:prstGeom>
          <a:solidFill>
            <a:srgbClr val="F3F6F8"/>
          </a:solidFill>
          <a:ln w="9525">
            <a:solidFill>
              <a:srgbClr val="DBE2E8"/>
            </a:solidFill>
            <a:prstDash val="solid"/>
          </a:ln>
        </p:spPr>
      </p:sp>
      <p:sp>
        <p:nvSpPr>
          <p:cNvPr id="12" name="Shape 10"/>
          <p:cNvSpPr/>
          <p:nvPr/>
        </p:nvSpPr>
        <p:spPr>
          <a:xfrm>
            <a:off x="4334256" y="2029968"/>
            <a:ext cx="3520440" cy="2761488"/>
          </a:xfrm>
          <a:prstGeom prst="roundRect">
            <a:avLst>
              <a:gd name="adj" fmla="val 1987"/>
            </a:avLst>
          </a:prstGeom>
          <a:solidFill>
            <a:srgbClr val="F3F6F8"/>
          </a:solidFill>
          <a:ln w="9525">
            <a:solidFill>
              <a:srgbClr val="DBE2E8"/>
            </a:solidFill>
            <a:prstDash val="solid"/>
          </a:ln>
        </p:spPr>
      </p:sp>
      <p:sp>
        <p:nvSpPr>
          <p:cNvPr id="13" name="Shape 11"/>
          <p:cNvSpPr/>
          <p:nvPr/>
        </p:nvSpPr>
        <p:spPr>
          <a:xfrm>
            <a:off x="8119872" y="2029968"/>
            <a:ext cx="3520440" cy="2761488"/>
          </a:xfrm>
          <a:prstGeom prst="roundRect">
            <a:avLst>
              <a:gd name="adj" fmla="val 1987"/>
            </a:avLst>
          </a:prstGeom>
          <a:solidFill>
            <a:srgbClr val="2B3A4A"/>
          </a:solidFill>
          <a:ln w="9525">
            <a:solidFill>
              <a:srgbClr val="3C4E61"/>
            </a:solidFill>
            <a:prstDash val="solid"/>
          </a:ln>
        </p:spPr>
      </p:sp>
      <p:sp>
        <p:nvSpPr>
          <p:cNvPr id="14" name="Text 12"/>
          <p:cNvSpPr txBox="1"/>
          <p:nvPr/>
        </p:nvSpPr>
        <p:spPr>
          <a:xfrm>
            <a:off x="749808" y="2157984"/>
            <a:ext cx="3118104" cy="1600200"/>
          </a:xfrm>
          <a:prstGeom prst="rect">
            <a:avLst/>
          </a:prstGeom>
          <a:noFill/>
          <a:ln/>
        </p:spPr>
        <p:txBody>
          <a:bodyPr wrap="square" lIns="0" tIns="0" rIns="0" bIns="0" rtlCol="0" anchor="ctr"/>
          <a:lstStyle/>
          <a:p>
            <a:pPr marL="342900" indent="-342900">
              <a:lnSpc>
                <a:spcPts val="1900"/>
              </a:lnSpc>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Walks a sorted list of HuffmanLength objects</a:t>
            </a:r>
            <a:endParaRPr lang="en-US" sz="1100" dirty="0"/>
          </a:p>
          <a:p>
            <a:pPr marL="342900" indent="-342900">
              <a:lnSpc>
                <a:spcPts val="1900"/>
              </a:lnSpc>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Re-peeks the stream at every new candidate length</a:t>
            </a:r>
            <a:endParaRPr lang="en-US" sz="1100" dirty="0"/>
          </a:p>
          <a:p>
            <a:pPr marL="342900" indent="-342900">
              <a:lnSpc>
                <a:spcPts val="1900"/>
              </a:lnSpc>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~7 Python calls per symbol, 2.3 stream peeks</a:t>
            </a:r>
            <a:endParaRPr lang="en-US" sz="1100" dirty="0"/>
          </a:p>
        </p:txBody>
      </p:sp>
      <p:sp>
        <p:nvSpPr>
          <p:cNvPr id="15" name="Text 13"/>
          <p:cNvSpPr txBox="1"/>
          <p:nvPr/>
        </p:nvSpPr>
        <p:spPr>
          <a:xfrm>
            <a:off x="4535424" y="2157984"/>
            <a:ext cx="3118104" cy="1600200"/>
          </a:xfrm>
          <a:prstGeom prst="rect">
            <a:avLst/>
          </a:prstGeom>
          <a:noFill/>
          <a:ln/>
        </p:spPr>
        <p:txBody>
          <a:bodyPr wrap="square" lIns="0" tIns="0" rIns="0" bIns="0" rtlCol="0" anchor="ctr"/>
          <a:lstStyle/>
          <a:p>
            <a:pPr marL="342900" indent="-342900">
              <a:lnSpc>
                <a:spcPts val="1900"/>
              </a:lnSpc>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limit / base / perm tables replace the scan</a:t>
            </a:r>
            <a:endParaRPr lang="en-US" sz="1100" dirty="0"/>
          </a:p>
          <a:p>
            <a:pPr marL="342900" indent="-342900">
              <a:lnSpc>
                <a:spcPts val="1900"/>
              </a:lnSpc>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Starts at min_len = 2, extends one bit at a time</a:t>
            </a:r>
            <a:endParaRPr lang="en-US" sz="1100" dirty="0"/>
          </a:p>
          <a:p>
            <a:pPr marL="342900" indent="-342900">
              <a:lnSpc>
                <a:spcPts val="1900"/>
              </a:lnSpc>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Bit cursor in locals — no calls in the hot loop</a:t>
            </a:r>
            <a:endParaRPr lang="en-US" sz="1100" dirty="0"/>
          </a:p>
        </p:txBody>
      </p:sp>
      <p:sp>
        <p:nvSpPr>
          <p:cNvPr id="16" name="Text 14"/>
          <p:cNvSpPr txBox="1"/>
          <p:nvPr/>
        </p:nvSpPr>
        <p:spPr>
          <a:xfrm>
            <a:off x="8321040" y="2157984"/>
            <a:ext cx="3118104" cy="1600200"/>
          </a:xfrm>
          <a:prstGeom prst="rect">
            <a:avLst/>
          </a:prstGeom>
          <a:noFill/>
          <a:ln/>
        </p:spPr>
        <p:txBody>
          <a:bodyPr wrap="square" lIns="0" tIns="0" rIns="0" bIns="0" rtlCol="0" anchor="ctr"/>
          <a:lstStyle/>
          <a:p>
            <a:pPr marL="342900" indent="-342900">
              <a:lnSpc>
                <a:spcPts val="1500"/>
              </a:lnSpc>
              <a:spcAft>
                <a:spcPts val="500"/>
              </a:spcAft>
              <a:buSzPct val="100000"/>
              <a:buChar char="•"/>
            </a:pPr>
            <a:r>
              <a:rPr lang="en-US" sz="1100" dirty="0">
                <a:solidFill>
                  <a:srgbClr val="E8EDF2"/>
                </a:solidFill>
                <a:latin typeface="Calibri" pitchFamily="34" charset="0"/>
                <a:ea typeface="Calibri" pitchFamily="34" charset="-122"/>
                <a:cs typeface="Calibri" pitchFamily="34" charset="-120"/>
              </a:rPr>
              <a:t>bit_window exposes the next 20 bits</a:t>
            </a:r>
            <a:endParaRPr lang="en-US" sz="1100" dirty="0"/>
          </a:p>
          <a:p>
            <a:pPr marL="342900" indent="-342900">
              <a:lnSpc>
                <a:spcPts val="1500"/>
              </a:lnSpc>
              <a:spcAft>
                <a:spcPts val="500"/>
              </a:spcAft>
              <a:buSzPct val="100000"/>
              <a:buChar char="•"/>
            </a:pPr>
            <a:r>
              <a:rPr lang="en-US" sz="1100" dirty="0">
                <a:solidFill>
                  <a:srgbClr val="E8EDF2"/>
                </a:solidFill>
                <a:latin typeface="Calibri" pitchFamily="34" charset="0"/>
                <a:ea typeface="Calibri" pitchFamily="34" charset="-122"/>
                <a:cs typeface="Calibri" pitchFamily="34" charset="-120"/>
              </a:rPr>
              <a:t>20 comparators test lengths 1–20 at once</a:t>
            </a:r>
            <a:endParaRPr lang="en-US" sz="1100" dirty="0"/>
          </a:p>
          <a:p>
            <a:pPr marL="342900" indent="-342900">
              <a:lnSpc>
                <a:spcPts val="1500"/>
              </a:lnSpc>
              <a:spcAft>
                <a:spcPts val="500"/>
              </a:spcAft>
              <a:buSzPct val="100000"/>
              <a:buChar char="•"/>
            </a:pPr>
            <a:r>
              <a:rPr lang="en-US" sz="1100" dirty="0">
                <a:solidFill>
                  <a:srgbClr val="E8EDF2"/>
                </a:solidFill>
                <a:latin typeface="Calibri" pitchFamily="34" charset="0"/>
                <a:ea typeface="Calibri" pitchFamily="34" charset="-122"/>
                <a:cs typeface="Calibri" pitchFamily="34" charset="-120"/>
              </a:rPr>
              <a:t>Priority encoder takes the shortest match</a:t>
            </a:r>
            <a:endParaRPr lang="en-US" sz="1100" dirty="0"/>
          </a:p>
          <a:p>
            <a:pPr marL="342900" indent="-342900">
              <a:lnSpc>
                <a:spcPts val="1500"/>
              </a:lnSpc>
              <a:spcAft>
                <a:spcPts val="500"/>
              </a:spcAft>
              <a:buSzPct val="100000"/>
              <a:buChar char="•"/>
            </a:pPr>
            <a:r>
              <a:rPr lang="en-US" sz="1100" dirty="0">
                <a:solidFill>
                  <a:srgbClr val="E8EDF2"/>
                </a:solidFill>
                <a:latin typeface="Calibri" pitchFamily="34" charset="0"/>
                <a:ea typeface="Calibri" pitchFamily="34" charset="-122"/>
                <a:cs typeface="Calibri" pitchFamily="34" charset="-120"/>
              </a:rPr>
              <a:t>valid / ready retires sym_len bits</a:t>
            </a:r>
            <a:endParaRPr lang="en-US" sz="1100" dirty="0"/>
          </a:p>
        </p:txBody>
      </p:sp>
      <p:sp>
        <p:nvSpPr>
          <p:cNvPr id="17" name="Text 15"/>
          <p:cNvSpPr txBox="1"/>
          <p:nvPr/>
        </p:nvSpPr>
        <p:spPr>
          <a:xfrm>
            <a:off x="749808" y="3877056"/>
            <a:ext cx="3118104" cy="219456"/>
          </a:xfrm>
          <a:prstGeom prst="rect">
            <a:avLst/>
          </a:prstGeom>
          <a:noFill/>
          <a:ln/>
        </p:spPr>
        <p:txBody>
          <a:bodyPr wrap="square" lIns="0" tIns="0" rIns="0" bIns="0" rtlCol="0" anchor="ctr"/>
          <a:lstStyle/>
          <a:p>
            <a:pPr indent="0" marL="0">
              <a:buNone/>
            </a:pPr>
            <a:r>
              <a:rPr lang="en-US" sz="850" b="1" spc="100" kern="0" dirty="0">
                <a:solidFill>
                  <a:srgbClr val="6B7785"/>
                </a:solidFill>
                <a:latin typeface="Calibri" pitchFamily="34" charset="0"/>
                <a:ea typeface="Calibri" pitchFamily="34" charset="-122"/>
                <a:cs typeface="Calibri" pitchFamily="34" charset="-120"/>
              </a:rPr>
              <a:t>A CODE THAT IS 5 BITS LONG</a:t>
            </a:r>
            <a:endParaRPr lang="en-US" sz="850" dirty="0"/>
          </a:p>
        </p:txBody>
      </p:sp>
      <p:sp>
        <p:nvSpPr>
          <p:cNvPr id="18" name="Text 16"/>
          <p:cNvSpPr txBox="1"/>
          <p:nvPr/>
        </p:nvSpPr>
        <p:spPr>
          <a:xfrm>
            <a:off x="749808" y="4078224"/>
            <a:ext cx="3118104" cy="384048"/>
          </a:xfrm>
          <a:prstGeom prst="rect">
            <a:avLst/>
          </a:prstGeom>
          <a:noFill/>
          <a:ln/>
        </p:spPr>
        <p:txBody>
          <a:bodyPr wrap="square" lIns="0" tIns="0" rIns="0" bIns="0" rtlCol="0" anchor="ctr"/>
          <a:lstStyle/>
          <a:p>
            <a:pPr indent="0" marL="0">
              <a:lnSpc>
                <a:spcPts val="1500"/>
              </a:lnSpc>
              <a:buNone/>
            </a:pPr>
            <a:r>
              <a:rPr lang="en-US" sz="1100" dirty="0">
                <a:solidFill>
                  <a:srgbClr val="1B2430"/>
                </a:solidFill>
                <a:latin typeface="Calibri" pitchFamily="34" charset="0"/>
                <a:ea typeface="Calibri" pitchFamily="34" charset="-122"/>
                <a:cs typeface="Calibri" pitchFamily="34" charset="-120"/>
              </a:rPr>
              <a:t>Scans candidates, peeking at the stream again at each new length</a:t>
            </a:r>
            <a:endParaRPr lang="en-US" sz="1100" dirty="0"/>
          </a:p>
        </p:txBody>
      </p:sp>
      <p:sp>
        <p:nvSpPr>
          <p:cNvPr id="19" name="Text 17"/>
          <p:cNvSpPr txBox="1"/>
          <p:nvPr/>
        </p:nvSpPr>
        <p:spPr>
          <a:xfrm>
            <a:off x="4535424" y="3877056"/>
            <a:ext cx="3118104" cy="219456"/>
          </a:xfrm>
          <a:prstGeom prst="rect">
            <a:avLst/>
          </a:prstGeom>
          <a:noFill/>
          <a:ln/>
        </p:spPr>
        <p:txBody>
          <a:bodyPr wrap="square" lIns="0" tIns="0" rIns="0" bIns="0" rtlCol="0" anchor="ctr"/>
          <a:lstStyle/>
          <a:p>
            <a:pPr indent="0" marL="0">
              <a:buNone/>
            </a:pPr>
            <a:r>
              <a:rPr lang="en-US" sz="850" b="1" spc="100" kern="0" dirty="0">
                <a:solidFill>
                  <a:srgbClr val="6B7785"/>
                </a:solidFill>
                <a:latin typeface="Calibri" pitchFamily="34" charset="0"/>
                <a:ea typeface="Calibri" pitchFamily="34" charset="-122"/>
                <a:cs typeface="Calibri" pitchFamily="34" charset="-120"/>
              </a:rPr>
              <a:t>A CODE THAT IS 5 BITS LONG</a:t>
            </a:r>
            <a:endParaRPr lang="en-US" sz="850" dirty="0"/>
          </a:p>
        </p:txBody>
      </p:sp>
      <p:sp>
        <p:nvSpPr>
          <p:cNvPr id="20" name="Text 18"/>
          <p:cNvSpPr txBox="1"/>
          <p:nvPr/>
        </p:nvSpPr>
        <p:spPr>
          <a:xfrm>
            <a:off x="4535424" y="4078224"/>
            <a:ext cx="3118104" cy="384048"/>
          </a:xfrm>
          <a:prstGeom prst="rect">
            <a:avLst/>
          </a:prstGeom>
          <a:noFill/>
          <a:ln/>
        </p:spPr>
        <p:txBody>
          <a:bodyPr wrap="square" lIns="0" tIns="0" rIns="0" bIns="0" rtlCol="0" anchor="ctr"/>
          <a:lstStyle/>
          <a:p>
            <a:pPr indent="0" marL="0">
              <a:lnSpc>
                <a:spcPts val="1500"/>
              </a:lnSpc>
              <a:buNone/>
            </a:pPr>
            <a:r>
              <a:rPr lang="en-US" sz="1100" dirty="0">
                <a:solidFill>
                  <a:srgbClr val="1B2430"/>
                </a:solidFill>
                <a:latin typeface="Calibri" pitchFamily="34" charset="0"/>
                <a:ea typeface="Calibri" pitchFamily="34" charset="-122"/>
                <a:cs typeface="Calibri" pitchFamily="34" charset="-120"/>
              </a:rPr>
              <a:t>Tests 2 → 3 → 4 → 5 in sequence, with no function calls</a:t>
            </a:r>
            <a:endParaRPr lang="en-US" sz="1100" dirty="0"/>
          </a:p>
        </p:txBody>
      </p:sp>
      <p:sp>
        <p:nvSpPr>
          <p:cNvPr id="21" name="Text 19"/>
          <p:cNvSpPr txBox="1"/>
          <p:nvPr/>
        </p:nvSpPr>
        <p:spPr>
          <a:xfrm>
            <a:off x="8321040" y="3877056"/>
            <a:ext cx="3118104" cy="219456"/>
          </a:xfrm>
          <a:prstGeom prst="rect">
            <a:avLst/>
          </a:prstGeom>
          <a:noFill/>
          <a:ln/>
        </p:spPr>
        <p:txBody>
          <a:bodyPr wrap="square" lIns="0" tIns="0" rIns="0" bIns="0" rtlCol="0" anchor="ctr"/>
          <a:lstStyle/>
          <a:p>
            <a:pPr indent="0" marL="0">
              <a:buNone/>
            </a:pPr>
            <a:r>
              <a:rPr lang="en-US" sz="850" b="1" spc="100" kern="0" dirty="0">
                <a:solidFill>
                  <a:srgbClr val="8A97A6"/>
                </a:solidFill>
                <a:latin typeface="Calibri" pitchFamily="34" charset="0"/>
                <a:ea typeface="Calibri" pitchFamily="34" charset="-122"/>
                <a:cs typeface="Calibri" pitchFamily="34" charset="-120"/>
              </a:rPr>
              <a:t>A CODE THAT IS 5 BITS LONG</a:t>
            </a:r>
            <a:endParaRPr lang="en-US" sz="850" dirty="0"/>
          </a:p>
        </p:txBody>
      </p:sp>
      <p:sp>
        <p:nvSpPr>
          <p:cNvPr id="22" name="Text 20"/>
          <p:cNvSpPr txBox="1"/>
          <p:nvPr/>
        </p:nvSpPr>
        <p:spPr>
          <a:xfrm>
            <a:off x="8321040" y="4078224"/>
            <a:ext cx="3118104" cy="384048"/>
          </a:xfrm>
          <a:prstGeom prst="rect">
            <a:avLst/>
          </a:prstGeom>
          <a:noFill/>
          <a:ln/>
        </p:spPr>
        <p:txBody>
          <a:bodyPr wrap="square" lIns="0" tIns="0" rIns="0" bIns="0" rtlCol="0" anchor="ctr"/>
          <a:lstStyle/>
          <a:p>
            <a:pPr indent="0" marL="0">
              <a:lnSpc>
                <a:spcPts val="1500"/>
              </a:lnSpc>
              <a:buNone/>
            </a:pPr>
            <a:r>
              <a:rPr lang="en-US" sz="1100" dirty="0">
                <a:solidFill>
                  <a:srgbClr val="FFFFFF"/>
                </a:solidFill>
                <a:latin typeface="Calibri" pitchFamily="34" charset="0"/>
                <a:ea typeface="Calibri" pitchFamily="34" charset="-122"/>
                <a:cs typeface="Calibri" pitchFamily="34" charset="-120"/>
              </a:rPr>
              <a:t>Tests 1…20 at once, selects 5, retires 5 bits on the handshake</a:t>
            </a:r>
            <a:endParaRPr lang="en-US" sz="1100" dirty="0"/>
          </a:p>
        </p:txBody>
      </p:sp>
      <p:sp>
        <p:nvSpPr>
          <p:cNvPr id="23" name="Shape 21"/>
          <p:cNvSpPr/>
          <p:nvPr/>
        </p:nvSpPr>
        <p:spPr>
          <a:xfrm>
            <a:off x="749808" y="4498848"/>
            <a:ext cx="3118104" cy="237744"/>
          </a:xfrm>
          <a:prstGeom prst="roundRect">
            <a:avLst>
              <a:gd name="adj" fmla="val 153846"/>
            </a:avLst>
          </a:prstGeom>
          <a:solidFill>
            <a:srgbClr val="E8833A"/>
          </a:solidFill>
          <a:ln w="12700">
            <a:solidFill>
              <a:srgbClr val="E8833A"/>
            </a:solidFill>
            <a:prstDash val="solid"/>
          </a:ln>
        </p:spPr>
      </p:sp>
      <p:sp>
        <p:nvSpPr>
          <p:cNvPr id="24" name="Text 22"/>
          <p:cNvSpPr txBox="1"/>
          <p:nvPr/>
        </p:nvSpPr>
        <p:spPr>
          <a:xfrm>
            <a:off x="749808" y="4498848"/>
            <a:ext cx="311810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sequential on the CPU</a:t>
            </a:r>
            <a:endParaRPr lang="en-US" sz="950" dirty="0"/>
          </a:p>
        </p:txBody>
      </p:sp>
      <p:sp>
        <p:nvSpPr>
          <p:cNvPr id="25" name="Shape 23"/>
          <p:cNvSpPr/>
          <p:nvPr/>
        </p:nvSpPr>
        <p:spPr>
          <a:xfrm>
            <a:off x="4535424" y="4498848"/>
            <a:ext cx="3118104" cy="237744"/>
          </a:xfrm>
          <a:prstGeom prst="roundRect">
            <a:avLst>
              <a:gd name="adj" fmla="val 153846"/>
            </a:avLst>
          </a:prstGeom>
          <a:solidFill>
            <a:srgbClr val="2D9B8A"/>
          </a:solidFill>
          <a:ln w="12700">
            <a:solidFill>
              <a:srgbClr val="2D9B8A"/>
            </a:solidFill>
            <a:prstDash val="solid"/>
          </a:ln>
        </p:spPr>
      </p:sp>
      <p:sp>
        <p:nvSpPr>
          <p:cNvPr id="26" name="Text 24"/>
          <p:cNvSpPr txBox="1"/>
          <p:nvPr/>
        </p:nvSpPr>
        <p:spPr>
          <a:xfrm>
            <a:off x="4535424" y="4498848"/>
            <a:ext cx="311810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sequential — 2.27× fewer instructions</a:t>
            </a:r>
            <a:endParaRPr lang="en-US" sz="950" dirty="0"/>
          </a:p>
        </p:txBody>
      </p:sp>
      <p:sp>
        <p:nvSpPr>
          <p:cNvPr id="27" name="Shape 25"/>
          <p:cNvSpPr/>
          <p:nvPr/>
        </p:nvSpPr>
        <p:spPr>
          <a:xfrm>
            <a:off x="8321040" y="4498848"/>
            <a:ext cx="3118104" cy="237744"/>
          </a:xfrm>
          <a:prstGeom prst="roundRect">
            <a:avLst>
              <a:gd name="adj" fmla="val 153846"/>
            </a:avLst>
          </a:prstGeom>
          <a:solidFill>
            <a:srgbClr val="2D9B8A"/>
          </a:solidFill>
          <a:ln w="12700">
            <a:solidFill>
              <a:srgbClr val="2D9B8A"/>
            </a:solidFill>
            <a:prstDash val="solid"/>
          </a:ln>
        </p:spPr>
      </p:sp>
      <p:sp>
        <p:nvSpPr>
          <p:cNvPr id="28" name="Text 26"/>
          <p:cNvSpPr txBox="1"/>
          <p:nvPr/>
        </p:nvSpPr>
        <p:spPr>
          <a:xfrm>
            <a:off x="8321040" y="4498848"/>
            <a:ext cx="311810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symbol / cycle  ·  800 MHz target</a:t>
            </a:r>
            <a:endParaRPr lang="en-US" sz="950" dirty="0"/>
          </a:p>
        </p:txBody>
      </p:sp>
      <p:sp>
        <p:nvSpPr>
          <p:cNvPr id="29" name="Shape 27"/>
          <p:cNvSpPr/>
          <p:nvPr/>
        </p:nvSpPr>
        <p:spPr>
          <a:xfrm>
            <a:off x="548640" y="4901184"/>
            <a:ext cx="5394960" cy="987552"/>
          </a:xfrm>
          <a:prstGeom prst="roundRect">
            <a:avLst>
              <a:gd name="adj" fmla="val 5556"/>
            </a:avLst>
          </a:prstGeom>
          <a:solidFill>
            <a:srgbClr val="EAF6F3"/>
          </a:solidFill>
          <a:ln w="9525">
            <a:solidFill>
              <a:srgbClr val="DBE2E8"/>
            </a:solidFill>
            <a:prstDash val="solid"/>
          </a:ln>
        </p:spPr>
      </p:sp>
      <p:sp>
        <p:nvSpPr>
          <p:cNvPr id="30" name="Text 28"/>
          <p:cNvSpPr txBox="1"/>
          <p:nvPr/>
        </p:nvSpPr>
        <p:spPr>
          <a:xfrm>
            <a:off x="777240" y="4992624"/>
            <a:ext cx="4937760" cy="237744"/>
          </a:xfrm>
          <a:prstGeom prst="rect">
            <a:avLst/>
          </a:prstGeom>
          <a:noFill/>
          <a:ln/>
        </p:spPr>
        <p:txBody>
          <a:bodyPr wrap="square" lIns="0" tIns="0" rIns="0" bIns="0" rtlCol="0" anchor="ctr"/>
          <a:lstStyle/>
          <a:p>
            <a:pPr indent="0" marL="0">
              <a:buNone/>
            </a:pPr>
            <a:r>
              <a:rPr lang="en-US" sz="1000" b="1" spc="80" kern="0" dirty="0">
                <a:solidFill>
                  <a:srgbClr val="2D9B8A"/>
                </a:solidFill>
                <a:latin typeface="Calibri" pitchFamily="34" charset="0"/>
                <a:ea typeface="Calibri" pitchFamily="34" charset="-122"/>
                <a:cs typeface="Calibri" pitchFamily="34" charset="-120"/>
              </a:rPr>
              <a:t>MEASURED  ·  inside the course QEMU guest</a:t>
            </a:r>
            <a:endParaRPr lang="en-US" sz="1000" dirty="0"/>
          </a:p>
        </p:txBody>
      </p:sp>
      <p:sp>
        <p:nvSpPr>
          <p:cNvPr id="31" name="Text 29"/>
          <p:cNvSpPr txBox="1"/>
          <p:nvPr/>
        </p:nvSpPr>
        <p:spPr>
          <a:xfrm>
            <a:off x="777240" y="5230368"/>
            <a:ext cx="4937760" cy="548640"/>
          </a:xfrm>
          <a:prstGeom prst="rect">
            <a:avLst/>
          </a:prstGeom>
          <a:noFill/>
          <a:ln/>
        </p:spPr>
        <p:txBody>
          <a:bodyPr wrap="square" lIns="0" tIns="0" rIns="0" bIns="0" rtlCol="0" anchor="ctr"/>
          <a:lstStyle/>
          <a:p>
            <a:pPr indent="0" marL="0">
              <a:lnSpc>
                <a:spcPts val="1600"/>
              </a:lnSpc>
              <a:buNone/>
            </a:pPr>
            <a:r>
              <a:rPr lang="en-US" sz="1150" dirty="0">
                <a:solidFill>
                  <a:srgbClr val="1B2430"/>
                </a:solidFill>
                <a:latin typeface="Calibri" pitchFamily="34" charset="0"/>
                <a:ea typeface="Calibri" pitchFamily="34" charset="-122"/>
                <a:cs typeface="Calibri" pitchFamily="34" charset="-120"/>
              </a:rPr>
              <a:t>1115 ms → 445 ms   ·   2.51× faster   ·   t = 676   ·   output byte-identical (MD5 over 399,360 bytes)</a:t>
            </a:r>
            <a:endParaRPr lang="en-US" sz="1150" dirty="0"/>
          </a:p>
        </p:txBody>
      </p:sp>
      <p:sp>
        <p:nvSpPr>
          <p:cNvPr id="32" name="Shape 30"/>
          <p:cNvSpPr/>
          <p:nvPr/>
        </p:nvSpPr>
        <p:spPr>
          <a:xfrm>
            <a:off x="6245352" y="4901184"/>
            <a:ext cx="5394960" cy="987552"/>
          </a:xfrm>
          <a:prstGeom prst="roundRect">
            <a:avLst>
              <a:gd name="adj" fmla="val 5556"/>
            </a:avLst>
          </a:prstGeom>
          <a:solidFill>
            <a:srgbClr val="FDF3EC"/>
          </a:solidFill>
          <a:ln w="9525">
            <a:solidFill>
              <a:srgbClr val="DBE2E8"/>
            </a:solidFill>
            <a:prstDash val="solid"/>
          </a:ln>
        </p:spPr>
      </p:sp>
      <p:sp>
        <p:nvSpPr>
          <p:cNvPr id="33" name="Text 31"/>
          <p:cNvSpPr txBox="1"/>
          <p:nvPr/>
        </p:nvSpPr>
        <p:spPr>
          <a:xfrm>
            <a:off x="6473952" y="4992624"/>
            <a:ext cx="4937760" cy="237744"/>
          </a:xfrm>
          <a:prstGeom prst="rect">
            <a:avLst/>
          </a:prstGeom>
          <a:noFill/>
          <a:ln/>
        </p:spPr>
        <p:txBody>
          <a:bodyPr wrap="square" lIns="0" tIns="0" rIns="0" bIns="0" rtlCol="0" anchor="ctr"/>
          <a:lstStyle/>
          <a:p>
            <a:pPr indent="0" marL="0">
              <a:buNone/>
            </a:pPr>
            <a:r>
              <a:rPr lang="en-US" sz="1000" b="1" spc="80" kern="0" dirty="0">
                <a:solidFill>
                  <a:srgbClr val="B3543F"/>
                </a:solidFill>
                <a:latin typeface="Calibri" pitchFamily="34" charset="0"/>
                <a:ea typeface="Calibri" pitchFamily="34" charset="-122"/>
                <a:cs typeface="Calibri" pitchFamily="34" charset="-120"/>
              </a:rPr>
              <a:t>ESTIMATED  ·  not an end-to-end measurement</a:t>
            </a:r>
            <a:endParaRPr lang="en-US" sz="1000" dirty="0"/>
          </a:p>
        </p:txBody>
      </p:sp>
      <p:sp>
        <p:nvSpPr>
          <p:cNvPr id="34" name="Text 32"/>
          <p:cNvSpPr txBox="1"/>
          <p:nvPr/>
        </p:nvSpPr>
        <p:spPr>
          <a:xfrm>
            <a:off x="6473952" y="5230368"/>
            <a:ext cx="4937760" cy="594360"/>
          </a:xfrm>
          <a:prstGeom prst="rect">
            <a:avLst/>
          </a:prstGeom>
          <a:noFill/>
          <a:ln/>
        </p:spPr>
        <p:txBody>
          <a:bodyPr wrap="square" lIns="0" tIns="0" rIns="0" bIns="0" rtlCol="0" anchor="ctr"/>
          <a:lstStyle/>
          <a:p>
            <a:pPr indent="0" marL="0">
              <a:lnSpc>
                <a:spcPts val="1400"/>
              </a:lnSpc>
              <a:buNone/>
            </a:pPr>
            <a:r>
              <a:rPr lang="en-US" sz="1000" dirty="0">
                <a:solidFill>
                  <a:srgbClr val="1B2430"/>
                </a:solidFill>
                <a:latin typeface="Calibri" pitchFamily="34" charset="0"/>
                <a:ea typeface="Calibri" pitchFamily="34" charset="-122"/>
                <a:cs typeface="Calibri" pitchFamily="34" charset="-120"/>
              </a:rPr>
              <a:t>~0.7 ms of on-chip time: 148,271 symbols at 1/cycle (~185 µs) plus a 399,360-cycle chase (~499 µs) at 800 MHz. Assumes the block is already in on-chip SRAM; excludes DMA, driver and IOMMU setup.</a:t>
            </a:r>
            <a:endParaRPr lang="en-US" sz="1000" dirty="0"/>
          </a:p>
        </p:txBody>
      </p:sp>
      <p:sp>
        <p:nvSpPr>
          <p:cNvPr id="35" name="Text 33"/>
          <p:cNvSpPr txBox="1"/>
          <p:nvPr/>
        </p:nvSpPr>
        <p:spPr>
          <a:xfrm>
            <a:off x="548640" y="5916168"/>
            <a:ext cx="11091672" cy="365760"/>
          </a:xfrm>
          <a:prstGeom prst="rect">
            <a:avLst/>
          </a:prstGeom>
          <a:noFill/>
          <a:ln/>
        </p:spPr>
        <p:txBody>
          <a:bodyPr wrap="square" lIns="0" tIns="0" rIns="0" bIns="0" rtlCol="0" anchor="ctr"/>
          <a:lstStyle/>
          <a:p>
            <a:pPr indent="0" marL="0">
              <a:buNone/>
            </a:pPr>
            <a:r>
              <a:rPr lang="en-US" sz="1100" i="1" dirty="0">
                <a:solidFill>
                  <a:srgbClr val="6B7785"/>
                </a:solidFill>
                <a:latin typeface="Calibri" pitchFamily="34" charset="0"/>
                <a:ea typeface="Calibri" pitchFamily="34" charset="-122"/>
                <a:cs typeface="Calibri" pitchFamily="34" charset="-120"/>
              </a:rPr>
              <a:t>Prefix-free codes make the shortest match the correct one. A variable-length stream needs valid/ready to control when state advances — the 20 comparisons happen every cycle regardless, so the handshake never serializes them.</a:t>
            </a:r>
            <a:endParaRPr lang="en-US" sz="1100" dirty="0"/>
          </a:p>
        </p:txBody>
      </p:sp>
      <p:sp>
        <p:nvSpPr>
          <p:cNvPr id="36" name="Text 34"/>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Taha</a:t>
            </a:r>
            <a:endParaRPr lang="en-US" sz="1000" dirty="0"/>
          </a:p>
        </p:txBody>
      </p:sp>
      <p:sp>
        <p:nvSpPr>
          <p:cNvPr id="37" name="Text 35"/>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2D9B8A"/>
                </a:solidFill>
                <a:latin typeface="Calibri" pitchFamily="34" charset="0"/>
                <a:ea typeface="Calibri" pitchFamily="34" charset="-122"/>
                <a:cs typeface="Calibri" pitchFamily="34" charset="-120"/>
              </a:rPr>
              <a:t>BENCHMARK 1  ·  RESULT</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2.51× faster — and the counters say why</a:t>
            </a:r>
            <a:endParaRPr lang="en-US" sz="2900" dirty="0"/>
          </a:p>
        </p:txBody>
      </p:sp>
      <p:sp>
        <p:nvSpPr>
          <p:cNvPr id="4" name="Text 2"/>
          <p:cNvSpPr txBox="1"/>
          <p:nvPr/>
        </p:nvSpPr>
        <p:spPr>
          <a:xfrm>
            <a:off x="548640" y="1371600"/>
            <a:ext cx="2377440" cy="658368"/>
          </a:xfrm>
          <a:prstGeom prst="rect">
            <a:avLst/>
          </a:prstGeom>
          <a:noFill/>
          <a:ln/>
        </p:spPr>
        <p:txBody>
          <a:bodyPr wrap="square" lIns="0" tIns="0" rIns="0" bIns="0" rtlCol="0" anchor="ctr"/>
          <a:lstStyle/>
          <a:p>
            <a:pPr algn="ctr" indent="0" marL="0">
              <a:buNone/>
            </a:pPr>
            <a:r>
              <a:rPr lang="en-US" sz="4000" b="1" dirty="0">
                <a:solidFill>
                  <a:srgbClr val="E8833A"/>
                </a:solidFill>
                <a:latin typeface="Cambria" pitchFamily="34" charset="0"/>
                <a:ea typeface="Cambria" pitchFamily="34" charset="-122"/>
                <a:cs typeface="Cambria" pitchFamily="34" charset="-120"/>
              </a:rPr>
              <a:t>1115 ms</a:t>
            </a:r>
            <a:endParaRPr lang="en-US" sz="4000" dirty="0"/>
          </a:p>
        </p:txBody>
      </p:sp>
      <p:sp>
        <p:nvSpPr>
          <p:cNvPr id="5" name="Text 3"/>
          <p:cNvSpPr txBox="1"/>
          <p:nvPr/>
        </p:nvSpPr>
        <p:spPr>
          <a:xfrm>
            <a:off x="548640" y="2029968"/>
            <a:ext cx="2377440" cy="274320"/>
          </a:xfrm>
          <a:prstGeom prst="rect">
            <a:avLst/>
          </a:prstGeom>
          <a:noFill/>
          <a:ln/>
        </p:spPr>
        <p:txBody>
          <a:bodyPr wrap="square" lIns="0" tIns="0" rIns="0" bIns="0" rtlCol="0" anchor="ctr"/>
          <a:lstStyle/>
          <a:p>
            <a:pPr algn="ctr" indent="0" marL="0">
              <a:buNone/>
            </a:pPr>
            <a:r>
              <a:rPr lang="en-US" sz="1100" dirty="0">
                <a:solidFill>
                  <a:srgbClr val="6B7785"/>
                </a:solidFill>
                <a:latin typeface="Calibri" pitchFamily="34" charset="0"/>
                <a:ea typeface="Calibri" pitchFamily="34" charset="-122"/>
                <a:cs typeface="Calibri" pitchFamily="34" charset="-120"/>
              </a:rPr>
              <a:t>baseline</a:t>
            </a:r>
            <a:endParaRPr lang="en-US" sz="1100" dirty="0"/>
          </a:p>
        </p:txBody>
      </p:sp>
      <p:sp>
        <p:nvSpPr>
          <p:cNvPr id="6" name="Shape 4"/>
          <p:cNvSpPr/>
          <p:nvPr/>
        </p:nvSpPr>
        <p:spPr>
          <a:xfrm>
            <a:off x="3063240" y="1691640"/>
            <a:ext cx="502920" cy="0"/>
          </a:xfrm>
          <a:prstGeom prst="line">
            <a:avLst/>
          </a:prstGeom>
          <a:noFill/>
          <a:ln w="22225">
            <a:solidFill>
              <a:srgbClr val="6B7785"/>
            </a:solidFill>
            <a:prstDash val="solid"/>
            <a:tailEnd type="triangle"/>
          </a:ln>
        </p:spPr>
      </p:sp>
      <p:sp>
        <p:nvSpPr>
          <p:cNvPr id="7" name="Text 5"/>
          <p:cNvSpPr txBox="1"/>
          <p:nvPr/>
        </p:nvSpPr>
        <p:spPr>
          <a:xfrm>
            <a:off x="3657600" y="1371600"/>
            <a:ext cx="2377440" cy="658368"/>
          </a:xfrm>
          <a:prstGeom prst="rect">
            <a:avLst/>
          </a:prstGeom>
          <a:noFill/>
          <a:ln/>
        </p:spPr>
        <p:txBody>
          <a:bodyPr wrap="square" lIns="0" tIns="0" rIns="0" bIns="0" rtlCol="0" anchor="ctr"/>
          <a:lstStyle/>
          <a:p>
            <a:pPr algn="ctr" indent="0" marL="0">
              <a:buNone/>
            </a:pPr>
            <a:r>
              <a:rPr lang="en-US" sz="4000" b="1" dirty="0">
                <a:solidFill>
                  <a:srgbClr val="2D9B8A"/>
                </a:solidFill>
                <a:latin typeface="Cambria" pitchFamily="34" charset="0"/>
                <a:ea typeface="Cambria" pitchFamily="34" charset="-122"/>
                <a:cs typeface="Cambria" pitchFamily="34" charset="-120"/>
              </a:rPr>
              <a:t>445 ms</a:t>
            </a:r>
            <a:endParaRPr lang="en-US" sz="4000" dirty="0"/>
          </a:p>
        </p:txBody>
      </p:sp>
      <p:sp>
        <p:nvSpPr>
          <p:cNvPr id="8" name="Text 6"/>
          <p:cNvSpPr txBox="1"/>
          <p:nvPr/>
        </p:nvSpPr>
        <p:spPr>
          <a:xfrm>
            <a:off x="3657600" y="2029968"/>
            <a:ext cx="2377440" cy="274320"/>
          </a:xfrm>
          <a:prstGeom prst="rect">
            <a:avLst/>
          </a:prstGeom>
          <a:noFill/>
          <a:ln/>
        </p:spPr>
        <p:txBody>
          <a:bodyPr wrap="square" lIns="0" tIns="0" rIns="0" bIns="0" rtlCol="0" anchor="ctr"/>
          <a:lstStyle/>
          <a:p>
            <a:pPr algn="ctr" indent="0" marL="0">
              <a:buNone/>
            </a:pPr>
            <a:r>
              <a:rPr lang="en-US" sz="1100" dirty="0">
                <a:solidFill>
                  <a:srgbClr val="6B7785"/>
                </a:solidFill>
                <a:latin typeface="Calibri" pitchFamily="34" charset="0"/>
                <a:ea typeface="Calibri" pitchFamily="34" charset="-122"/>
                <a:cs typeface="Calibri" pitchFamily="34" charset="-120"/>
              </a:rPr>
              <a:t>optimized</a:t>
            </a:r>
            <a:endParaRPr lang="en-US" sz="1100" dirty="0"/>
          </a:p>
        </p:txBody>
      </p:sp>
      <p:sp>
        <p:nvSpPr>
          <p:cNvPr id="9" name="Shape 7"/>
          <p:cNvSpPr/>
          <p:nvPr/>
        </p:nvSpPr>
        <p:spPr>
          <a:xfrm>
            <a:off x="6400800" y="1325880"/>
            <a:ext cx="2377440" cy="960120"/>
          </a:xfrm>
          <a:prstGeom prst="roundRect">
            <a:avLst>
              <a:gd name="adj" fmla="val 5714"/>
            </a:avLst>
          </a:prstGeom>
          <a:solidFill>
            <a:srgbClr val="2D9B8A"/>
          </a:solidFill>
          <a:ln w="12700">
            <a:solidFill>
              <a:srgbClr val="2D9B8A"/>
            </a:solidFill>
            <a:prstDash val="solid"/>
          </a:ln>
        </p:spPr>
      </p:sp>
      <p:sp>
        <p:nvSpPr>
          <p:cNvPr id="10" name="Text 8"/>
          <p:cNvSpPr txBox="1"/>
          <p:nvPr/>
        </p:nvSpPr>
        <p:spPr>
          <a:xfrm>
            <a:off x="6400800" y="1389888"/>
            <a:ext cx="2377440" cy="54864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2.51×</a:t>
            </a:r>
            <a:endParaRPr lang="en-US" sz="3200" dirty="0"/>
          </a:p>
        </p:txBody>
      </p:sp>
      <p:sp>
        <p:nvSpPr>
          <p:cNvPr id="11" name="Text 9"/>
          <p:cNvSpPr txBox="1"/>
          <p:nvPr/>
        </p:nvSpPr>
        <p:spPr>
          <a:xfrm>
            <a:off x="6400800" y="1920240"/>
            <a:ext cx="2377440" cy="274320"/>
          </a:xfrm>
          <a:prstGeom prst="rect">
            <a:avLst/>
          </a:prstGeom>
          <a:noFill/>
          <a:ln/>
        </p:spPr>
        <p:txBody>
          <a:bodyPr wrap="square" lIns="0" tIns="0" rIns="0" bIns="0" rtlCol="0" anchor="ctr"/>
          <a:lstStyle/>
          <a:p>
            <a:pPr algn="ctr" indent="0" marL="0">
              <a:buNone/>
            </a:pPr>
            <a:r>
              <a:rPr lang="en-US" sz="1100" dirty="0">
                <a:solidFill>
                  <a:srgbClr val="D6F0EA"/>
                </a:solidFill>
                <a:latin typeface="Calibri" pitchFamily="34" charset="0"/>
                <a:ea typeface="Calibri" pitchFamily="34" charset="-122"/>
                <a:cs typeface="Calibri" pitchFamily="34" charset="-120"/>
              </a:rPr>
              <a:t>60.1% cut  ·  t = 676</a:t>
            </a:r>
            <a:endParaRPr lang="en-US" sz="1100" dirty="0"/>
          </a:p>
        </p:txBody>
      </p:sp>
      <p:sp>
        <p:nvSpPr>
          <p:cNvPr id="12" name="Text 10"/>
          <p:cNvSpPr txBox="1"/>
          <p:nvPr/>
        </p:nvSpPr>
        <p:spPr>
          <a:xfrm>
            <a:off x="9098280" y="1371600"/>
            <a:ext cx="2560320" cy="914400"/>
          </a:xfrm>
          <a:prstGeom prst="rect">
            <a:avLst/>
          </a:prstGeom>
          <a:noFill/>
          <a:ln/>
        </p:spPr>
        <p:txBody>
          <a:bodyPr wrap="square" lIns="0" tIns="0" rIns="0" bIns="0" rtlCol="0" anchor="ctr"/>
          <a:lstStyle/>
          <a:p>
            <a:pPr indent="0" marL="0">
              <a:lnSpc>
                <a:spcPts val="1700"/>
              </a:lnSpc>
              <a:buNone/>
            </a:pPr>
            <a:r>
              <a:rPr lang="en-US" sz="1200" dirty="0">
                <a:solidFill>
                  <a:srgbClr val="6B7785"/>
                </a:solidFill>
                <a:latin typeface="Calibri" pitchFamily="34" charset="0"/>
                <a:ea typeface="Calibri" pitchFamily="34" charset="-122"/>
                <a:cs typeface="Calibri" pitchFamily="34" charset="-120"/>
              </a:rPr>
              <a:t>pyperf --rigorous</a:t>
            </a:r>
            <a:endParaRPr lang="en-US" sz="1200" dirty="0"/>
          </a:p>
          <a:p>
            <a:pPr indent="0" marL="0">
              <a:lnSpc>
                <a:spcPts val="1700"/>
              </a:lnSpc>
              <a:buNone/>
            </a:pPr>
            <a:r>
              <a:rPr lang="en-US" sz="1200" dirty="0">
                <a:solidFill>
                  <a:srgbClr val="6B7785"/>
                </a:solidFill>
                <a:latin typeface="Calibri" pitchFamily="34" charset="0"/>
                <a:ea typeface="Calibri" pitchFamily="34" charset="-122"/>
                <a:cs typeface="Calibri" pitchFamily="34" charset="-120"/>
              </a:rPr>
              <a:t>inside the QEMU guest</a:t>
            </a:r>
            <a:endParaRPr lang="en-US" sz="1200" dirty="0"/>
          </a:p>
          <a:p>
            <a:pPr indent="0" marL="0">
              <a:lnSpc>
                <a:spcPts val="1700"/>
              </a:lnSpc>
              <a:buNone/>
            </a:pPr>
            <a:r>
              <a:rPr lang="en-US" sz="1200" dirty="0">
                <a:solidFill>
                  <a:srgbClr val="6B7785"/>
                </a:solidFill>
                <a:latin typeface="Calibri" pitchFamily="34" charset="0"/>
                <a:ea typeface="Calibri" pitchFamily="34" charset="-122"/>
                <a:cs typeface="Calibri" pitchFamily="34" charset="-120"/>
              </a:rPr>
              <a:t>pinned with taskset</a:t>
            </a:r>
            <a:endParaRPr lang="en-US" sz="1200" dirty="0"/>
          </a:p>
        </p:txBody>
      </p:sp>
      <p:sp>
        <p:nvSpPr>
          <p:cNvPr id="13" name="Text 11"/>
          <p:cNvSpPr txBox="1"/>
          <p:nvPr/>
        </p:nvSpPr>
        <p:spPr>
          <a:xfrm>
            <a:off x="548640" y="2697480"/>
            <a:ext cx="3017520" cy="274320"/>
          </a:xfrm>
          <a:prstGeom prst="rect">
            <a:avLst/>
          </a:prstGeom>
          <a:noFill/>
          <a:ln/>
        </p:spPr>
        <p:txBody>
          <a:bodyPr wrap="square" lIns="0" tIns="0" rIns="0" bIns="0" rtlCol="0" anchor="ctr"/>
          <a:lstStyle/>
          <a:p>
            <a:pPr indent="0" marL="0">
              <a:buNone/>
            </a:pPr>
            <a:endParaRPr lang="en-US" sz="1100" dirty="0"/>
          </a:p>
        </p:txBody>
      </p:sp>
      <p:sp>
        <p:nvSpPr>
          <p:cNvPr id="14" name="Text 12"/>
          <p:cNvSpPr txBox="1"/>
          <p:nvPr/>
        </p:nvSpPr>
        <p:spPr>
          <a:xfrm>
            <a:off x="3566160" y="2697480"/>
            <a:ext cx="2286000" cy="274320"/>
          </a:xfrm>
          <a:prstGeom prst="rect">
            <a:avLst/>
          </a:prstGeom>
          <a:noFill/>
          <a:ln/>
        </p:spPr>
        <p:txBody>
          <a:bodyPr wrap="square" lIns="0" tIns="0" rIns="0" bIns="0" rtlCol="0" anchor="ctr"/>
          <a:lstStyle/>
          <a:p>
            <a:pPr indent="0" marL="0">
              <a:buNone/>
            </a:pPr>
            <a:r>
              <a:rPr lang="en-US" sz="1100" b="1" dirty="0">
                <a:solidFill>
                  <a:srgbClr val="6B7785"/>
                </a:solidFill>
                <a:latin typeface="Calibri" pitchFamily="34" charset="0"/>
                <a:ea typeface="Calibri" pitchFamily="34" charset="-122"/>
                <a:cs typeface="Calibri" pitchFamily="34" charset="-120"/>
              </a:rPr>
              <a:t>baseline</a:t>
            </a:r>
            <a:endParaRPr lang="en-US" sz="1100" dirty="0"/>
          </a:p>
        </p:txBody>
      </p:sp>
      <p:sp>
        <p:nvSpPr>
          <p:cNvPr id="15" name="Text 13"/>
          <p:cNvSpPr txBox="1"/>
          <p:nvPr/>
        </p:nvSpPr>
        <p:spPr>
          <a:xfrm>
            <a:off x="5852160" y="2697480"/>
            <a:ext cx="2286000" cy="274320"/>
          </a:xfrm>
          <a:prstGeom prst="rect">
            <a:avLst/>
          </a:prstGeom>
          <a:noFill/>
          <a:ln/>
        </p:spPr>
        <p:txBody>
          <a:bodyPr wrap="square" lIns="0" tIns="0" rIns="0" bIns="0" rtlCol="0" anchor="ctr"/>
          <a:lstStyle/>
          <a:p>
            <a:pPr indent="0" marL="0">
              <a:buNone/>
            </a:pPr>
            <a:r>
              <a:rPr lang="en-US" sz="1100" b="1" dirty="0">
                <a:solidFill>
                  <a:srgbClr val="6B7785"/>
                </a:solidFill>
                <a:latin typeface="Calibri" pitchFamily="34" charset="0"/>
                <a:ea typeface="Calibri" pitchFamily="34" charset="-122"/>
                <a:cs typeface="Calibri" pitchFamily="34" charset="-120"/>
              </a:rPr>
              <a:t>optimized</a:t>
            </a:r>
            <a:endParaRPr lang="en-US" sz="1100" dirty="0"/>
          </a:p>
        </p:txBody>
      </p:sp>
      <p:sp>
        <p:nvSpPr>
          <p:cNvPr id="16" name="Text 14"/>
          <p:cNvSpPr txBox="1"/>
          <p:nvPr/>
        </p:nvSpPr>
        <p:spPr>
          <a:xfrm>
            <a:off x="8138160" y="2697480"/>
            <a:ext cx="2377440" cy="274320"/>
          </a:xfrm>
          <a:prstGeom prst="rect">
            <a:avLst/>
          </a:prstGeom>
          <a:noFill/>
          <a:ln/>
        </p:spPr>
        <p:txBody>
          <a:bodyPr wrap="square" lIns="0" tIns="0" rIns="0" bIns="0" rtlCol="0" anchor="ctr"/>
          <a:lstStyle/>
          <a:p>
            <a:pPr indent="0" marL="0">
              <a:buNone/>
            </a:pPr>
            <a:r>
              <a:rPr lang="en-US" sz="1100" b="1" dirty="0">
                <a:solidFill>
                  <a:srgbClr val="6B7785"/>
                </a:solidFill>
                <a:latin typeface="Calibri" pitchFamily="34" charset="0"/>
                <a:ea typeface="Calibri" pitchFamily="34" charset="-122"/>
                <a:cs typeface="Calibri" pitchFamily="34" charset="-120"/>
              </a:rPr>
              <a:t>ratio</a:t>
            </a:r>
            <a:endParaRPr lang="en-US" sz="1100" dirty="0"/>
          </a:p>
        </p:txBody>
      </p:sp>
      <p:sp>
        <p:nvSpPr>
          <p:cNvPr id="17" name="Text 15"/>
          <p:cNvSpPr txBox="1"/>
          <p:nvPr/>
        </p:nvSpPr>
        <p:spPr>
          <a:xfrm>
            <a:off x="548640" y="3017520"/>
            <a:ext cx="3017520" cy="310896"/>
          </a:xfrm>
          <a:prstGeom prst="rect">
            <a:avLst/>
          </a:prstGeom>
          <a:noFill/>
          <a:ln/>
        </p:spPr>
        <p:txBody>
          <a:bodyPr wrap="square" lIns="0" tIns="0" rIns="0" bIns="0" rtlCol="0" anchor="ctr"/>
          <a:lstStyle/>
          <a:p>
            <a:pPr indent="0" marL="0">
              <a:buNone/>
            </a:pPr>
            <a:r>
              <a:rPr lang="en-US" sz="1200" dirty="0">
                <a:solidFill>
                  <a:srgbClr val="1B2430"/>
                </a:solidFill>
                <a:latin typeface="Courier New" pitchFamily="34" charset="0"/>
                <a:ea typeface="Courier New" pitchFamily="34" charset="-122"/>
                <a:cs typeface="Courier New" pitchFamily="34" charset="-120"/>
              </a:rPr>
              <a:t>cycles</a:t>
            </a:r>
            <a:endParaRPr lang="en-US" sz="1200" dirty="0"/>
          </a:p>
        </p:txBody>
      </p:sp>
      <p:sp>
        <p:nvSpPr>
          <p:cNvPr id="18" name="Text 16"/>
          <p:cNvSpPr txBox="1"/>
          <p:nvPr/>
        </p:nvSpPr>
        <p:spPr>
          <a:xfrm>
            <a:off x="3566160" y="3017520"/>
            <a:ext cx="2286000" cy="310896"/>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8.30 G</a:t>
            </a:r>
            <a:endParaRPr lang="en-US" sz="1200" dirty="0"/>
          </a:p>
        </p:txBody>
      </p:sp>
      <p:sp>
        <p:nvSpPr>
          <p:cNvPr id="19" name="Text 17"/>
          <p:cNvSpPr txBox="1"/>
          <p:nvPr/>
        </p:nvSpPr>
        <p:spPr>
          <a:xfrm>
            <a:off x="5852160" y="3017520"/>
            <a:ext cx="2286000" cy="310896"/>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3.30 G</a:t>
            </a:r>
            <a:endParaRPr lang="en-US" sz="1200" dirty="0"/>
          </a:p>
        </p:txBody>
      </p:sp>
      <p:sp>
        <p:nvSpPr>
          <p:cNvPr id="20" name="Text 18"/>
          <p:cNvSpPr txBox="1"/>
          <p:nvPr/>
        </p:nvSpPr>
        <p:spPr>
          <a:xfrm>
            <a:off x="8138160" y="3017520"/>
            <a:ext cx="2377440" cy="310896"/>
          </a:xfrm>
          <a:prstGeom prst="rect">
            <a:avLst/>
          </a:prstGeom>
          <a:noFill/>
          <a:ln/>
        </p:spPr>
        <p:txBody>
          <a:bodyPr wrap="square" lIns="0" tIns="0" rIns="0" bIns="0" rtlCol="0" anchor="ctr"/>
          <a:lstStyle/>
          <a:p>
            <a:pPr indent="0" marL="0">
              <a:buNone/>
            </a:pPr>
            <a:r>
              <a:rPr lang="en-US" sz="1200" dirty="0">
                <a:solidFill>
                  <a:srgbClr val="2D9B8A"/>
                </a:solidFill>
                <a:latin typeface="Calibri" pitchFamily="34" charset="0"/>
                <a:ea typeface="Calibri" pitchFamily="34" charset="-122"/>
                <a:cs typeface="Calibri" pitchFamily="34" charset="-120"/>
              </a:rPr>
              <a:t>2.51× fewer</a:t>
            </a:r>
            <a:endParaRPr lang="en-US" sz="1200" dirty="0"/>
          </a:p>
        </p:txBody>
      </p:sp>
      <p:sp>
        <p:nvSpPr>
          <p:cNvPr id="21" name="Text 19"/>
          <p:cNvSpPr txBox="1"/>
          <p:nvPr/>
        </p:nvSpPr>
        <p:spPr>
          <a:xfrm>
            <a:off x="548640" y="3401568"/>
            <a:ext cx="3017520" cy="310896"/>
          </a:xfrm>
          <a:prstGeom prst="rect">
            <a:avLst/>
          </a:prstGeom>
          <a:noFill/>
          <a:ln/>
        </p:spPr>
        <p:txBody>
          <a:bodyPr wrap="square" lIns="0" tIns="0" rIns="0" bIns="0" rtlCol="0" anchor="ctr"/>
          <a:lstStyle/>
          <a:p>
            <a:pPr indent="0" marL="0">
              <a:buNone/>
            </a:pPr>
            <a:r>
              <a:rPr lang="en-US" sz="1200" dirty="0">
                <a:solidFill>
                  <a:srgbClr val="1B2430"/>
                </a:solidFill>
                <a:latin typeface="Courier New" pitchFamily="34" charset="0"/>
                <a:ea typeface="Courier New" pitchFamily="34" charset="-122"/>
                <a:cs typeface="Courier New" pitchFamily="34" charset="-120"/>
              </a:rPr>
              <a:t>instructions</a:t>
            </a:r>
            <a:endParaRPr lang="en-US" sz="1200" dirty="0"/>
          </a:p>
        </p:txBody>
      </p:sp>
      <p:sp>
        <p:nvSpPr>
          <p:cNvPr id="22" name="Text 20"/>
          <p:cNvSpPr txBox="1"/>
          <p:nvPr/>
        </p:nvSpPr>
        <p:spPr>
          <a:xfrm>
            <a:off x="3566160" y="3401568"/>
            <a:ext cx="2286000" cy="310896"/>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21.56 G</a:t>
            </a:r>
            <a:endParaRPr lang="en-US" sz="1200" dirty="0"/>
          </a:p>
        </p:txBody>
      </p:sp>
      <p:sp>
        <p:nvSpPr>
          <p:cNvPr id="23" name="Text 21"/>
          <p:cNvSpPr txBox="1"/>
          <p:nvPr/>
        </p:nvSpPr>
        <p:spPr>
          <a:xfrm>
            <a:off x="5852160" y="3401568"/>
            <a:ext cx="2286000" cy="310896"/>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9.49 G</a:t>
            </a:r>
            <a:endParaRPr lang="en-US" sz="1200" dirty="0"/>
          </a:p>
        </p:txBody>
      </p:sp>
      <p:sp>
        <p:nvSpPr>
          <p:cNvPr id="24" name="Text 22"/>
          <p:cNvSpPr txBox="1"/>
          <p:nvPr/>
        </p:nvSpPr>
        <p:spPr>
          <a:xfrm>
            <a:off x="8138160" y="3401568"/>
            <a:ext cx="2377440" cy="310896"/>
          </a:xfrm>
          <a:prstGeom prst="rect">
            <a:avLst/>
          </a:prstGeom>
          <a:noFill/>
          <a:ln/>
        </p:spPr>
        <p:txBody>
          <a:bodyPr wrap="square" lIns="0" tIns="0" rIns="0" bIns="0" rtlCol="0" anchor="ctr"/>
          <a:lstStyle/>
          <a:p>
            <a:pPr indent="0" marL="0">
              <a:buNone/>
            </a:pPr>
            <a:r>
              <a:rPr lang="en-US" sz="1200" dirty="0">
                <a:solidFill>
                  <a:srgbClr val="2D9B8A"/>
                </a:solidFill>
                <a:latin typeface="Calibri" pitchFamily="34" charset="0"/>
                <a:ea typeface="Calibri" pitchFamily="34" charset="-122"/>
                <a:cs typeface="Calibri" pitchFamily="34" charset="-120"/>
              </a:rPr>
              <a:t>2.27× fewer</a:t>
            </a:r>
            <a:endParaRPr lang="en-US" sz="1200" dirty="0"/>
          </a:p>
        </p:txBody>
      </p:sp>
      <p:sp>
        <p:nvSpPr>
          <p:cNvPr id="25" name="Shape 23"/>
          <p:cNvSpPr/>
          <p:nvPr/>
        </p:nvSpPr>
        <p:spPr>
          <a:xfrm>
            <a:off x="457200" y="3749040"/>
            <a:ext cx="10149840" cy="365760"/>
          </a:xfrm>
          <a:prstGeom prst="rect">
            <a:avLst/>
          </a:prstGeom>
          <a:solidFill>
            <a:srgbClr val="FDF3EC"/>
          </a:solidFill>
          <a:ln w="12700">
            <a:solidFill>
              <a:srgbClr val="FDF3EC"/>
            </a:solidFill>
            <a:prstDash val="solid"/>
          </a:ln>
        </p:spPr>
      </p:sp>
      <p:sp>
        <p:nvSpPr>
          <p:cNvPr id="26" name="Text 24"/>
          <p:cNvSpPr txBox="1"/>
          <p:nvPr/>
        </p:nvSpPr>
        <p:spPr>
          <a:xfrm>
            <a:off x="548640" y="3785616"/>
            <a:ext cx="3017520" cy="310896"/>
          </a:xfrm>
          <a:prstGeom prst="rect">
            <a:avLst/>
          </a:prstGeom>
          <a:noFill/>
          <a:ln/>
        </p:spPr>
        <p:txBody>
          <a:bodyPr wrap="square" lIns="0" tIns="0" rIns="0" bIns="0" rtlCol="0" anchor="ctr"/>
          <a:lstStyle/>
          <a:p>
            <a:pPr indent="0" marL="0">
              <a:buNone/>
            </a:pPr>
            <a:r>
              <a:rPr lang="en-US" sz="1200" b="1" dirty="0">
                <a:solidFill>
                  <a:srgbClr val="1B2430"/>
                </a:solidFill>
                <a:latin typeface="Courier New" pitchFamily="34" charset="0"/>
                <a:ea typeface="Courier New" pitchFamily="34" charset="-122"/>
                <a:cs typeface="Courier New" pitchFamily="34" charset="-120"/>
              </a:rPr>
              <a:t>IPC</a:t>
            </a:r>
            <a:endParaRPr lang="en-US" sz="1200" dirty="0"/>
          </a:p>
        </p:txBody>
      </p:sp>
      <p:sp>
        <p:nvSpPr>
          <p:cNvPr id="27" name="Text 25"/>
          <p:cNvSpPr txBox="1"/>
          <p:nvPr/>
        </p:nvSpPr>
        <p:spPr>
          <a:xfrm>
            <a:off x="3566160" y="3785616"/>
            <a:ext cx="2286000" cy="310896"/>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2.60</a:t>
            </a:r>
            <a:endParaRPr lang="en-US" sz="1200" dirty="0"/>
          </a:p>
        </p:txBody>
      </p:sp>
      <p:sp>
        <p:nvSpPr>
          <p:cNvPr id="28" name="Text 26"/>
          <p:cNvSpPr txBox="1"/>
          <p:nvPr/>
        </p:nvSpPr>
        <p:spPr>
          <a:xfrm>
            <a:off x="5852160" y="3785616"/>
            <a:ext cx="2286000" cy="310896"/>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2.87</a:t>
            </a:r>
            <a:endParaRPr lang="en-US" sz="1200" dirty="0"/>
          </a:p>
        </p:txBody>
      </p:sp>
      <p:sp>
        <p:nvSpPr>
          <p:cNvPr id="29" name="Text 27"/>
          <p:cNvSpPr txBox="1"/>
          <p:nvPr/>
        </p:nvSpPr>
        <p:spPr>
          <a:xfrm>
            <a:off x="8138160" y="3785616"/>
            <a:ext cx="2377440" cy="310896"/>
          </a:xfrm>
          <a:prstGeom prst="rect">
            <a:avLst/>
          </a:prstGeom>
          <a:noFill/>
          <a:ln/>
        </p:spPr>
        <p:txBody>
          <a:bodyPr wrap="square" lIns="0" tIns="0" rIns="0" bIns="0" rtlCol="0" anchor="ctr"/>
          <a:lstStyle/>
          <a:p>
            <a:pPr indent="0" marL="0">
              <a:buNone/>
            </a:pPr>
            <a:r>
              <a:rPr lang="en-US" sz="1200" b="1" dirty="0">
                <a:solidFill>
                  <a:srgbClr val="2D9B8A"/>
                </a:solidFill>
                <a:latin typeface="Calibri" pitchFamily="34" charset="0"/>
                <a:ea typeface="Calibri" pitchFamily="34" charset="-122"/>
                <a:cs typeface="Calibri" pitchFamily="34" charset="-120"/>
              </a:rPr>
              <a:t>+10% only</a:t>
            </a:r>
            <a:endParaRPr lang="en-US" sz="1200" dirty="0"/>
          </a:p>
        </p:txBody>
      </p:sp>
      <p:sp>
        <p:nvSpPr>
          <p:cNvPr id="30" name="Text 28"/>
          <p:cNvSpPr txBox="1"/>
          <p:nvPr/>
        </p:nvSpPr>
        <p:spPr>
          <a:xfrm>
            <a:off x="548640" y="4169664"/>
            <a:ext cx="3017520" cy="310896"/>
          </a:xfrm>
          <a:prstGeom prst="rect">
            <a:avLst/>
          </a:prstGeom>
          <a:noFill/>
          <a:ln/>
        </p:spPr>
        <p:txBody>
          <a:bodyPr wrap="square" lIns="0" tIns="0" rIns="0" bIns="0" rtlCol="0" anchor="ctr"/>
          <a:lstStyle/>
          <a:p>
            <a:pPr indent="0" marL="0">
              <a:buNone/>
            </a:pPr>
            <a:r>
              <a:rPr lang="en-US" sz="1200" dirty="0">
                <a:solidFill>
                  <a:srgbClr val="1B2430"/>
                </a:solidFill>
                <a:latin typeface="Courier New" pitchFamily="34" charset="0"/>
                <a:ea typeface="Courier New" pitchFamily="34" charset="-122"/>
                <a:cs typeface="Courier New" pitchFamily="34" charset="-120"/>
              </a:rPr>
              <a:t>cache-misses</a:t>
            </a:r>
            <a:endParaRPr lang="en-US" sz="1200" dirty="0"/>
          </a:p>
        </p:txBody>
      </p:sp>
      <p:sp>
        <p:nvSpPr>
          <p:cNvPr id="31" name="Text 29"/>
          <p:cNvSpPr txBox="1"/>
          <p:nvPr/>
        </p:nvSpPr>
        <p:spPr>
          <a:xfrm>
            <a:off x="3566160" y="4169664"/>
            <a:ext cx="2286000" cy="310896"/>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2.78 M</a:t>
            </a:r>
            <a:endParaRPr lang="en-US" sz="1200" dirty="0"/>
          </a:p>
        </p:txBody>
      </p:sp>
      <p:sp>
        <p:nvSpPr>
          <p:cNvPr id="32" name="Text 30"/>
          <p:cNvSpPr txBox="1"/>
          <p:nvPr/>
        </p:nvSpPr>
        <p:spPr>
          <a:xfrm>
            <a:off x="5852160" y="4169664"/>
            <a:ext cx="2286000" cy="310896"/>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526 K</a:t>
            </a:r>
            <a:endParaRPr lang="en-US" sz="1200" dirty="0"/>
          </a:p>
        </p:txBody>
      </p:sp>
      <p:sp>
        <p:nvSpPr>
          <p:cNvPr id="33" name="Text 31"/>
          <p:cNvSpPr txBox="1"/>
          <p:nvPr/>
        </p:nvSpPr>
        <p:spPr>
          <a:xfrm>
            <a:off x="8138160" y="4169664"/>
            <a:ext cx="2377440" cy="310896"/>
          </a:xfrm>
          <a:prstGeom prst="rect">
            <a:avLst/>
          </a:prstGeom>
          <a:noFill/>
          <a:ln/>
        </p:spPr>
        <p:txBody>
          <a:bodyPr wrap="square" lIns="0" tIns="0" rIns="0" bIns="0" rtlCol="0" anchor="ctr"/>
          <a:lstStyle/>
          <a:p>
            <a:pPr indent="0" marL="0">
              <a:buNone/>
            </a:pPr>
            <a:r>
              <a:rPr lang="en-US" sz="1200" dirty="0">
                <a:solidFill>
                  <a:srgbClr val="2D9B8A"/>
                </a:solidFill>
                <a:latin typeface="Calibri" pitchFamily="34" charset="0"/>
                <a:ea typeface="Calibri" pitchFamily="34" charset="-122"/>
                <a:cs typeface="Calibri" pitchFamily="34" charset="-120"/>
              </a:rPr>
              <a:t>5.3× fewer</a:t>
            </a:r>
            <a:endParaRPr lang="en-US" sz="1200" dirty="0"/>
          </a:p>
        </p:txBody>
      </p:sp>
      <p:sp>
        <p:nvSpPr>
          <p:cNvPr id="34" name="Shape 32"/>
          <p:cNvSpPr/>
          <p:nvPr/>
        </p:nvSpPr>
        <p:spPr>
          <a:xfrm>
            <a:off x="548640" y="4800600"/>
            <a:ext cx="11091672" cy="1188720"/>
          </a:xfrm>
          <a:prstGeom prst="roundRect">
            <a:avLst>
              <a:gd name="adj" fmla="val 4615"/>
            </a:avLst>
          </a:prstGeom>
          <a:solidFill>
            <a:srgbClr val="1B2430"/>
          </a:solidFill>
          <a:ln w="12700">
            <a:solidFill>
              <a:srgbClr val="1B2430"/>
            </a:solidFill>
            <a:prstDash val="solid"/>
          </a:ln>
        </p:spPr>
      </p:sp>
      <p:sp>
        <p:nvSpPr>
          <p:cNvPr id="35" name="Text 33"/>
          <p:cNvSpPr txBox="1"/>
          <p:nvPr/>
        </p:nvSpPr>
        <p:spPr>
          <a:xfrm>
            <a:off x="822960" y="4937760"/>
            <a:ext cx="10543032" cy="292608"/>
          </a:xfrm>
          <a:prstGeom prst="rect">
            <a:avLst/>
          </a:prstGeom>
          <a:noFill/>
          <a:ln/>
        </p:spPr>
        <p:txBody>
          <a:bodyPr wrap="square" lIns="0" tIns="0" rIns="0" bIns="0" rtlCol="0" anchor="ctr"/>
          <a:lstStyle/>
          <a:p>
            <a:pPr indent="0" marL="0">
              <a:buNone/>
            </a:pPr>
            <a:r>
              <a:rPr lang="en-US" sz="1500" b="1" dirty="0">
                <a:solidFill>
                  <a:srgbClr val="E8833A"/>
                </a:solidFill>
                <a:latin typeface="Calibri" pitchFamily="34" charset="0"/>
                <a:ea typeface="Calibri" pitchFamily="34" charset="-122"/>
                <a:cs typeface="Calibri" pitchFamily="34" charset="-120"/>
              </a:rPr>
              <a:t>IPC barely moved. The machine did not get smarter — it was asked to do less.</a:t>
            </a:r>
            <a:endParaRPr lang="en-US" sz="1500" dirty="0"/>
          </a:p>
        </p:txBody>
      </p:sp>
      <p:sp>
        <p:nvSpPr>
          <p:cNvPr id="36" name="Text 34"/>
          <p:cNvSpPr txBox="1"/>
          <p:nvPr/>
        </p:nvSpPr>
        <p:spPr>
          <a:xfrm>
            <a:off x="822960" y="5257800"/>
            <a:ext cx="10543032" cy="640080"/>
          </a:xfrm>
          <a:prstGeom prst="rect">
            <a:avLst/>
          </a:prstGeom>
          <a:noFill/>
          <a:ln/>
        </p:spPr>
        <p:txBody>
          <a:bodyPr wrap="square" lIns="0" tIns="0" rIns="0" bIns="0" rtlCol="0" anchor="ctr"/>
          <a:lstStyle/>
          <a:p>
            <a:pPr indent="0" marL="0">
              <a:lnSpc>
                <a:spcPts val="1700"/>
              </a:lnSpc>
              <a:buNone/>
            </a:pPr>
            <a:r>
              <a:rPr lang="en-US" sz="1250" dirty="0">
                <a:solidFill>
                  <a:srgbClr val="E8EDF2"/>
                </a:solidFill>
                <a:latin typeface="Calibri" pitchFamily="34" charset="0"/>
                <a:ea typeface="Calibri" pitchFamily="34" charset="-122"/>
                <a:cs typeface="Calibri" pitchFamily="34" charset="-120"/>
              </a:rPr>
              <a:t>Cycles fell 2.51x and runtime fell 2.51x — the counters and the stopwatch agree. Instructions fell 2.27x while IPC gained only 10%, so the speedup is 2.27 × 1.10 = 2.50: overwhelmingly execute-fewer-instructions. The win came from deleting interpreter work, not microarchitectural cleverness.</a:t>
            </a:r>
            <a:endParaRPr lang="en-US" sz="1250" dirty="0"/>
          </a:p>
        </p:txBody>
      </p:sp>
      <p:sp>
        <p:nvSpPr>
          <p:cNvPr id="37" name="Text 35"/>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Taha</a:t>
            </a:r>
            <a:endParaRPr lang="en-US" sz="1000" dirty="0"/>
          </a:p>
        </p:txBody>
      </p:sp>
      <p:sp>
        <p:nvSpPr>
          <p:cNvPr id="38" name="Text 36"/>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E8833A"/>
                </a:solidFill>
                <a:latin typeface="Calibri" pitchFamily="34" charset="0"/>
                <a:ea typeface="Calibri" pitchFamily="34" charset="-122"/>
                <a:cs typeface="Calibri" pitchFamily="34" charset="-120"/>
              </a:rPr>
              <a:t>BENCHMARK 2  ·  RAYTRACE</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A recursive ray tracer, 100×100, eight objects</a:t>
            </a:r>
            <a:endParaRPr lang="en-US" sz="2900" dirty="0"/>
          </a:p>
        </p:txBody>
      </p:sp>
      <p:sp>
        <p:nvSpPr>
          <p:cNvPr id="4" name="Text 2"/>
          <p:cNvSpPr txBox="1"/>
          <p:nvPr/>
        </p:nvSpPr>
        <p:spPr>
          <a:xfrm>
            <a:off x="548640" y="1371600"/>
            <a:ext cx="6675120" cy="502920"/>
          </a:xfrm>
          <a:prstGeom prst="rect">
            <a:avLst/>
          </a:prstGeom>
          <a:noFill/>
          <a:ln/>
        </p:spPr>
        <p:txBody>
          <a:bodyPr wrap="square" lIns="0" tIns="0" rIns="0" bIns="0" rtlCol="0" anchor="ctr"/>
          <a:lstStyle/>
          <a:p>
            <a:pPr indent="0" marL="0">
              <a:lnSpc>
                <a:spcPts val="1900"/>
              </a:lnSpc>
              <a:buNone/>
            </a:pPr>
            <a:r>
              <a:rPr lang="en-US" sz="1400" dirty="0">
                <a:solidFill>
                  <a:srgbClr val="1B2430"/>
                </a:solidFill>
                <a:latin typeface="Calibri" pitchFamily="34" charset="0"/>
                <a:ea typeface="Calibri" pitchFamily="34" charset="-122"/>
                <a:cs typeface="Calibri" pitchFamily="34" charset="-120"/>
              </a:rPr>
              <a:t>One large sphere, six small spheres, a checkerboard plane, two point lights. Lambert diffuse plus a specular reflection, recursing to depth 3.</a:t>
            </a:r>
            <a:endParaRPr lang="en-US" sz="1400" dirty="0"/>
          </a:p>
        </p:txBody>
      </p:sp>
      <p:sp>
        <p:nvSpPr>
          <p:cNvPr id="5" name="Shape 3"/>
          <p:cNvSpPr/>
          <p:nvPr/>
        </p:nvSpPr>
        <p:spPr>
          <a:xfrm>
            <a:off x="548640" y="2011680"/>
            <a:ext cx="6675120" cy="2377440"/>
          </a:xfrm>
          <a:prstGeom prst="roundRect">
            <a:avLst>
              <a:gd name="adj" fmla="val 1923"/>
            </a:avLst>
          </a:prstGeom>
          <a:solidFill>
            <a:srgbClr val="1B2430"/>
          </a:solidFill>
          <a:ln w="12700">
            <a:solidFill>
              <a:srgbClr val="1B2430"/>
            </a:solidFill>
            <a:prstDash val="solid"/>
          </a:ln>
        </p:spPr>
      </p:sp>
      <p:sp>
        <p:nvSpPr>
          <p:cNvPr id="6" name="Text 4"/>
          <p:cNvSpPr txBox="1"/>
          <p:nvPr/>
        </p:nvSpPr>
        <p:spPr>
          <a:xfrm>
            <a:off x="822960" y="2148840"/>
            <a:ext cx="2743200" cy="256032"/>
          </a:xfrm>
          <a:prstGeom prst="rect">
            <a:avLst/>
          </a:prstGeom>
          <a:noFill/>
          <a:ln/>
        </p:spPr>
        <p:txBody>
          <a:bodyPr wrap="square" lIns="0" tIns="0" rIns="0" bIns="0" rtlCol="0" anchor="ctr"/>
          <a:lstStyle/>
          <a:p>
            <a:pPr indent="0" marL="0">
              <a:buNone/>
            </a:pPr>
            <a:r>
              <a:rPr lang="en-US" sz="1200" dirty="0">
                <a:solidFill>
                  <a:srgbClr val="8A97A6"/>
                </a:solidFill>
                <a:latin typeface="Courier New" pitchFamily="34" charset="0"/>
                <a:ea typeface="Courier New" pitchFamily="34" charset="-122"/>
                <a:cs typeface="Courier New" pitchFamily="34" charset="-120"/>
              </a:rPr>
              <a:t>per pixel:</a:t>
            </a:r>
            <a:endParaRPr lang="en-US" sz="1200" dirty="0"/>
          </a:p>
        </p:txBody>
      </p:sp>
      <p:sp>
        <p:nvSpPr>
          <p:cNvPr id="7" name="Text 5"/>
          <p:cNvSpPr txBox="1"/>
          <p:nvPr/>
        </p:nvSpPr>
        <p:spPr>
          <a:xfrm>
            <a:off x="822960" y="2450592"/>
            <a:ext cx="6126480" cy="1737360"/>
          </a:xfrm>
          <a:prstGeom prst="rect">
            <a:avLst/>
          </a:prstGeom>
          <a:noFill/>
          <a:ln/>
        </p:spPr>
        <p:txBody>
          <a:bodyPr wrap="square" lIns="0" tIns="0" rIns="0" bIns="0" rtlCol="0" anchor="ctr"/>
          <a:lstStyle/>
          <a:p>
            <a:pPr indent="0" marL="0">
              <a:lnSpc>
                <a:spcPts val="2000"/>
              </a:lnSpc>
              <a:buNone/>
            </a:pPr>
            <a:r>
              <a:rPr lang="en-US" sz="1200" dirty="0">
                <a:solidFill>
                  <a:srgbClr val="8FE3D2"/>
                </a:solidFill>
                <a:latin typeface="Courier New" pitchFamily="34" charset="0"/>
                <a:ea typeface="Courier New" pitchFamily="34" charset="-122"/>
                <a:cs typeface="Courier New" pitchFamily="34" charset="-120"/>
              </a:rPr>
              <a:t>build primary ray          → normalized()  [sqrt]</a:t>
            </a:r>
            <a:endParaRPr lang="en-US" sz="1200" dirty="0"/>
          </a:p>
          <a:p>
            <a:pPr indent="0" marL="0">
              <a:lnSpc>
                <a:spcPts val="2000"/>
              </a:lnSpc>
              <a:buNone/>
            </a:pPr>
            <a:r>
              <a:rPr lang="en-US" sz="1200" dirty="0">
                <a:solidFill>
                  <a:srgbClr val="8FE3D2"/>
                </a:solidFill>
                <a:latin typeface="Courier New" pitchFamily="34" charset="0"/>
                <a:ea typeface="Courier New" pitchFamily="34" charset="-122"/>
                <a:cs typeface="Courier New" pitchFamily="34" charset="-120"/>
              </a:rPr>
              <a:t>test against all 8 objects → nearest hit</a:t>
            </a:r>
            <a:endParaRPr lang="en-US" sz="1200" dirty="0"/>
          </a:p>
          <a:p>
            <a:pPr indent="0" marL="0">
              <a:lnSpc>
                <a:spcPts val="2000"/>
              </a:lnSpc>
              <a:buNone/>
            </a:pPr>
            <a:r>
              <a:rPr lang="en-US" sz="1200" dirty="0">
                <a:solidFill>
                  <a:srgbClr val="8FE3D2"/>
                </a:solidFill>
                <a:latin typeface="Courier New" pitchFamily="34" charset="0"/>
                <a:ea typeface="Courier New" pitchFamily="34" charset="-122"/>
                <a:cs typeface="Courier New" pitchFamily="34" charset="-120"/>
              </a:rPr>
              <a:t>shade it:</a:t>
            </a:r>
            <a:endParaRPr lang="en-US" sz="1200" dirty="0"/>
          </a:p>
          <a:p>
            <a:pPr indent="0" marL="0">
              <a:lnSpc>
                <a:spcPts val="2000"/>
              </a:lnSpc>
              <a:buNone/>
            </a:pPr>
            <a:r>
              <a:rPr lang="en-US" sz="1200" dirty="0">
                <a:solidFill>
                  <a:srgbClr val="8FE3D2"/>
                </a:solidFill>
                <a:latin typeface="Courier New" pitchFamily="34" charset="0"/>
                <a:ea typeface="Courier New" pitchFamily="34" charset="-122"/>
                <a:cs typeface="Courier New" pitchFamily="34" charset="-120"/>
              </a:rPr>
              <a:t>    1 reflection ray       → recurse</a:t>
            </a:r>
            <a:endParaRPr lang="en-US" sz="1200" dirty="0"/>
          </a:p>
          <a:p>
            <a:pPr indent="0" marL="0">
              <a:lnSpc>
                <a:spcPts val="2000"/>
              </a:lnSpc>
              <a:buNone/>
            </a:pPr>
            <a:r>
              <a:rPr lang="en-US" sz="1200" dirty="0">
                <a:solidFill>
                  <a:srgbClr val="8FE3D2"/>
                </a:solidFill>
                <a:latin typeface="Courier New" pitchFamily="34" charset="0"/>
                <a:ea typeface="Courier New" pitchFamily="34" charset="-122"/>
                <a:cs typeface="Courier New" pitchFamily="34" charset="-120"/>
              </a:rPr>
              <a:t>    2 lights × shadow rays → 8 objects each</a:t>
            </a:r>
            <a:endParaRPr lang="en-US" sz="1200" dirty="0"/>
          </a:p>
        </p:txBody>
      </p:sp>
      <p:sp>
        <p:nvSpPr>
          <p:cNvPr id="8" name="Shape 6"/>
          <p:cNvSpPr/>
          <p:nvPr/>
        </p:nvSpPr>
        <p:spPr>
          <a:xfrm>
            <a:off x="7315200" y="2011680"/>
            <a:ext cx="4325112" cy="2377440"/>
          </a:xfrm>
          <a:prstGeom prst="roundRect">
            <a:avLst>
              <a:gd name="adj" fmla="val 2308"/>
            </a:avLst>
          </a:prstGeom>
          <a:solidFill>
            <a:srgbClr val="F3F6F8"/>
          </a:solidFill>
          <a:ln w="9525">
            <a:solidFill>
              <a:srgbClr val="DBE2E8"/>
            </a:solidFill>
            <a:prstDash val="solid"/>
          </a:ln>
        </p:spPr>
      </p:sp>
      <p:sp>
        <p:nvSpPr>
          <p:cNvPr id="9" name="Text 7"/>
          <p:cNvSpPr txBox="1"/>
          <p:nvPr/>
        </p:nvSpPr>
        <p:spPr>
          <a:xfrm>
            <a:off x="7543800" y="2176272"/>
            <a:ext cx="3840480" cy="749808"/>
          </a:xfrm>
          <a:prstGeom prst="rect">
            <a:avLst/>
          </a:prstGeom>
          <a:noFill/>
          <a:ln/>
        </p:spPr>
        <p:txBody>
          <a:bodyPr wrap="square" lIns="0" tIns="0" rIns="0" bIns="0" rtlCol="0" anchor="ctr"/>
          <a:lstStyle/>
          <a:p>
            <a:pPr indent="0" marL="0">
              <a:buNone/>
            </a:pPr>
            <a:r>
              <a:rPr lang="en-US" sz="4400" b="1" dirty="0">
                <a:solidFill>
                  <a:srgbClr val="E8833A"/>
                </a:solidFill>
                <a:latin typeface="Cambria" pitchFamily="34" charset="0"/>
                <a:ea typeface="Cambria" pitchFamily="34" charset="-122"/>
                <a:cs typeface="Cambria" pitchFamily="34" charset="-120"/>
              </a:rPr>
              <a:t>18</a:t>
            </a:r>
            <a:endParaRPr lang="en-US" sz="4400" dirty="0"/>
          </a:p>
        </p:txBody>
      </p:sp>
      <p:sp>
        <p:nvSpPr>
          <p:cNvPr id="10" name="Text 8"/>
          <p:cNvSpPr txBox="1"/>
          <p:nvPr/>
        </p:nvSpPr>
        <p:spPr>
          <a:xfrm>
            <a:off x="7543800" y="2962656"/>
            <a:ext cx="3840480" cy="274320"/>
          </a:xfrm>
          <a:prstGeom prst="rect">
            <a:avLst/>
          </a:prstGeom>
          <a:noFill/>
          <a:ln/>
        </p:spPr>
        <p:txBody>
          <a:bodyPr wrap="square" lIns="0" tIns="0" rIns="0" bIns="0"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intersection tests per pixel</a:t>
            </a:r>
            <a:endParaRPr lang="en-US" sz="1300" dirty="0"/>
          </a:p>
        </p:txBody>
      </p:sp>
      <p:sp>
        <p:nvSpPr>
          <p:cNvPr id="11" name="Text 9"/>
          <p:cNvSpPr txBox="1"/>
          <p:nvPr/>
        </p:nvSpPr>
        <p:spPr>
          <a:xfrm>
            <a:off x="7543800" y="3291840"/>
            <a:ext cx="3840480" cy="960120"/>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Not 8. The extra ones are shadow rays and reflection rays — 179,457 calls for 10,000 pixels. Intersection is THE kernel, and that is what we later put in hardware.</a:t>
            </a:r>
            <a:endParaRPr lang="en-US" sz="1200" dirty="0"/>
          </a:p>
        </p:txBody>
      </p:sp>
      <p:sp>
        <p:nvSpPr>
          <p:cNvPr id="12" name="Text 10"/>
          <p:cNvSpPr txBox="1"/>
          <p:nvPr/>
        </p:nvSpPr>
        <p:spPr>
          <a:xfrm>
            <a:off x="548640" y="4663440"/>
            <a:ext cx="11091672" cy="29260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Why this one, next to a decompressor</a:t>
            </a:r>
            <a:endParaRPr lang="en-US" sz="1400" dirty="0"/>
          </a:p>
        </p:txBody>
      </p:sp>
      <p:sp>
        <p:nvSpPr>
          <p:cNvPr id="13" name="Text 11"/>
          <p:cNvSpPr txBox="1"/>
          <p:nvPr/>
        </p:nvSpPr>
        <p:spPr>
          <a:xfrm>
            <a:off x="548640" y="4983480"/>
            <a:ext cx="11091672" cy="548640"/>
          </a:xfrm>
          <a:prstGeom prst="rect">
            <a:avLst/>
          </a:prstGeom>
          <a:noFill/>
          <a:ln/>
        </p:spPr>
        <p:txBody>
          <a:bodyPr wrap="square" lIns="0" tIns="0" rIns="0" bIns="0" rtlCol="0" anchor="ctr"/>
          <a:lstStyle/>
          <a:p>
            <a:pPr indent="0" marL="0">
              <a:lnSpc>
                <a:spcPts val="1800"/>
              </a:lnSpc>
              <a:buNone/>
            </a:pPr>
            <a:r>
              <a:rPr lang="en-US" sz="1300" dirty="0">
                <a:solidFill>
                  <a:srgbClr val="1B2430"/>
                </a:solidFill>
                <a:latin typeface="Calibri" pitchFamily="34" charset="0"/>
                <a:ea typeface="Calibri" pitchFamily="34" charset="-122"/>
                <a:cs typeface="Calibri" pitchFamily="34" charset="-120"/>
              </a:rPr>
              <a:t>pyflate is integer and control-flow bound. This is floating point and allocation bound. Same interpreter, opposite bottleneck — and, as we will show, opposite accelerator.</a:t>
            </a:r>
            <a:endParaRPr lang="en-US" sz="1300" dirty="0"/>
          </a:p>
        </p:txBody>
      </p:sp>
      <p:sp>
        <p:nvSpPr>
          <p:cNvPr id="14" name="Text 12"/>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Lana</a:t>
            </a:r>
            <a:endParaRPr lang="en-US" sz="1000" dirty="0"/>
          </a:p>
        </p:txBody>
      </p:sp>
      <p:sp>
        <p:nvSpPr>
          <p:cNvPr id="15" name="Text 13"/>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E8833A"/>
                </a:solidFill>
                <a:latin typeface="Calibri" pitchFamily="34" charset="0"/>
                <a:ea typeface="Calibri" pitchFamily="34" charset="-122"/>
                <a:cs typeface="Calibri" pitchFamily="34" charset="-120"/>
              </a:rPr>
              <a:t>BENCHMARK 2  ·  ANALYSIS</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Half the runtime is in three-float wrappers</a:t>
            </a:r>
            <a:endParaRPr lang="en-US" sz="2900" dirty="0"/>
          </a:p>
        </p:txBody>
      </p:sp>
      <p:sp>
        <p:nvSpPr>
          <p:cNvPr id="4" name="Text 2"/>
          <p:cNvSpPr txBox="1"/>
          <p:nvPr/>
        </p:nvSpPr>
        <p:spPr>
          <a:xfrm>
            <a:off x="548640" y="1417320"/>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dot</a:t>
            </a:r>
            <a:endParaRPr lang="en-US" sz="1100" dirty="0"/>
          </a:p>
        </p:txBody>
      </p:sp>
      <p:sp>
        <p:nvSpPr>
          <p:cNvPr id="5" name="Shape 3"/>
          <p:cNvSpPr/>
          <p:nvPr/>
        </p:nvSpPr>
        <p:spPr>
          <a:xfrm>
            <a:off x="4206240" y="1481328"/>
            <a:ext cx="3219073" cy="182880"/>
          </a:xfrm>
          <a:prstGeom prst="rect">
            <a:avLst/>
          </a:prstGeom>
          <a:solidFill>
            <a:srgbClr val="E8833A"/>
          </a:solidFill>
          <a:ln w="12700">
            <a:solidFill>
              <a:srgbClr val="E8833A"/>
            </a:solidFill>
            <a:prstDash val="solid"/>
          </a:ln>
        </p:spPr>
      </p:sp>
      <p:sp>
        <p:nvSpPr>
          <p:cNvPr id="6" name="Text 4"/>
          <p:cNvSpPr txBox="1"/>
          <p:nvPr/>
        </p:nvSpPr>
        <p:spPr>
          <a:xfrm>
            <a:off x="7607808" y="1417320"/>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18.58%</a:t>
            </a:r>
            <a:endParaRPr lang="en-US" sz="1100" dirty="0"/>
          </a:p>
        </p:txBody>
      </p:sp>
      <p:sp>
        <p:nvSpPr>
          <p:cNvPr id="7" name="Text 5"/>
          <p:cNvSpPr txBox="1"/>
          <p:nvPr/>
        </p:nvSpPr>
        <p:spPr>
          <a:xfrm>
            <a:off x="548640" y="1837944"/>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__sub__</a:t>
            </a:r>
            <a:endParaRPr lang="en-US" sz="1100" dirty="0"/>
          </a:p>
        </p:txBody>
      </p:sp>
      <p:sp>
        <p:nvSpPr>
          <p:cNvPr id="8" name="Shape 6"/>
          <p:cNvSpPr/>
          <p:nvPr/>
        </p:nvSpPr>
        <p:spPr>
          <a:xfrm>
            <a:off x="4206240" y="1901952"/>
            <a:ext cx="2721832" cy="182880"/>
          </a:xfrm>
          <a:prstGeom prst="rect">
            <a:avLst/>
          </a:prstGeom>
          <a:solidFill>
            <a:srgbClr val="E8833A"/>
          </a:solidFill>
          <a:ln w="12700">
            <a:solidFill>
              <a:srgbClr val="E8833A"/>
            </a:solidFill>
            <a:prstDash val="solid"/>
          </a:ln>
        </p:spPr>
      </p:sp>
      <p:sp>
        <p:nvSpPr>
          <p:cNvPr id="9" name="Text 7"/>
          <p:cNvSpPr txBox="1"/>
          <p:nvPr/>
        </p:nvSpPr>
        <p:spPr>
          <a:xfrm>
            <a:off x="7607808" y="1837944"/>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15.71%</a:t>
            </a:r>
            <a:endParaRPr lang="en-US" sz="1100" dirty="0"/>
          </a:p>
        </p:txBody>
      </p:sp>
      <p:sp>
        <p:nvSpPr>
          <p:cNvPr id="10" name="Text 8"/>
          <p:cNvSpPr txBox="1"/>
          <p:nvPr/>
        </p:nvSpPr>
        <p:spPr>
          <a:xfrm>
            <a:off x="548640" y="2258568"/>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__init__</a:t>
            </a:r>
            <a:endParaRPr lang="en-US" sz="1100" dirty="0"/>
          </a:p>
        </p:txBody>
      </p:sp>
      <p:sp>
        <p:nvSpPr>
          <p:cNvPr id="11" name="Shape 9"/>
          <p:cNvSpPr/>
          <p:nvPr/>
        </p:nvSpPr>
        <p:spPr>
          <a:xfrm>
            <a:off x="4206240" y="2322576"/>
            <a:ext cx="2631739" cy="182880"/>
          </a:xfrm>
          <a:prstGeom prst="rect">
            <a:avLst/>
          </a:prstGeom>
          <a:solidFill>
            <a:srgbClr val="E8833A"/>
          </a:solidFill>
          <a:ln w="12700">
            <a:solidFill>
              <a:srgbClr val="E8833A"/>
            </a:solidFill>
            <a:prstDash val="solid"/>
          </a:ln>
        </p:spPr>
      </p:sp>
      <p:sp>
        <p:nvSpPr>
          <p:cNvPr id="12" name="Text 10"/>
          <p:cNvSpPr txBox="1"/>
          <p:nvPr/>
        </p:nvSpPr>
        <p:spPr>
          <a:xfrm>
            <a:off x="7607808" y="2258568"/>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15.19%</a:t>
            </a:r>
            <a:endParaRPr lang="en-US" sz="1100" dirty="0"/>
          </a:p>
        </p:txBody>
      </p:sp>
      <p:sp>
        <p:nvSpPr>
          <p:cNvPr id="13" name="Text 11"/>
          <p:cNvSpPr txBox="1"/>
          <p:nvPr/>
        </p:nvSpPr>
        <p:spPr>
          <a:xfrm>
            <a:off x="548640" y="2679192"/>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intersectionTime</a:t>
            </a:r>
            <a:endParaRPr lang="en-US" sz="1100" dirty="0"/>
          </a:p>
        </p:txBody>
      </p:sp>
      <p:sp>
        <p:nvSpPr>
          <p:cNvPr id="14" name="Shape 12"/>
          <p:cNvSpPr/>
          <p:nvPr/>
        </p:nvSpPr>
        <p:spPr>
          <a:xfrm>
            <a:off x="4206240" y="2743200"/>
            <a:ext cx="2046138" cy="182880"/>
          </a:xfrm>
          <a:prstGeom prst="rect">
            <a:avLst/>
          </a:prstGeom>
          <a:solidFill>
            <a:srgbClr val="C3CBD3"/>
          </a:solidFill>
          <a:ln w="12700">
            <a:solidFill>
              <a:srgbClr val="C3CBD3"/>
            </a:solidFill>
            <a:prstDash val="solid"/>
          </a:ln>
        </p:spPr>
      </p:sp>
      <p:sp>
        <p:nvSpPr>
          <p:cNvPr id="15" name="Text 13"/>
          <p:cNvSpPr txBox="1"/>
          <p:nvPr/>
        </p:nvSpPr>
        <p:spPr>
          <a:xfrm>
            <a:off x="7607808" y="2679192"/>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11.81%</a:t>
            </a:r>
            <a:endParaRPr lang="en-US" sz="1100" dirty="0"/>
          </a:p>
        </p:txBody>
      </p:sp>
      <p:sp>
        <p:nvSpPr>
          <p:cNvPr id="16" name="Text 14"/>
          <p:cNvSpPr txBox="1"/>
          <p:nvPr/>
        </p:nvSpPr>
        <p:spPr>
          <a:xfrm>
            <a:off x="548640" y="3099816"/>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_lightIsVisible</a:t>
            </a:r>
            <a:endParaRPr lang="en-US" sz="1100" dirty="0"/>
          </a:p>
        </p:txBody>
      </p:sp>
      <p:sp>
        <p:nvSpPr>
          <p:cNvPr id="17" name="Shape 15"/>
          <p:cNvSpPr/>
          <p:nvPr/>
        </p:nvSpPr>
        <p:spPr>
          <a:xfrm>
            <a:off x="4206240" y="3163824"/>
            <a:ext cx="1386038" cy="182880"/>
          </a:xfrm>
          <a:prstGeom prst="rect">
            <a:avLst/>
          </a:prstGeom>
          <a:solidFill>
            <a:srgbClr val="C3CBD3"/>
          </a:solidFill>
          <a:ln w="12700">
            <a:solidFill>
              <a:srgbClr val="C3CBD3"/>
            </a:solidFill>
            <a:prstDash val="solid"/>
          </a:ln>
        </p:spPr>
      </p:sp>
      <p:sp>
        <p:nvSpPr>
          <p:cNvPr id="18" name="Text 16"/>
          <p:cNvSpPr txBox="1"/>
          <p:nvPr/>
        </p:nvSpPr>
        <p:spPr>
          <a:xfrm>
            <a:off x="7607808" y="3099816"/>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8.00%</a:t>
            </a:r>
            <a:endParaRPr lang="en-US" sz="1100" dirty="0"/>
          </a:p>
        </p:txBody>
      </p:sp>
      <p:sp>
        <p:nvSpPr>
          <p:cNvPr id="19" name="Text 17"/>
          <p:cNvSpPr txBox="1"/>
          <p:nvPr/>
        </p:nvSpPr>
        <p:spPr>
          <a:xfrm>
            <a:off x="548640" y="3520440"/>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scale</a:t>
            </a:r>
            <a:endParaRPr lang="en-US" sz="1100" dirty="0"/>
          </a:p>
        </p:txBody>
      </p:sp>
      <p:sp>
        <p:nvSpPr>
          <p:cNvPr id="20" name="Shape 18"/>
          <p:cNvSpPr/>
          <p:nvPr/>
        </p:nvSpPr>
        <p:spPr>
          <a:xfrm>
            <a:off x="4206240" y="3584448"/>
            <a:ext cx="765786" cy="182880"/>
          </a:xfrm>
          <a:prstGeom prst="rect">
            <a:avLst/>
          </a:prstGeom>
          <a:solidFill>
            <a:srgbClr val="E8833A"/>
          </a:solidFill>
          <a:ln w="12700">
            <a:solidFill>
              <a:srgbClr val="E8833A"/>
            </a:solidFill>
            <a:prstDash val="solid"/>
          </a:ln>
        </p:spPr>
      </p:sp>
      <p:sp>
        <p:nvSpPr>
          <p:cNvPr id="21" name="Text 19"/>
          <p:cNvSpPr txBox="1"/>
          <p:nvPr/>
        </p:nvSpPr>
        <p:spPr>
          <a:xfrm>
            <a:off x="7607808" y="3520440"/>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4.42%</a:t>
            </a:r>
            <a:endParaRPr lang="en-US" sz="1100" dirty="0"/>
          </a:p>
        </p:txBody>
      </p:sp>
      <p:sp>
        <p:nvSpPr>
          <p:cNvPr id="22" name="Text 20"/>
          <p:cNvSpPr txBox="1"/>
          <p:nvPr/>
        </p:nvSpPr>
        <p:spPr>
          <a:xfrm>
            <a:off x="548640" y="3941064"/>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normalized</a:t>
            </a:r>
            <a:endParaRPr lang="en-US" sz="1100" dirty="0"/>
          </a:p>
        </p:txBody>
      </p:sp>
      <p:sp>
        <p:nvSpPr>
          <p:cNvPr id="23" name="Shape 21"/>
          <p:cNvSpPr/>
          <p:nvPr/>
        </p:nvSpPr>
        <p:spPr>
          <a:xfrm>
            <a:off x="4206240" y="4005072"/>
            <a:ext cx="530159" cy="182880"/>
          </a:xfrm>
          <a:prstGeom prst="rect">
            <a:avLst/>
          </a:prstGeom>
          <a:solidFill>
            <a:srgbClr val="E8833A"/>
          </a:solidFill>
          <a:ln w="12700">
            <a:solidFill>
              <a:srgbClr val="E8833A"/>
            </a:solidFill>
            <a:prstDash val="solid"/>
          </a:ln>
        </p:spPr>
      </p:sp>
      <p:sp>
        <p:nvSpPr>
          <p:cNvPr id="24" name="Text 22"/>
          <p:cNvSpPr txBox="1"/>
          <p:nvPr/>
        </p:nvSpPr>
        <p:spPr>
          <a:xfrm>
            <a:off x="7607808" y="3941064"/>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3.06%</a:t>
            </a:r>
            <a:endParaRPr lang="en-US" sz="1100" dirty="0"/>
          </a:p>
        </p:txBody>
      </p:sp>
      <p:sp>
        <p:nvSpPr>
          <p:cNvPr id="25" name="Text 23"/>
          <p:cNvSpPr txBox="1"/>
          <p:nvPr/>
        </p:nvSpPr>
        <p:spPr>
          <a:xfrm>
            <a:off x="548640" y="4361688"/>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magnitude</a:t>
            </a:r>
            <a:endParaRPr lang="en-US" sz="1100" dirty="0"/>
          </a:p>
        </p:txBody>
      </p:sp>
      <p:sp>
        <p:nvSpPr>
          <p:cNvPr id="26" name="Shape 24"/>
          <p:cNvSpPr/>
          <p:nvPr/>
        </p:nvSpPr>
        <p:spPr>
          <a:xfrm>
            <a:off x="4206240" y="4425696"/>
            <a:ext cx="481648" cy="182880"/>
          </a:xfrm>
          <a:prstGeom prst="rect">
            <a:avLst/>
          </a:prstGeom>
          <a:solidFill>
            <a:srgbClr val="E8833A"/>
          </a:solidFill>
          <a:ln w="12700">
            <a:solidFill>
              <a:srgbClr val="E8833A"/>
            </a:solidFill>
            <a:prstDash val="solid"/>
          </a:ln>
        </p:spPr>
      </p:sp>
      <p:sp>
        <p:nvSpPr>
          <p:cNvPr id="27" name="Text 25"/>
          <p:cNvSpPr txBox="1"/>
          <p:nvPr/>
        </p:nvSpPr>
        <p:spPr>
          <a:xfrm>
            <a:off x="7607808" y="4361688"/>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2.78%</a:t>
            </a:r>
            <a:endParaRPr lang="en-US" sz="1100" dirty="0"/>
          </a:p>
        </p:txBody>
      </p:sp>
      <p:sp>
        <p:nvSpPr>
          <p:cNvPr id="28" name="Shape 26"/>
          <p:cNvSpPr/>
          <p:nvPr/>
        </p:nvSpPr>
        <p:spPr>
          <a:xfrm>
            <a:off x="8686800" y="1417320"/>
            <a:ext cx="2953512" cy="2011680"/>
          </a:xfrm>
          <a:prstGeom prst="roundRect">
            <a:avLst>
              <a:gd name="adj" fmla="val 2727"/>
            </a:avLst>
          </a:prstGeom>
          <a:solidFill>
            <a:srgbClr val="E8833A"/>
          </a:solidFill>
          <a:ln w="12700">
            <a:solidFill>
              <a:srgbClr val="E8833A"/>
            </a:solidFill>
            <a:prstDash val="solid"/>
          </a:ln>
        </p:spPr>
      </p:sp>
      <p:sp>
        <p:nvSpPr>
          <p:cNvPr id="29" name="Text 27"/>
          <p:cNvSpPr txBox="1"/>
          <p:nvPr/>
        </p:nvSpPr>
        <p:spPr>
          <a:xfrm>
            <a:off x="8915400" y="1645920"/>
            <a:ext cx="2514600" cy="658368"/>
          </a:xfrm>
          <a:prstGeom prst="rect">
            <a:avLst/>
          </a:prstGeom>
          <a:noFill/>
          <a:ln/>
        </p:spPr>
        <p:txBody>
          <a:bodyPr wrap="square" lIns="0" tIns="0" rIns="0" bIns="0" rtlCol="0" anchor="ctr"/>
          <a:lstStyle/>
          <a:p>
            <a:pPr indent="0" marL="0">
              <a:buNone/>
            </a:pPr>
            <a:r>
              <a:rPr lang="en-US" sz="3600" b="1" dirty="0">
                <a:solidFill>
                  <a:srgbClr val="1B2430"/>
                </a:solidFill>
                <a:latin typeface="Cambria" pitchFamily="34" charset="0"/>
                <a:ea typeface="Cambria" pitchFamily="34" charset="-122"/>
                <a:cs typeface="Cambria" pitchFamily="34" charset="-120"/>
              </a:rPr>
              <a:t>59.74%</a:t>
            </a:r>
            <a:endParaRPr lang="en-US" sz="3600" dirty="0"/>
          </a:p>
        </p:txBody>
      </p:sp>
      <p:sp>
        <p:nvSpPr>
          <p:cNvPr id="30" name="Text 28"/>
          <p:cNvSpPr txBox="1"/>
          <p:nvPr/>
        </p:nvSpPr>
        <p:spPr>
          <a:xfrm>
            <a:off x="8915400" y="2331720"/>
            <a:ext cx="2514600" cy="960120"/>
          </a:xfrm>
          <a:prstGeom prst="rect">
            <a:avLst/>
          </a:prstGeom>
          <a:noFill/>
          <a:ln/>
        </p:spPr>
        <p:txBody>
          <a:bodyPr wrap="square" lIns="0" tIns="0" rIns="0" bIns="0" rtlCol="0" anchor="ctr"/>
          <a:lstStyle/>
          <a:p>
            <a:pPr indent="0" marL="0">
              <a:lnSpc>
                <a:spcPts val="1500"/>
              </a:lnSpc>
              <a:buNone/>
            </a:pPr>
            <a:r>
              <a:rPr lang="en-US" sz="1150" dirty="0">
                <a:solidFill>
                  <a:srgbClr val="3A2412"/>
                </a:solidFill>
                <a:latin typeface="Calibri" pitchFamily="34" charset="0"/>
                <a:ea typeface="Calibri" pitchFamily="34" charset="-122"/>
                <a:cs typeface="Calibri" pitchFamily="34" charset="-120"/>
              </a:rPr>
              <a:t>of runtime is in Vector/Point wrappers (orange bars), not in the ray tracing algorithm itself</a:t>
            </a:r>
            <a:endParaRPr lang="en-US" sz="1150" dirty="0"/>
          </a:p>
        </p:txBody>
      </p:sp>
      <p:sp>
        <p:nvSpPr>
          <p:cNvPr id="31" name="Shape 29"/>
          <p:cNvSpPr/>
          <p:nvPr/>
        </p:nvSpPr>
        <p:spPr>
          <a:xfrm>
            <a:off x="8686800" y="3611880"/>
            <a:ext cx="2953512" cy="1554480"/>
          </a:xfrm>
          <a:prstGeom prst="roundRect">
            <a:avLst>
              <a:gd name="adj" fmla="val 3529"/>
            </a:avLst>
          </a:prstGeom>
          <a:solidFill>
            <a:srgbClr val="F3F6F8"/>
          </a:solidFill>
          <a:ln w="9525">
            <a:solidFill>
              <a:srgbClr val="DBE2E8"/>
            </a:solidFill>
            <a:prstDash val="solid"/>
          </a:ln>
        </p:spPr>
      </p:sp>
      <p:sp>
        <p:nvSpPr>
          <p:cNvPr id="32" name="Text 30"/>
          <p:cNvSpPr txBox="1"/>
          <p:nvPr/>
        </p:nvSpPr>
        <p:spPr>
          <a:xfrm>
            <a:off x="8915400" y="3749040"/>
            <a:ext cx="2514600" cy="457200"/>
          </a:xfrm>
          <a:prstGeom prst="rect">
            <a:avLst/>
          </a:prstGeom>
          <a:noFill/>
          <a:ln/>
        </p:spPr>
        <p:txBody>
          <a:bodyPr wrap="square" lIns="0" tIns="0" rIns="0" bIns="0" rtlCol="0" anchor="ctr"/>
          <a:lstStyle/>
          <a:p>
            <a:pPr indent="0" marL="0">
              <a:buNone/>
            </a:pPr>
            <a:r>
              <a:rPr lang="en-US" sz="2400" b="1" dirty="0">
                <a:solidFill>
                  <a:srgbClr val="1B2430"/>
                </a:solidFill>
                <a:latin typeface="Cambria" pitchFamily="34" charset="0"/>
                <a:ea typeface="Cambria" pitchFamily="34" charset="-122"/>
                <a:cs typeface="Cambria" pitchFamily="34" charset="-120"/>
              </a:rPr>
              <a:t>509,871</a:t>
            </a:r>
            <a:endParaRPr lang="en-US" sz="2400" dirty="0"/>
          </a:p>
        </p:txBody>
      </p:sp>
      <p:sp>
        <p:nvSpPr>
          <p:cNvPr id="33" name="Text 31"/>
          <p:cNvSpPr txBox="1"/>
          <p:nvPr/>
        </p:nvSpPr>
        <p:spPr>
          <a:xfrm>
            <a:off x="8915400" y="4206240"/>
            <a:ext cx="2514600" cy="822960"/>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calls to Vector.dot — every one of them starts with a mustBeVector() type assertion</a:t>
            </a:r>
            <a:endParaRPr lang="en-US" sz="1100" dirty="0"/>
          </a:p>
        </p:txBody>
      </p:sp>
      <p:sp>
        <p:nvSpPr>
          <p:cNvPr id="34" name="Text 32"/>
          <p:cNvSpPr txBox="1"/>
          <p:nvPr/>
        </p:nvSpPr>
        <p:spPr>
          <a:xfrm>
            <a:off x="548640" y="5376672"/>
            <a:ext cx="11091672" cy="47548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The leaves of this flame graph are type checks and operator dispatch — not floating-point work. 309 function calls per pixel.</a:t>
            </a:r>
            <a:endParaRPr lang="en-US" sz="1400" dirty="0"/>
          </a:p>
        </p:txBody>
      </p:sp>
      <p:sp>
        <p:nvSpPr>
          <p:cNvPr id="35" name="Text 33"/>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Lana</a:t>
            </a:r>
            <a:endParaRPr lang="en-US" sz="1000" dirty="0"/>
          </a:p>
        </p:txBody>
      </p:sp>
      <p:sp>
        <p:nvSpPr>
          <p:cNvPr id="36" name="Text 34"/>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E8833A"/>
                </a:solidFill>
                <a:latin typeface="Calibri" pitchFamily="34" charset="0"/>
                <a:ea typeface="Calibri" pitchFamily="34" charset="-122"/>
                <a:cs typeface="Calibri" pitchFamily="34" charset="-120"/>
              </a:rPr>
              <a:t>BENCHMARK 2  ·  THE FINDING</a:t>
            </a:r>
            <a:endParaRPr lang="en-US" sz="1100" dirty="0"/>
          </a:p>
        </p:txBody>
      </p:sp>
      <p:sp>
        <p:nvSpPr>
          <p:cNvPr id="3" name="Text 1"/>
          <p:cNvSpPr txBox="1"/>
          <p:nvPr/>
        </p:nvSpPr>
        <p:spPr>
          <a:xfrm>
            <a:off x="548640" y="713232"/>
            <a:ext cx="11091672"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One line, in the wrong place, cost 44%</a:t>
            </a:r>
            <a:endParaRPr lang="en-US" sz="3200" dirty="0"/>
          </a:p>
        </p:txBody>
      </p:sp>
      <p:sp>
        <p:nvSpPr>
          <p:cNvPr id="4" name="Text 2"/>
          <p:cNvSpPr txBox="1"/>
          <p:nvPr/>
        </p:nvSpPr>
        <p:spPr>
          <a:xfrm>
            <a:off x="548640" y="1463040"/>
            <a:ext cx="5303520" cy="237744"/>
          </a:xfrm>
          <a:prstGeom prst="rect">
            <a:avLst/>
          </a:prstGeom>
          <a:noFill/>
          <a:ln/>
        </p:spPr>
        <p:txBody>
          <a:bodyPr wrap="square" lIns="0" tIns="0" rIns="0" bIns="0" rtlCol="0" anchor="ctr"/>
          <a:lstStyle/>
          <a:p>
            <a:pPr indent="0" marL="0">
              <a:buNone/>
            </a:pPr>
            <a:r>
              <a:rPr lang="en-US" sz="1000" b="1" spc="140" kern="0" dirty="0">
                <a:solidFill>
                  <a:srgbClr val="E8833A"/>
                </a:solidFill>
                <a:latin typeface="Calibri" pitchFamily="34" charset="0"/>
                <a:ea typeface="Calibri" pitchFamily="34" charset="-122"/>
                <a:cs typeface="Calibri" pitchFamily="34" charset="-120"/>
              </a:rPr>
              <a:t>BEFORE</a:t>
            </a:r>
            <a:endParaRPr lang="en-US" sz="1000" dirty="0"/>
          </a:p>
        </p:txBody>
      </p:sp>
      <p:sp>
        <p:nvSpPr>
          <p:cNvPr id="5" name="Shape 3"/>
          <p:cNvSpPr/>
          <p:nvPr/>
        </p:nvSpPr>
        <p:spPr>
          <a:xfrm>
            <a:off x="548640" y="1719072"/>
            <a:ext cx="5349240" cy="1371600"/>
          </a:xfrm>
          <a:prstGeom prst="roundRect">
            <a:avLst>
              <a:gd name="adj" fmla="val 3333"/>
            </a:avLst>
          </a:prstGeom>
          <a:solidFill>
            <a:srgbClr val="2B3A4A"/>
          </a:solidFill>
          <a:ln w="15875">
            <a:solidFill>
              <a:srgbClr val="E8833A"/>
            </a:solidFill>
            <a:prstDash val="solid"/>
          </a:ln>
        </p:spPr>
      </p:sp>
      <p:sp>
        <p:nvSpPr>
          <p:cNvPr id="6" name="Text 4"/>
          <p:cNvSpPr txBox="1"/>
          <p:nvPr/>
        </p:nvSpPr>
        <p:spPr>
          <a:xfrm>
            <a:off x="777240" y="1847088"/>
            <a:ext cx="4892040" cy="1097280"/>
          </a:xfrm>
          <a:prstGeom prst="rect">
            <a:avLst/>
          </a:prstGeom>
          <a:noFill/>
          <a:ln/>
        </p:spPr>
        <p:txBody>
          <a:bodyPr wrap="square" lIns="0" tIns="0" rIns="0" bIns="0" rtlCol="0" anchor="ctr"/>
          <a:lstStyle/>
          <a:p>
            <a:pPr indent="0" marL="0">
              <a:lnSpc>
                <a:spcPts val="1900"/>
              </a:lnSpc>
              <a:buNone/>
            </a:pPr>
            <a:r>
              <a:rPr lang="en-US" sz="1200" dirty="0">
                <a:solidFill>
                  <a:srgbClr val="FFD9B8"/>
                </a:solidFill>
                <a:latin typeface="Courier New" pitchFamily="34" charset="0"/>
                <a:ea typeface="Courier New" pitchFamily="34" charset="-122"/>
                <a:cs typeface="Courier New" pitchFamily="34" charset="-120"/>
              </a:rPr>
              <a:t>for (o, s) in self.objects:</a:t>
            </a:r>
            <a:endParaRPr lang="en-US" sz="1200" dirty="0"/>
          </a:p>
          <a:p>
            <a:pPr indent="0" marL="0">
              <a:lnSpc>
                <a:spcPts val="1900"/>
              </a:lnSpc>
              <a:buNone/>
            </a:pPr>
            <a:r>
              <a:rPr lang="en-US" sz="1200" dirty="0">
                <a:solidFill>
                  <a:srgbClr val="FFD9B8"/>
                </a:solidFill>
                <a:latin typeface="Courier New" pitchFamily="34" charset="0"/>
                <a:ea typeface="Courier New" pitchFamily="34" charset="-122"/>
                <a:cs typeface="Courier New" pitchFamily="34" charset="-120"/>
              </a:rPr>
              <a:t>    t = o.intersectionTime(</a:t>
            </a:r>
            <a:endParaRPr lang="en-US" sz="1200" dirty="0"/>
          </a:p>
          <a:p>
            <a:pPr indent="0" marL="0">
              <a:lnSpc>
                <a:spcPts val="1900"/>
              </a:lnSpc>
              <a:buNone/>
            </a:pPr>
            <a:r>
              <a:rPr lang="en-US" sz="1200" dirty="0">
                <a:solidFill>
                  <a:srgbClr val="FFD9B8"/>
                </a:solidFill>
                <a:latin typeface="Courier New" pitchFamily="34" charset="0"/>
                <a:ea typeface="Courier New" pitchFamily="34" charset="-122"/>
                <a:cs typeface="Courier New" pitchFamily="34" charset="-120"/>
              </a:rPr>
              <a:t>            Ray(p, l - p))   ← inside</a:t>
            </a:r>
            <a:endParaRPr lang="en-US" sz="1200" dirty="0"/>
          </a:p>
        </p:txBody>
      </p:sp>
      <p:sp>
        <p:nvSpPr>
          <p:cNvPr id="7" name="Text 5"/>
          <p:cNvSpPr txBox="1"/>
          <p:nvPr/>
        </p:nvSpPr>
        <p:spPr>
          <a:xfrm>
            <a:off x="6309360" y="1463040"/>
            <a:ext cx="5303520" cy="237744"/>
          </a:xfrm>
          <a:prstGeom prst="rect">
            <a:avLst/>
          </a:prstGeom>
          <a:noFill/>
          <a:ln/>
        </p:spPr>
        <p:txBody>
          <a:bodyPr wrap="square" lIns="0" tIns="0" rIns="0" bIns="0" rtlCol="0" anchor="ctr"/>
          <a:lstStyle/>
          <a:p>
            <a:pPr indent="0" marL="0">
              <a:buNone/>
            </a:pPr>
            <a:r>
              <a:rPr lang="en-US" sz="1000" b="1" spc="140" kern="0" dirty="0">
                <a:solidFill>
                  <a:srgbClr val="2D9B8A"/>
                </a:solidFill>
                <a:latin typeface="Calibri" pitchFamily="34" charset="0"/>
                <a:ea typeface="Calibri" pitchFamily="34" charset="-122"/>
                <a:cs typeface="Calibri" pitchFamily="34" charset="-120"/>
              </a:rPr>
              <a:t>AFTER</a:t>
            </a:r>
            <a:endParaRPr lang="en-US" sz="1000" dirty="0"/>
          </a:p>
        </p:txBody>
      </p:sp>
      <p:sp>
        <p:nvSpPr>
          <p:cNvPr id="8" name="Shape 6"/>
          <p:cNvSpPr/>
          <p:nvPr/>
        </p:nvSpPr>
        <p:spPr>
          <a:xfrm>
            <a:off x="6309360" y="1719072"/>
            <a:ext cx="5330952" cy="1371600"/>
          </a:xfrm>
          <a:prstGeom prst="roundRect">
            <a:avLst>
              <a:gd name="adj" fmla="val 3333"/>
            </a:avLst>
          </a:prstGeom>
          <a:solidFill>
            <a:srgbClr val="2B3A4A"/>
          </a:solidFill>
          <a:ln w="15875">
            <a:solidFill>
              <a:srgbClr val="2D9B8A"/>
            </a:solidFill>
            <a:prstDash val="solid"/>
          </a:ln>
        </p:spPr>
      </p:sp>
      <p:sp>
        <p:nvSpPr>
          <p:cNvPr id="9" name="Text 7"/>
          <p:cNvSpPr txBox="1"/>
          <p:nvPr/>
        </p:nvSpPr>
        <p:spPr>
          <a:xfrm>
            <a:off x="6537960" y="1847088"/>
            <a:ext cx="4873752" cy="1097280"/>
          </a:xfrm>
          <a:prstGeom prst="rect">
            <a:avLst/>
          </a:prstGeom>
          <a:noFill/>
          <a:ln/>
        </p:spPr>
        <p:txBody>
          <a:bodyPr wrap="square" lIns="0" tIns="0" rIns="0" bIns="0" rtlCol="0" anchor="ctr"/>
          <a:lstStyle/>
          <a:p>
            <a:pPr indent="0" marL="0">
              <a:lnSpc>
                <a:spcPts val="1900"/>
              </a:lnSpc>
              <a:buNone/>
            </a:pPr>
            <a:r>
              <a:rPr lang="en-US" sz="1200" dirty="0">
                <a:solidFill>
                  <a:srgbClr val="A9EDDD"/>
                </a:solidFill>
                <a:latin typeface="Courier New" pitchFamily="34" charset="0"/>
                <a:ea typeface="Courier New" pitchFamily="34" charset="-122"/>
                <a:cs typeface="Courier New" pitchFamily="34" charset="-120"/>
              </a:rPr>
              <a:t>shadowRay = Ray(p, l - p)   ← hoisted</a:t>
            </a:r>
            <a:endParaRPr lang="en-US" sz="1200" dirty="0"/>
          </a:p>
          <a:p>
            <a:pPr indent="0" marL="0">
              <a:lnSpc>
                <a:spcPts val="1900"/>
              </a:lnSpc>
              <a:buNone/>
            </a:pPr>
            <a:r>
              <a:rPr lang="en-US" sz="1200" dirty="0">
                <a:solidFill>
                  <a:srgbClr val="A9EDDD"/>
                </a:solidFill>
                <a:latin typeface="Courier New" pitchFamily="34" charset="0"/>
                <a:ea typeface="Courier New" pitchFamily="34" charset="-122"/>
                <a:cs typeface="Courier New" pitchFamily="34" charset="-120"/>
              </a:rPr>
              <a:t>for (o, s) in self.objects:</a:t>
            </a:r>
            <a:endParaRPr lang="en-US" sz="1200" dirty="0"/>
          </a:p>
          <a:p>
            <a:pPr indent="0" marL="0">
              <a:lnSpc>
                <a:spcPts val="1900"/>
              </a:lnSpc>
              <a:buNone/>
            </a:pPr>
            <a:r>
              <a:rPr lang="en-US" sz="1200" dirty="0">
                <a:solidFill>
                  <a:srgbClr val="A9EDDD"/>
                </a:solidFill>
                <a:latin typeface="Courier New" pitchFamily="34" charset="0"/>
                <a:ea typeface="Courier New" pitchFamily="34" charset="-122"/>
                <a:cs typeface="Courier New" pitchFamily="34" charset="-120"/>
              </a:rPr>
              <a:t>    t = o.intersectionTime(shadowRay)</a:t>
            </a:r>
            <a:endParaRPr lang="en-US" sz="1200" dirty="0"/>
          </a:p>
        </p:txBody>
      </p:sp>
      <p:sp>
        <p:nvSpPr>
          <p:cNvPr id="10" name="Text 8"/>
          <p:cNvSpPr txBox="1"/>
          <p:nvPr/>
        </p:nvSpPr>
        <p:spPr>
          <a:xfrm>
            <a:off x="548640" y="3291840"/>
            <a:ext cx="10972800" cy="548640"/>
          </a:xfrm>
          <a:prstGeom prst="rect">
            <a:avLst/>
          </a:prstGeom>
          <a:noFill/>
          <a:ln/>
        </p:spPr>
        <p:txBody>
          <a:bodyPr wrap="square" lIns="0" tIns="0" rIns="0" bIns="0" rtlCol="0" anchor="ctr"/>
          <a:lstStyle/>
          <a:p>
            <a:pPr indent="0" marL="0">
              <a:lnSpc>
                <a:spcPts val="1900"/>
              </a:lnSpc>
              <a:buNone/>
            </a:pPr>
            <a:r>
              <a:rPr lang="en-US" sz="1400" dirty="0">
                <a:solidFill>
                  <a:srgbClr val="E8EDF2"/>
                </a:solidFill>
                <a:latin typeface="Calibri" pitchFamily="34" charset="0"/>
                <a:ea typeface="Calibri" pitchFamily="34" charset="-122"/>
                <a:cs typeface="Calibri" pitchFamily="34" charset="-120"/>
              </a:rPr>
              <a:t>Ray(p, l - p) does not depend on o. Its constructor calls normalized() → magnitude() → sqrt(). So the same shadow ray, square root included, was rebuilt 8 times per light per shading point.</a:t>
            </a:r>
            <a:endParaRPr lang="en-US" sz="1400" dirty="0"/>
          </a:p>
        </p:txBody>
      </p:sp>
      <p:sp>
        <p:nvSpPr>
          <p:cNvPr id="11" name="Shape 9"/>
          <p:cNvSpPr/>
          <p:nvPr/>
        </p:nvSpPr>
        <p:spPr>
          <a:xfrm>
            <a:off x="548640" y="4023360"/>
            <a:ext cx="5349240" cy="1828800"/>
          </a:xfrm>
          <a:prstGeom prst="roundRect">
            <a:avLst>
              <a:gd name="adj" fmla="val 3000"/>
            </a:avLst>
          </a:prstGeom>
          <a:solidFill>
            <a:srgbClr val="2B3A4A"/>
          </a:solidFill>
          <a:ln w="9525">
            <a:solidFill>
              <a:srgbClr val="3C4E61"/>
            </a:solidFill>
            <a:prstDash val="solid"/>
          </a:ln>
        </p:spPr>
      </p:sp>
      <p:sp>
        <p:nvSpPr>
          <p:cNvPr id="12" name="Text 10"/>
          <p:cNvSpPr txBox="1"/>
          <p:nvPr/>
        </p:nvSpPr>
        <p:spPr>
          <a:xfrm>
            <a:off x="822960" y="4206240"/>
            <a:ext cx="4754880" cy="594360"/>
          </a:xfrm>
          <a:prstGeom prst="rect">
            <a:avLst/>
          </a:prstGeom>
          <a:noFill/>
          <a:ln/>
        </p:spPr>
        <p:txBody>
          <a:bodyPr wrap="square" lIns="0" tIns="0" rIns="0" bIns="0" rtlCol="0" anchor="ctr"/>
          <a:lstStyle/>
          <a:p>
            <a:pPr indent="0" marL="0">
              <a:buNone/>
            </a:pPr>
            <a:r>
              <a:rPr lang="en-US" sz="3600" b="1" dirty="0">
                <a:solidFill>
                  <a:srgbClr val="E8833A"/>
                </a:solidFill>
                <a:latin typeface="Cambria" pitchFamily="34" charset="0"/>
                <a:ea typeface="Cambria" pitchFamily="34" charset="-122"/>
                <a:cs typeface="Cambria" pitchFamily="34" charset="-120"/>
              </a:rPr>
              <a:t>+44%</a:t>
            </a:r>
            <a:endParaRPr lang="en-US" sz="3600" dirty="0"/>
          </a:p>
        </p:txBody>
      </p:sp>
      <p:sp>
        <p:nvSpPr>
          <p:cNvPr id="13" name="Text 11"/>
          <p:cNvSpPr txBox="1"/>
          <p:nvPr/>
        </p:nvSpPr>
        <p:spPr>
          <a:xfrm>
            <a:off x="822960" y="4846320"/>
            <a:ext cx="4754880" cy="777240"/>
          </a:xfrm>
          <a:prstGeom prst="rect">
            <a:avLst/>
          </a:prstGeom>
          <a:noFill/>
          <a:ln/>
        </p:spPr>
        <p:txBody>
          <a:bodyPr wrap="square" lIns="0" tIns="0" rIns="0" bIns="0" rtlCol="0" anchor="ctr"/>
          <a:lstStyle/>
          <a:p>
            <a:pPr indent="0" marL="0">
              <a:lnSpc>
                <a:spcPts val="1800"/>
              </a:lnSpc>
              <a:buNone/>
            </a:pPr>
            <a:r>
              <a:rPr lang="en-US" sz="1300" dirty="0">
                <a:solidFill>
                  <a:srgbClr val="AFBECD"/>
                </a:solidFill>
                <a:latin typeface="Calibri" pitchFamily="34" charset="0"/>
                <a:ea typeface="Calibri" pitchFamily="34" charset="-122"/>
                <a:cs typeface="Calibri" pitchFamily="34" charset="-120"/>
              </a:rPr>
              <a:t>slower when we revert just this one hoist. A three-line change, with no cleverness in it at all.</a:t>
            </a:r>
            <a:endParaRPr lang="en-US" sz="1300" dirty="0"/>
          </a:p>
        </p:txBody>
      </p:sp>
      <p:sp>
        <p:nvSpPr>
          <p:cNvPr id="14" name="Shape 12"/>
          <p:cNvSpPr/>
          <p:nvPr/>
        </p:nvSpPr>
        <p:spPr>
          <a:xfrm>
            <a:off x="6309360" y="4023360"/>
            <a:ext cx="5330952" cy="1828800"/>
          </a:xfrm>
          <a:prstGeom prst="roundRect">
            <a:avLst>
              <a:gd name="adj" fmla="val 3000"/>
            </a:avLst>
          </a:prstGeom>
          <a:solidFill>
            <a:srgbClr val="2B3A4A"/>
          </a:solidFill>
          <a:ln w="19050">
            <a:solidFill>
              <a:srgbClr val="2D9B8A"/>
            </a:solidFill>
            <a:prstDash val="solid"/>
          </a:ln>
        </p:spPr>
      </p:sp>
      <p:sp>
        <p:nvSpPr>
          <p:cNvPr id="15" name="Text 13"/>
          <p:cNvSpPr txBox="1"/>
          <p:nvPr/>
        </p:nvSpPr>
        <p:spPr>
          <a:xfrm>
            <a:off x="6583680" y="4187952"/>
            <a:ext cx="4754880" cy="274320"/>
          </a:xfrm>
          <a:prstGeom prst="rect">
            <a:avLst/>
          </a:prstGeom>
          <a:noFill/>
          <a:ln/>
        </p:spPr>
        <p:txBody>
          <a:bodyPr wrap="square" lIns="0" tIns="0" rIns="0" bIns="0" rtlCol="0" anchor="ctr"/>
          <a:lstStyle/>
          <a:p>
            <a:pPr indent="0" marL="0">
              <a:buNone/>
            </a:pPr>
            <a:r>
              <a:rPr lang="en-US" sz="1300" b="1" dirty="0">
                <a:solidFill>
                  <a:srgbClr val="2D9B8A"/>
                </a:solidFill>
                <a:latin typeface="Calibri" pitchFamily="34" charset="0"/>
                <a:ea typeface="Calibri" pitchFamily="34" charset="-122"/>
                <a:cs typeface="Calibri" pitchFamily="34" charset="-120"/>
              </a:rPr>
              <a:t>The lesson</a:t>
            </a:r>
            <a:endParaRPr lang="en-US" sz="1300" dirty="0"/>
          </a:p>
        </p:txBody>
      </p:sp>
      <p:sp>
        <p:nvSpPr>
          <p:cNvPr id="16" name="Text 14"/>
          <p:cNvSpPr txBox="1"/>
          <p:nvPr/>
        </p:nvSpPr>
        <p:spPr>
          <a:xfrm>
            <a:off x="6583680" y="4498848"/>
            <a:ext cx="4754880" cy="1143000"/>
          </a:xfrm>
          <a:prstGeom prst="rect">
            <a:avLst/>
          </a:prstGeom>
          <a:noFill/>
          <a:ln/>
        </p:spPr>
        <p:txBody>
          <a:bodyPr wrap="square" lIns="0" tIns="0" rIns="0" bIns="0" rtlCol="0" anchor="ctr"/>
          <a:lstStyle/>
          <a:p>
            <a:pPr indent="0" marL="0">
              <a:lnSpc>
                <a:spcPts val="1800"/>
              </a:lnSpc>
              <a:buNone/>
            </a:pPr>
            <a:r>
              <a:rPr lang="en-US" sz="1300" dirty="0">
                <a:solidFill>
                  <a:srgbClr val="E8EDF2"/>
                </a:solidFill>
                <a:latin typeface="Calibri" pitchFamily="34" charset="0"/>
                <a:ea typeface="Calibri" pitchFamily="34" charset="-122"/>
                <a:cs typeface="Calibri" pitchFamily="34" charset="-120"/>
              </a:rPr>
              <a:t>This is a plain bug, not a subtle trade-off — and reading the code at normal speed does not reveal it. Profiling did. That is the whole argument for measuring before optimizing.</a:t>
            </a:r>
            <a:endParaRPr lang="en-US" sz="1300" dirty="0"/>
          </a:p>
        </p:txBody>
      </p:sp>
      <p:sp>
        <p:nvSpPr>
          <p:cNvPr id="17" name="Text 15"/>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8A97A6"/>
                </a:solidFill>
                <a:latin typeface="Calibri" pitchFamily="34" charset="0"/>
                <a:ea typeface="Calibri" pitchFamily="34" charset="-122"/>
                <a:cs typeface="Calibri" pitchFamily="34" charset="-120"/>
              </a:rPr>
              <a:t>Lana</a:t>
            </a:r>
            <a:endParaRPr lang="en-US" sz="1000" dirty="0"/>
          </a:p>
        </p:txBody>
      </p:sp>
      <p:sp>
        <p:nvSpPr>
          <p:cNvPr id="18" name="Text 16"/>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8A97A6"/>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E8833A"/>
                </a:solidFill>
                <a:latin typeface="Calibri" pitchFamily="34" charset="0"/>
                <a:ea typeface="Calibri" pitchFamily="34" charset="-122"/>
                <a:cs typeface="Calibri" pitchFamily="34" charset="-120"/>
              </a:rPr>
              <a:t>BENCHMARK 2  ·  THE THREE IMPLEMENTATIONS</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One ray–sphere test, three ways</a:t>
            </a:r>
            <a:endParaRPr lang="en-US" sz="2900" dirty="0"/>
          </a:p>
        </p:txBody>
      </p:sp>
      <p:sp>
        <p:nvSpPr>
          <p:cNvPr id="4" name="Text 2"/>
          <p:cNvSpPr txBox="1"/>
          <p:nvPr/>
        </p:nvSpPr>
        <p:spPr>
          <a:xfrm>
            <a:off x="548640" y="1280160"/>
            <a:ext cx="11091672" cy="27432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Same intersection, same image, bit for bit. The algorithm never changes — the cost of expressing it does, and then who performs it.</a:t>
            </a:r>
            <a:endParaRPr lang="en-US" sz="1250" dirty="0"/>
          </a:p>
        </p:txBody>
      </p:sp>
      <p:sp>
        <p:nvSpPr>
          <p:cNvPr id="5" name="Shape 3"/>
          <p:cNvSpPr/>
          <p:nvPr/>
        </p:nvSpPr>
        <p:spPr>
          <a:xfrm>
            <a:off x="548640" y="1645920"/>
            <a:ext cx="3520440" cy="365760"/>
          </a:xfrm>
          <a:prstGeom prst="roundRect">
            <a:avLst>
              <a:gd name="adj" fmla="val 12500"/>
            </a:avLst>
          </a:prstGeom>
          <a:solidFill>
            <a:srgbClr val="E8833A"/>
          </a:solidFill>
          <a:ln w="12700">
            <a:solidFill>
              <a:srgbClr val="E8833A"/>
            </a:solidFill>
            <a:prstDash val="solid"/>
          </a:ln>
        </p:spPr>
      </p:sp>
      <p:sp>
        <p:nvSpPr>
          <p:cNvPr id="6" name="Text 4"/>
          <p:cNvSpPr txBox="1"/>
          <p:nvPr/>
        </p:nvSpPr>
        <p:spPr>
          <a:xfrm>
            <a:off x="548640" y="1645920"/>
            <a:ext cx="3520440" cy="365760"/>
          </a:xfrm>
          <a:prstGeom prst="rect">
            <a:avLst/>
          </a:prstGeom>
          <a:noFill/>
          <a:ln/>
        </p:spPr>
        <p:txBody>
          <a:bodyPr wrap="square" lIns="0" tIns="0" rIns="0" bIns="0" rtlCol="0" anchor="ctr"/>
          <a:lstStyle/>
          <a:p>
            <a:pPr algn="ctr" indent="0" marL="0">
              <a:buNone/>
            </a:pPr>
            <a:r>
              <a:rPr lang="en-US" sz="1150" b="1" spc="80" kern="0" dirty="0">
                <a:solidFill>
                  <a:srgbClr val="FFFFFF"/>
                </a:solidFill>
                <a:latin typeface="Calibri" pitchFamily="34" charset="0"/>
                <a:ea typeface="Calibri" pitchFamily="34" charset="-122"/>
                <a:cs typeface="Calibri" pitchFamily="34" charset="-120"/>
              </a:rPr>
              <a:t>A   BASELINE SOFTWARE</a:t>
            </a:r>
            <a:endParaRPr lang="en-US" sz="1150" dirty="0"/>
          </a:p>
        </p:txBody>
      </p:sp>
      <p:sp>
        <p:nvSpPr>
          <p:cNvPr id="7" name="Shape 5"/>
          <p:cNvSpPr/>
          <p:nvPr/>
        </p:nvSpPr>
        <p:spPr>
          <a:xfrm>
            <a:off x="4334256" y="1645920"/>
            <a:ext cx="3520440" cy="365760"/>
          </a:xfrm>
          <a:prstGeom prst="roundRect">
            <a:avLst>
              <a:gd name="adj" fmla="val 12500"/>
            </a:avLst>
          </a:prstGeom>
          <a:solidFill>
            <a:srgbClr val="2D9B8A"/>
          </a:solidFill>
          <a:ln w="12700">
            <a:solidFill>
              <a:srgbClr val="2D9B8A"/>
            </a:solidFill>
            <a:prstDash val="solid"/>
          </a:ln>
        </p:spPr>
      </p:sp>
      <p:sp>
        <p:nvSpPr>
          <p:cNvPr id="8" name="Text 6"/>
          <p:cNvSpPr txBox="1"/>
          <p:nvPr/>
        </p:nvSpPr>
        <p:spPr>
          <a:xfrm>
            <a:off x="4334256" y="1645920"/>
            <a:ext cx="3520440" cy="365760"/>
          </a:xfrm>
          <a:prstGeom prst="rect">
            <a:avLst/>
          </a:prstGeom>
          <a:noFill/>
          <a:ln/>
        </p:spPr>
        <p:txBody>
          <a:bodyPr wrap="square" lIns="0" tIns="0" rIns="0" bIns="0" rtlCol="0" anchor="ctr"/>
          <a:lstStyle/>
          <a:p>
            <a:pPr algn="ctr" indent="0" marL="0">
              <a:buNone/>
            </a:pPr>
            <a:r>
              <a:rPr lang="en-US" sz="1150" b="1" spc="80" kern="0" dirty="0">
                <a:solidFill>
                  <a:srgbClr val="FFFFFF"/>
                </a:solidFill>
                <a:latin typeface="Calibri" pitchFamily="34" charset="0"/>
                <a:ea typeface="Calibri" pitchFamily="34" charset="-122"/>
                <a:cs typeface="Calibri" pitchFamily="34" charset="-120"/>
              </a:rPr>
              <a:t>B   OPTIMIZED SOFTWARE</a:t>
            </a:r>
            <a:endParaRPr lang="en-US" sz="1150" dirty="0"/>
          </a:p>
        </p:txBody>
      </p:sp>
      <p:sp>
        <p:nvSpPr>
          <p:cNvPr id="9" name="Shape 7"/>
          <p:cNvSpPr/>
          <p:nvPr/>
        </p:nvSpPr>
        <p:spPr>
          <a:xfrm>
            <a:off x="8119872" y="1645920"/>
            <a:ext cx="3520440" cy="365760"/>
          </a:xfrm>
          <a:prstGeom prst="roundRect">
            <a:avLst>
              <a:gd name="adj" fmla="val 12500"/>
            </a:avLst>
          </a:prstGeom>
          <a:solidFill>
            <a:srgbClr val="3C5A78"/>
          </a:solidFill>
          <a:ln w="12700">
            <a:solidFill>
              <a:srgbClr val="3C5A78"/>
            </a:solidFill>
            <a:prstDash val="solid"/>
          </a:ln>
        </p:spPr>
      </p:sp>
      <p:sp>
        <p:nvSpPr>
          <p:cNvPr id="10" name="Text 8"/>
          <p:cNvSpPr txBox="1"/>
          <p:nvPr/>
        </p:nvSpPr>
        <p:spPr>
          <a:xfrm>
            <a:off x="8119872" y="1645920"/>
            <a:ext cx="3520440" cy="365760"/>
          </a:xfrm>
          <a:prstGeom prst="rect">
            <a:avLst/>
          </a:prstGeom>
          <a:noFill/>
          <a:ln/>
        </p:spPr>
        <p:txBody>
          <a:bodyPr wrap="square" lIns="0" tIns="0" rIns="0" bIns="0" rtlCol="0" anchor="ctr"/>
          <a:lstStyle/>
          <a:p>
            <a:pPr algn="ctr" indent="0" marL="0">
              <a:buNone/>
            </a:pPr>
            <a:r>
              <a:rPr lang="en-US" sz="1150" b="1" spc="80" kern="0" dirty="0">
                <a:solidFill>
                  <a:srgbClr val="FFFFFF"/>
                </a:solidFill>
                <a:latin typeface="Calibri" pitchFamily="34" charset="0"/>
                <a:ea typeface="Calibri" pitchFamily="34" charset="-122"/>
                <a:cs typeface="Calibri" pitchFamily="34" charset="-120"/>
              </a:rPr>
              <a:t>C   HARDWARE ACCELERATOR</a:t>
            </a:r>
            <a:endParaRPr lang="en-US" sz="1150" dirty="0"/>
          </a:p>
        </p:txBody>
      </p:sp>
      <p:sp>
        <p:nvSpPr>
          <p:cNvPr id="11" name="Shape 9"/>
          <p:cNvSpPr/>
          <p:nvPr/>
        </p:nvSpPr>
        <p:spPr>
          <a:xfrm>
            <a:off x="548640" y="2029968"/>
            <a:ext cx="3520440" cy="2761488"/>
          </a:xfrm>
          <a:prstGeom prst="roundRect">
            <a:avLst>
              <a:gd name="adj" fmla="val 1987"/>
            </a:avLst>
          </a:prstGeom>
          <a:solidFill>
            <a:srgbClr val="F3F6F8"/>
          </a:solidFill>
          <a:ln w="9525">
            <a:solidFill>
              <a:srgbClr val="DBE2E8"/>
            </a:solidFill>
            <a:prstDash val="solid"/>
          </a:ln>
        </p:spPr>
      </p:sp>
      <p:sp>
        <p:nvSpPr>
          <p:cNvPr id="12" name="Shape 10"/>
          <p:cNvSpPr/>
          <p:nvPr/>
        </p:nvSpPr>
        <p:spPr>
          <a:xfrm>
            <a:off x="4334256" y="2029968"/>
            <a:ext cx="3520440" cy="2761488"/>
          </a:xfrm>
          <a:prstGeom prst="roundRect">
            <a:avLst>
              <a:gd name="adj" fmla="val 1987"/>
            </a:avLst>
          </a:prstGeom>
          <a:solidFill>
            <a:srgbClr val="F3F6F8"/>
          </a:solidFill>
          <a:ln w="9525">
            <a:solidFill>
              <a:srgbClr val="DBE2E8"/>
            </a:solidFill>
            <a:prstDash val="solid"/>
          </a:ln>
        </p:spPr>
      </p:sp>
      <p:sp>
        <p:nvSpPr>
          <p:cNvPr id="13" name="Shape 11"/>
          <p:cNvSpPr/>
          <p:nvPr/>
        </p:nvSpPr>
        <p:spPr>
          <a:xfrm>
            <a:off x="8119872" y="2029968"/>
            <a:ext cx="3520440" cy="2761488"/>
          </a:xfrm>
          <a:prstGeom prst="roundRect">
            <a:avLst>
              <a:gd name="adj" fmla="val 1987"/>
            </a:avLst>
          </a:prstGeom>
          <a:solidFill>
            <a:srgbClr val="2B3A4A"/>
          </a:solidFill>
          <a:ln w="9525">
            <a:solidFill>
              <a:srgbClr val="3C4E61"/>
            </a:solidFill>
            <a:prstDash val="solid"/>
          </a:ln>
        </p:spPr>
      </p:sp>
      <p:sp>
        <p:nvSpPr>
          <p:cNvPr id="14" name="Text 12"/>
          <p:cNvSpPr txBox="1"/>
          <p:nvPr/>
        </p:nvSpPr>
        <p:spPr>
          <a:xfrm>
            <a:off x="749808" y="2157984"/>
            <a:ext cx="3118104" cy="1600200"/>
          </a:xfrm>
          <a:prstGeom prst="rect">
            <a:avLst/>
          </a:prstGeom>
          <a:noFill/>
          <a:ln/>
        </p:spPr>
        <p:txBody>
          <a:bodyPr wrap="square" lIns="0" tIns="0" rIns="0" bIns="0" rtlCol="0" anchor="ctr"/>
          <a:lstStyle/>
          <a:p>
            <a:pPr marL="342900" indent="-342900">
              <a:lnSpc>
                <a:spcPts val="1900"/>
              </a:lnSpc>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Vector / Point objects; every op type-checks</a:t>
            </a:r>
            <a:endParaRPr lang="en-US" sz="1100" dirty="0"/>
          </a:p>
          <a:p>
            <a:pPr marL="342900" indent="-342900">
              <a:lnSpc>
                <a:spcPts val="1900"/>
              </a:lnSpc>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509,871 mustBeVector() calls per frame</a:t>
            </a:r>
            <a:endParaRPr lang="en-US" sz="1100" dirty="0"/>
          </a:p>
          <a:p>
            <a:pPr marL="342900" indent="-342900">
              <a:lnSpc>
                <a:spcPts val="1900"/>
              </a:lnSpc>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Shadow ray rebuilt inside the object loop</a:t>
            </a:r>
            <a:endParaRPr lang="en-US" sz="1100" dirty="0"/>
          </a:p>
        </p:txBody>
      </p:sp>
      <p:sp>
        <p:nvSpPr>
          <p:cNvPr id="15" name="Text 13"/>
          <p:cNvSpPr txBox="1"/>
          <p:nvPr/>
        </p:nvSpPr>
        <p:spPr>
          <a:xfrm>
            <a:off x="4535424" y="2157984"/>
            <a:ext cx="3118104" cy="1600200"/>
          </a:xfrm>
          <a:prstGeom prst="rect">
            <a:avLst/>
          </a:prstGeom>
          <a:noFill/>
          <a:ln/>
        </p:spPr>
        <p:txBody>
          <a:bodyPr wrap="square" lIns="0" tIns="0" rIns="0" bIns="0" rtlCol="0" anchor="ctr"/>
          <a:lstStyle/>
          <a:p>
            <a:pPr marL="342900" indent="-342900">
              <a:lnSpc>
                <a:spcPts val="1900"/>
              </a:lnSpc>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Shadow ray hoisted out of the loop — +44%</a:t>
            </a:r>
            <a:endParaRPr lang="en-US" sz="1100" dirty="0"/>
          </a:p>
          <a:p>
            <a:pPr marL="342900" indent="-342900">
              <a:lnSpc>
                <a:spcPts val="1900"/>
              </a:lnSpc>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Intersection inlined on raw floats — +56%</a:t>
            </a:r>
            <a:endParaRPr lang="en-US" sz="1100" dirty="0"/>
          </a:p>
          <a:p>
            <a:pPr marL="342900" indent="-342900">
              <a:lnSpc>
                <a:spcPts val="1900"/>
              </a:lnSpc>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radius² cached; running minimum, no list — +8%</a:t>
            </a:r>
            <a:endParaRPr lang="en-US" sz="1100" dirty="0"/>
          </a:p>
          <a:p>
            <a:pPr marL="342900" indent="-342900">
              <a:lnSpc>
                <a:spcPts val="1900"/>
              </a:lnSpc>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Operand order preserved → bit-identical</a:t>
            </a:r>
            <a:endParaRPr lang="en-US" sz="1100" dirty="0"/>
          </a:p>
        </p:txBody>
      </p:sp>
      <p:sp>
        <p:nvSpPr>
          <p:cNvPr id="16" name="Text 14"/>
          <p:cNvSpPr txBox="1"/>
          <p:nvPr/>
        </p:nvSpPr>
        <p:spPr>
          <a:xfrm>
            <a:off x="8321040" y="2157984"/>
            <a:ext cx="3118104" cy="1600200"/>
          </a:xfrm>
          <a:prstGeom prst="rect">
            <a:avLst/>
          </a:prstGeom>
          <a:noFill/>
          <a:ln/>
        </p:spPr>
        <p:txBody>
          <a:bodyPr wrap="square" lIns="0" tIns="0" rIns="0" bIns="0" rtlCol="0" anchor="ctr"/>
          <a:lstStyle/>
          <a:p>
            <a:pPr marL="342900" indent="-342900">
              <a:lnSpc>
                <a:spcPts val="1500"/>
              </a:lnSpc>
              <a:spcAft>
                <a:spcPts val="500"/>
              </a:spcAft>
              <a:buSzPct val="100000"/>
              <a:buChar char="•"/>
            </a:pPr>
            <a:r>
              <a:rPr lang="en-US" sz="1100" dirty="0">
                <a:solidFill>
                  <a:srgbClr val="E8EDF2"/>
                </a:solidFill>
                <a:latin typeface="Calibri" pitchFamily="34" charset="0"/>
                <a:ea typeface="Calibri" pitchFamily="34" charset="-122"/>
                <a:cs typeface="Calibri" pitchFamily="34" charset="-120"/>
              </a:rPr>
              <a:t>8 PEs, one sphere each, preloaded per frame</a:t>
            </a:r>
            <a:endParaRPr lang="en-US" sz="1100" dirty="0"/>
          </a:p>
          <a:p>
            <a:pPr marL="342900" indent="-342900">
              <a:lnSpc>
                <a:spcPts val="1500"/>
              </a:lnSpc>
              <a:spcAft>
                <a:spcPts val="500"/>
              </a:spcAft>
              <a:buSzPct val="100000"/>
              <a:buChar char="•"/>
            </a:pPr>
            <a:r>
              <a:rPr lang="en-US" sz="1100" dirty="0">
                <a:solidFill>
                  <a:srgbClr val="E8EDF2"/>
                </a:solidFill>
                <a:latin typeface="Calibri" pitchFamily="34" charset="0"/>
                <a:ea typeface="Calibri" pitchFamily="34" charset="-122"/>
                <a:cs typeface="Calibri" pitchFamily="34" charset="-120"/>
              </a:rPr>
              <a:t>Fixed shape: 7 multiplies, 9 add/sub, 1 sqrt</a:t>
            </a:r>
            <a:endParaRPr lang="en-US" sz="1100" dirty="0"/>
          </a:p>
          <a:p>
            <a:pPr marL="342900" indent="-342900">
              <a:lnSpc>
                <a:spcPts val="1500"/>
              </a:lnSpc>
              <a:spcAft>
                <a:spcPts val="500"/>
              </a:spcAft>
              <a:buSzPct val="100000"/>
              <a:buChar char="•"/>
            </a:pPr>
            <a:r>
              <a:rPr lang="en-US" sz="1100" dirty="0">
                <a:solidFill>
                  <a:srgbClr val="E8EDF2"/>
                </a:solidFill>
                <a:latin typeface="Calibri" pitchFamily="34" charset="0"/>
                <a:ea typeface="Calibri" pitchFamily="34" charset="-122"/>
                <a:cs typeface="Calibri" pitchFamily="34" charset="-120"/>
              </a:rPr>
              <a:t>Ray broadcast to all 8, results captured together</a:t>
            </a:r>
            <a:endParaRPr lang="en-US" sz="1100" dirty="0"/>
          </a:p>
          <a:p>
            <a:pPr marL="342900" indent="-342900">
              <a:lnSpc>
                <a:spcPts val="1500"/>
              </a:lnSpc>
              <a:spcAft>
                <a:spcPts val="500"/>
              </a:spcAft>
              <a:buSzPct val="100000"/>
              <a:buChar char="•"/>
            </a:pPr>
            <a:r>
              <a:rPr lang="en-US" sz="1100" dirty="0">
                <a:solidFill>
                  <a:srgbClr val="E8EDF2"/>
                </a:solidFill>
                <a:latin typeface="Calibri" pitchFamily="34" charset="0"/>
                <a:ea typeface="Calibri" pitchFamily="34" charset="-122"/>
                <a:cs typeface="Calibri" pitchFamily="34" charset="-120"/>
              </a:rPr>
              <a:t>Shared 24-stage sqrt → 1 ray / 8 cycles</a:t>
            </a:r>
            <a:endParaRPr lang="en-US" sz="1100" dirty="0"/>
          </a:p>
        </p:txBody>
      </p:sp>
      <p:sp>
        <p:nvSpPr>
          <p:cNvPr id="17" name="Text 15"/>
          <p:cNvSpPr txBox="1"/>
          <p:nvPr/>
        </p:nvSpPr>
        <p:spPr>
          <a:xfrm>
            <a:off x="749808" y="3877056"/>
            <a:ext cx="3118104" cy="219456"/>
          </a:xfrm>
          <a:prstGeom prst="rect">
            <a:avLst/>
          </a:prstGeom>
          <a:noFill/>
          <a:ln/>
        </p:spPr>
        <p:txBody>
          <a:bodyPr wrap="square" lIns="0" tIns="0" rIns="0" bIns="0" rtlCol="0" anchor="ctr"/>
          <a:lstStyle/>
          <a:p>
            <a:pPr indent="0" marL="0">
              <a:buNone/>
            </a:pPr>
            <a:r>
              <a:rPr lang="en-US" sz="850" b="1" spc="100" kern="0" dirty="0">
                <a:solidFill>
                  <a:srgbClr val="6B7785"/>
                </a:solidFill>
                <a:latin typeface="Calibri" pitchFamily="34" charset="0"/>
                <a:ea typeface="Calibri" pitchFamily="34" charset="-122"/>
                <a:cs typeface="Calibri" pitchFamily="34" charset="-120"/>
              </a:rPr>
              <a:t>ONE RAY AGAINST EIGHT SPHERES</a:t>
            </a:r>
            <a:endParaRPr lang="en-US" sz="850" dirty="0"/>
          </a:p>
        </p:txBody>
      </p:sp>
      <p:sp>
        <p:nvSpPr>
          <p:cNvPr id="18" name="Text 16"/>
          <p:cNvSpPr txBox="1"/>
          <p:nvPr/>
        </p:nvSpPr>
        <p:spPr>
          <a:xfrm>
            <a:off x="749808" y="4078224"/>
            <a:ext cx="3118104" cy="384048"/>
          </a:xfrm>
          <a:prstGeom prst="rect">
            <a:avLst/>
          </a:prstGeom>
          <a:noFill/>
          <a:ln/>
        </p:spPr>
        <p:txBody>
          <a:bodyPr wrap="square" lIns="0" tIns="0" rIns="0" bIns="0" rtlCol="0" anchor="ctr"/>
          <a:lstStyle/>
          <a:p>
            <a:pPr indent="0" marL="0">
              <a:lnSpc>
                <a:spcPts val="1500"/>
              </a:lnSpc>
              <a:buNone/>
            </a:pPr>
            <a:r>
              <a:rPr lang="en-US" sz="1100" dirty="0">
                <a:solidFill>
                  <a:srgbClr val="1B2430"/>
                </a:solidFill>
                <a:latin typeface="Calibri" pitchFamily="34" charset="0"/>
                <a:ea typeface="Calibri" pitchFamily="34" charset="-122"/>
                <a:cs typeface="Calibri" pitchFamily="34" charset="-120"/>
              </a:rPr>
              <a:t>Eight tests, each dragging a cascade of wrapper calls behind it</a:t>
            </a:r>
            <a:endParaRPr lang="en-US" sz="1100" dirty="0"/>
          </a:p>
        </p:txBody>
      </p:sp>
      <p:sp>
        <p:nvSpPr>
          <p:cNvPr id="19" name="Text 17"/>
          <p:cNvSpPr txBox="1"/>
          <p:nvPr/>
        </p:nvSpPr>
        <p:spPr>
          <a:xfrm>
            <a:off x="4535424" y="3877056"/>
            <a:ext cx="3118104" cy="219456"/>
          </a:xfrm>
          <a:prstGeom prst="rect">
            <a:avLst/>
          </a:prstGeom>
          <a:noFill/>
          <a:ln/>
        </p:spPr>
        <p:txBody>
          <a:bodyPr wrap="square" lIns="0" tIns="0" rIns="0" bIns="0" rtlCol="0" anchor="ctr"/>
          <a:lstStyle/>
          <a:p>
            <a:pPr indent="0" marL="0">
              <a:buNone/>
            </a:pPr>
            <a:r>
              <a:rPr lang="en-US" sz="850" b="1" spc="100" kern="0" dirty="0">
                <a:solidFill>
                  <a:srgbClr val="6B7785"/>
                </a:solidFill>
                <a:latin typeface="Calibri" pitchFamily="34" charset="0"/>
                <a:ea typeface="Calibri" pitchFamily="34" charset="-122"/>
                <a:cs typeface="Calibri" pitchFamily="34" charset="-120"/>
              </a:rPr>
              <a:t>ONE RAY AGAINST EIGHT SPHERES</a:t>
            </a:r>
            <a:endParaRPr lang="en-US" sz="850" dirty="0"/>
          </a:p>
        </p:txBody>
      </p:sp>
      <p:sp>
        <p:nvSpPr>
          <p:cNvPr id="20" name="Text 18"/>
          <p:cNvSpPr txBox="1"/>
          <p:nvPr/>
        </p:nvSpPr>
        <p:spPr>
          <a:xfrm>
            <a:off x="4535424" y="4078224"/>
            <a:ext cx="3118104" cy="384048"/>
          </a:xfrm>
          <a:prstGeom prst="rect">
            <a:avLst/>
          </a:prstGeom>
          <a:noFill/>
          <a:ln/>
        </p:spPr>
        <p:txBody>
          <a:bodyPr wrap="square" lIns="0" tIns="0" rIns="0" bIns="0" rtlCol="0" anchor="ctr"/>
          <a:lstStyle/>
          <a:p>
            <a:pPr indent="0" marL="0">
              <a:lnSpc>
                <a:spcPts val="1500"/>
              </a:lnSpc>
              <a:buNone/>
            </a:pPr>
            <a:r>
              <a:rPr lang="en-US" sz="1100" dirty="0">
                <a:solidFill>
                  <a:srgbClr val="1B2430"/>
                </a:solidFill>
                <a:latin typeface="Calibri" pitchFamily="34" charset="0"/>
                <a:ea typeface="Calibri" pitchFamily="34" charset="-122"/>
                <a:cs typeface="Calibri" pitchFamily="34" charset="-120"/>
              </a:rPr>
              <a:t>The same eight tests, on raw floats, with nothing allocated</a:t>
            </a:r>
            <a:endParaRPr lang="en-US" sz="1100" dirty="0"/>
          </a:p>
        </p:txBody>
      </p:sp>
      <p:sp>
        <p:nvSpPr>
          <p:cNvPr id="21" name="Text 19"/>
          <p:cNvSpPr txBox="1"/>
          <p:nvPr/>
        </p:nvSpPr>
        <p:spPr>
          <a:xfrm>
            <a:off x="8321040" y="3877056"/>
            <a:ext cx="3118104" cy="219456"/>
          </a:xfrm>
          <a:prstGeom prst="rect">
            <a:avLst/>
          </a:prstGeom>
          <a:noFill/>
          <a:ln/>
        </p:spPr>
        <p:txBody>
          <a:bodyPr wrap="square" lIns="0" tIns="0" rIns="0" bIns="0" rtlCol="0" anchor="ctr"/>
          <a:lstStyle/>
          <a:p>
            <a:pPr indent="0" marL="0">
              <a:buNone/>
            </a:pPr>
            <a:r>
              <a:rPr lang="en-US" sz="850" b="1" spc="100" kern="0" dirty="0">
                <a:solidFill>
                  <a:srgbClr val="8A97A6"/>
                </a:solidFill>
                <a:latin typeface="Calibri" pitchFamily="34" charset="0"/>
                <a:ea typeface="Calibri" pitchFamily="34" charset="-122"/>
                <a:cs typeface="Calibri" pitchFamily="34" charset="-120"/>
              </a:rPr>
              <a:t>ONE RAY AGAINST EIGHT SPHERES</a:t>
            </a:r>
            <a:endParaRPr lang="en-US" sz="850" dirty="0"/>
          </a:p>
        </p:txBody>
      </p:sp>
      <p:sp>
        <p:nvSpPr>
          <p:cNvPr id="22" name="Text 20"/>
          <p:cNvSpPr txBox="1"/>
          <p:nvPr/>
        </p:nvSpPr>
        <p:spPr>
          <a:xfrm>
            <a:off x="8321040" y="4078224"/>
            <a:ext cx="3118104" cy="384048"/>
          </a:xfrm>
          <a:prstGeom prst="rect">
            <a:avLst/>
          </a:prstGeom>
          <a:noFill/>
          <a:ln/>
        </p:spPr>
        <p:txBody>
          <a:bodyPr wrap="square" lIns="0" tIns="0" rIns="0" bIns="0" rtlCol="0" anchor="ctr"/>
          <a:lstStyle/>
          <a:p>
            <a:pPr indent="0" marL="0">
              <a:lnSpc>
                <a:spcPts val="1500"/>
              </a:lnSpc>
              <a:buNone/>
            </a:pPr>
            <a:r>
              <a:rPr lang="en-US" sz="1100" dirty="0">
                <a:solidFill>
                  <a:srgbClr val="FFFFFF"/>
                </a:solidFill>
                <a:latin typeface="Calibri" pitchFamily="34" charset="0"/>
                <a:ea typeface="Calibri" pitchFamily="34" charset="-122"/>
                <a:cs typeface="Calibri" pitchFamily="34" charset="-120"/>
              </a:rPr>
              <a:t>All eight at once; replicate the sqrt for 1 ray/cycle at ~8× its area</a:t>
            </a:r>
            <a:endParaRPr lang="en-US" sz="1100" dirty="0"/>
          </a:p>
        </p:txBody>
      </p:sp>
      <p:sp>
        <p:nvSpPr>
          <p:cNvPr id="23" name="Shape 21"/>
          <p:cNvSpPr/>
          <p:nvPr/>
        </p:nvSpPr>
        <p:spPr>
          <a:xfrm>
            <a:off x="749808" y="4498848"/>
            <a:ext cx="3118104" cy="237744"/>
          </a:xfrm>
          <a:prstGeom prst="roundRect">
            <a:avLst>
              <a:gd name="adj" fmla="val 153846"/>
            </a:avLst>
          </a:prstGeom>
          <a:solidFill>
            <a:srgbClr val="E8833A"/>
          </a:solidFill>
          <a:ln w="12700">
            <a:solidFill>
              <a:srgbClr val="E8833A"/>
            </a:solidFill>
            <a:prstDash val="solid"/>
          </a:ln>
        </p:spPr>
      </p:sp>
      <p:sp>
        <p:nvSpPr>
          <p:cNvPr id="24" name="Text 22"/>
          <p:cNvSpPr txBox="1"/>
          <p:nvPr/>
        </p:nvSpPr>
        <p:spPr>
          <a:xfrm>
            <a:off x="749808" y="4498848"/>
            <a:ext cx="311810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59.74% of runtime in float wrappers</a:t>
            </a:r>
            <a:endParaRPr lang="en-US" sz="900" dirty="0"/>
          </a:p>
        </p:txBody>
      </p:sp>
      <p:sp>
        <p:nvSpPr>
          <p:cNvPr id="25" name="Shape 23"/>
          <p:cNvSpPr/>
          <p:nvPr/>
        </p:nvSpPr>
        <p:spPr>
          <a:xfrm>
            <a:off x="4535424" y="4498848"/>
            <a:ext cx="3118104" cy="237744"/>
          </a:xfrm>
          <a:prstGeom prst="roundRect">
            <a:avLst>
              <a:gd name="adj" fmla="val 153846"/>
            </a:avLst>
          </a:prstGeom>
          <a:solidFill>
            <a:srgbClr val="2D9B8A"/>
          </a:solidFill>
          <a:ln w="12700">
            <a:solidFill>
              <a:srgbClr val="2D9B8A"/>
            </a:solidFill>
            <a:prstDash val="solid"/>
          </a:ln>
        </p:spPr>
      </p:sp>
      <p:sp>
        <p:nvSpPr>
          <p:cNvPr id="26" name="Text 24"/>
          <p:cNvSpPr txBox="1"/>
          <p:nvPr/>
        </p:nvSpPr>
        <p:spPr>
          <a:xfrm>
            <a:off x="4535424" y="4498848"/>
            <a:ext cx="311810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sequential — 2.78× fewer instructions</a:t>
            </a:r>
            <a:endParaRPr lang="en-US" sz="900" dirty="0"/>
          </a:p>
        </p:txBody>
      </p:sp>
      <p:sp>
        <p:nvSpPr>
          <p:cNvPr id="27" name="Shape 25"/>
          <p:cNvSpPr/>
          <p:nvPr/>
        </p:nvSpPr>
        <p:spPr>
          <a:xfrm>
            <a:off x="8321040" y="4498848"/>
            <a:ext cx="3118104" cy="237744"/>
          </a:xfrm>
          <a:prstGeom prst="roundRect">
            <a:avLst>
              <a:gd name="adj" fmla="val 153846"/>
            </a:avLst>
          </a:prstGeom>
          <a:solidFill>
            <a:srgbClr val="2D9B8A"/>
          </a:solidFill>
          <a:ln w="12700">
            <a:solidFill>
              <a:srgbClr val="2D9B8A"/>
            </a:solidFill>
            <a:prstDash val="solid"/>
          </a:ln>
        </p:spPr>
      </p:sp>
      <p:sp>
        <p:nvSpPr>
          <p:cNvPr id="28" name="Text 26"/>
          <p:cNvSpPr txBox="1"/>
          <p:nvPr/>
        </p:nvSpPr>
        <p:spPr>
          <a:xfrm>
            <a:off x="8321040" y="4498848"/>
            <a:ext cx="311810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intersection kernel only — shading stays on the CPU</a:t>
            </a:r>
            <a:endParaRPr lang="en-US" sz="900" dirty="0"/>
          </a:p>
        </p:txBody>
      </p:sp>
      <p:sp>
        <p:nvSpPr>
          <p:cNvPr id="29" name="Shape 27"/>
          <p:cNvSpPr/>
          <p:nvPr/>
        </p:nvSpPr>
        <p:spPr>
          <a:xfrm>
            <a:off x="548640" y="4901184"/>
            <a:ext cx="5394960" cy="987552"/>
          </a:xfrm>
          <a:prstGeom prst="roundRect">
            <a:avLst>
              <a:gd name="adj" fmla="val 5556"/>
            </a:avLst>
          </a:prstGeom>
          <a:solidFill>
            <a:srgbClr val="EAF6F3"/>
          </a:solidFill>
          <a:ln w="9525">
            <a:solidFill>
              <a:srgbClr val="DBE2E8"/>
            </a:solidFill>
            <a:prstDash val="solid"/>
          </a:ln>
        </p:spPr>
      </p:sp>
      <p:sp>
        <p:nvSpPr>
          <p:cNvPr id="30" name="Text 28"/>
          <p:cNvSpPr txBox="1"/>
          <p:nvPr/>
        </p:nvSpPr>
        <p:spPr>
          <a:xfrm>
            <a:off x="777240" y="4992624"/>
            <a:ext cx="4937760" cy="237744"/>
          </a:xfrm>
          <a:prstGeom prst="rect">
            <a:avLst/>
          </a:prstGeom>
          <a:noFill/>
          <a:ln/>
        </p:spPr>
        <p:txBody>
          <a:bodyPr wrap="square" lIns="0" tIns="0" rIns="0" bIns="0" rtlCol="0" anchor="ctr"/>
          <a:lstStyle/>
          <a:p>
            <a:pPr indent="0" marL="0">
              <a:buNone/>
            </a:pPr>
            <a:r>
              <a:rPr lang="en-US" sz="1000" b="1" spc="80" kern="0" dirty="0">
                <a:solidFill>
                  <a:srgbClr val="2D9B8A"/>
                </a:solidFill>
                <a:latin typeface="Calibri" pitchFamily="34" charset="0"/>
                <a:ea typeface="Calibri" pitchFamily="34" charset="-122"/>
                <a:cs typeface="Calibri" pitchFamily="34" charset="-120"/>
              </a:rPr>
              <a:t>MEASURED  ·  inside the course QEMU guest</a:t>
            </a:r>
            <a:endParaRPr lang="en-US" sz="1000" dirty="0"/>
          </a:p>
        </p:txBody>
      </p:sp>
      <p:sp>
        <p:nvSpPr>
          <p:cNvPr id="31" name="Text 29"/>
          <p:cNvSpPr txBox="1"/>
          <p:nvPr/>
        </p:nvSpPr>
        <p:spPr>
          <a:xfrm>
            <a:off x="777240" y="5230368"/>
            <a:ext cx="4937760" cy="548640"/>
          </a:xfrm>
          <a:prstGeom prst="rect">
            <a:avLst/>
          </a:prstGeom>
          <a:noFill/>
          <a:ln/>
        </p:spPr>
        <p:txBody>
          <a:bodyPr wrap="square" lIns="0" tIns="0" rIns="0" bIns="0" rtlCol="0" anchor="ctr"/>
          <a:lstStyle/>
          <a:p>
            <a:pPr indent="0" marL="0">
              <a:lnSpc>
                <a:spcPts val="1600"/>
              </a:lnSpc>
              <a:buNone/>
            </a:pPr>
            <a:r>
              <a:rPr lang="en-US" sz="1150" dirty="0">
                <a:solidFill>
                  <a:srgbClr val="1B2430"/>
                </a:solidFill>
                <a:latin typeface="Calibri" pitchFamily="34" charset="0"/>
                <a:ea typeface="Calibri" pitchFamily="34" charset="-122"/>
                <a:cs typeface="Calibri" pitchFamily="34" charset="-120"/>
              </a:rPr>
              <a:t>809 ms → 282 ms   ·   2.87× faster   ·   t = 315   ·   image bit-identical at seven resolutions</a:t>
            </a:r>
            <a:endParaRPr lang="en-US" sz="1150" dirty="0"/>
          </a:p>
        </p:txBody>
      </p:sp>
      <p:sp>
        <p:nvSpPr>
          <p:cNvPr id="32" name="Shape 30"/>
          <p:cNvSpPr/>
          <p:nvPr/>
        </p:nvSpPr>
        <p:spPr>
          <a:xfrm>
            <a:off x="6245352" y="4901184"/>
            <a:ext cx="5394960" cy="987552"/>
          </a:xfrm>
          <a:prstGeom prst="roundRect">
            <a:avLst>
              <a:gd name="adj" fmla="val 5556"/>
            </a:avLst>
          </a:prstGeom>
          <a:solidFill>
            <a:srgbClr val="FDF3EC"/>
          </a:solidFill>
          <a:ln w="9525">
            <a:solidFill>
              <a:srgbClr val="DBE2E8"/>
            </a:solidFill>
            <a:prstDash val="solid"/>
          </a:ln>
        </p:spPr>
      </p:sp>
      <p:sp>
        <p:nvSpPr>
          <p:cNvPr id="33" name="Text 31"/>
          <p:cNvSpPr txBox="1"/>
          <p:nvPr/>
        </p:nvSpPr>
        <p:spPr>
          <a:xfrm>
            <a:off x="6473952" y="4992624"/>
            <a:ext cx="4937760" cy="237744"/>
          </a:xfrm>
          <a:prstGeom prst="rect">
            <a:avLst/>
          </a:prstGeom>
          <a:noFill/>
          <a:ln/>
        </p:spPr>
        <p:txBody>
          <a:bodyPr wrap="square" lIns="0" tIns="0" rIns="0" bIns="0" rtlCol="0" anchor="ctr"/>
          <a:lstStyle/>
          <a:p>
            <a:pPr indent="0" marL="0">
              <a:buNone/>
            </a:pPr>
            <a:r>
              <a:rPr lang="en-US" sz="1000" b="1" spc="80" kern="0" dirty="0">
                <a:solidFill>
                  <a:srgbClr val="B3543F"/>
                </a:solidFill>
                <a:latin typeface="Calibri" pitchFamily="34" charset="0"/>
                <a:ea typeface="Calibri" pitchFamily="34" charset="-122"/>
                <a:cs typeface="Calibri" pitchFamily="34" charset="-120"/>
              </a:rPr>
              <a:t>ESTIMATED  ·  not an end-to-end measurement</a:t>
            </a:r>
            <a:endParaRPr lang="en-US" sz="1000" dirty="0"/>
          </a:p>
        </p:txBody>
      </p:sp>
      <p:sp>
        <p:nvSpPr>
          <p:cNvPr id="34" name="Text 32"/>
          <p:cNvSpPr txBox="1"/>
          <p:nvPr/>
        </p:nvSpPr>
        <p:spPr>
          <a:xfrm>
            <a:off x="6473952" y="5230368"/>
            <a:ext cx="4937760" cy="594360"/>
          </a:xfrm>
          <a:prstGeom prst="rect">
            <a:avLst/>
          </a:prstGeom>
          <a:noFill/>
          <a:ln/>
        </p:spPr>
        <p:txBody>
          <a:bodyPr wrap="square" lIns="0" tIns="0" rIns="0" bIns="0" rtlCol="0" anchor="ctr"/>
          <a:lstStyle/>
          <a:p>
            <a:pPr indent="0" marL="0">
              <a:lnSpc>
                <a:spcPts val="1400"/>
              </a:lnSpc>
              <a:buNone/>
            </a:pPr>
            <a:r>
              <a:rPr lang="en-US" sz="1000" dirty="0">
                <a:solidFill>
                  <a:srgbClr val="1B2430"/>
                </a:solidFill>
                <a:latin typeface="Calibri" pitchFamily="34" charset="0"/>
                <a:ea typeface="Calibri" pitchFamily="34" charset="-122"/>
                <a:cs typeface="Calibri" pitchFamily="34" charset="-120"/>
              </a:rPr>
              <a:t>~22 µs of array time per frame: 179,457 tests as ~22,432 ray-groups at 1 ray / 8 cycles, 1 GHz. Ray generation, shading and recursion stay on the CPU, and transfer overhead is excluded.</a:t>
            </a:r>
            <a:endParaRPr lang="en-US" sz="1000" dirty="0"/>
          </a:p>
        </p:txBody>
      </p:sp>
      <p:sp>
        <p:nvSpPr>
          <p:cNvPr id="35" name="Text 33"/>
          <p:cNvSpPr txBox="1"/>
          <p:nvPr/>
        </p:nvSpPr>
        <p:spPr>
          <a:xfrm>
            <a:off x="548640" y="5916168"/>
            <a:ext cx="11091672" cy="365760"/>
          </a:xfrm>
          <a:prstGeom prst="rect">
            <a:avLst/>
          </a:prstGeom>
          <a:noFill/>
          <a:ln/>
        </p:spPr>
        <p:txBody>
          <a:bodyPr wrap="square" lIns="0" tIns="0" rIns="0" bIns="0" rtlCol="0" anchor="ctr"/>
          <a:lstStyle/>
          <a:p>
            <a:pPr indent="0" marL="0">
              <a:buNone/>
            </a:pPr>
            <a:r>
              <a:rPr lang="en-US" sz="1100" i="1" dirty="0">
                <a:solidFill>
                  <a:srgbClr val="6B7785"/>
                </a:solidFill>
                <a:latin typeface="Calibri" pitchFamily="34" charset="0"/>
                <a:ea typeface="Calibri" pitchFamily="34" charset="-122"/>
                <a:cs typeface="Calibri" pitchFamily="34" charset="-120"/>
              </a:rPr>
              <a:t>Amdahl bounds it: intersection is 35.03% of the OPTIMIZED runtime, so even an infinitely fast unit caps a whole frame at 1 / (1 − 0.3503) = 1.54×.</a:t>
            </a:r>
            <a:endParaRPr lang="en-US" sz="1100" dirty="0"/>
          </a:p>
        </p:txBody>
      </p:sp>
      <p:sp>
        <p:nvSpPr>
          <p:cNvPr id="36" name="Text 34"/>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Lana</a:t>
            </a:r>
            <a:endParaRPr lang="en-US" sz="1000" dirty="0"/>
          </a:p>
        </p:txBody>
      </p:sp>
      <p:sp>
        <p:nvSpPr>
          <p:cNvPr id="37" name="Text 35"/>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2D9B8A"/>
                </a:solidFill>
                <a:latin typeface="Calibri" pitchFamily="34" charset="0"/>
                <a:ea typeface="Calibri" pitchFamily="34" charset="-122"/>
                <a:cs typeface="Calibri" pitchFamily="34" charset="-120"/>
              </a:rPr>
              <a:t>BENCHMARK 2  ·  RESULT</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2.87× faster — and a trap in reading counters</a:t>
            </a:r>
            <a:endParaRPr lang="en-US" sz="2900" dirty="0"/>
          </a:p>
        </p:txBody>
      </p:sp>
      <p:sp>
        <p:nvSpPr>
          <p:cNvPr id="4" name="Text 2"/>
          <p:cNvSpPr txBox="1"/>
          <p:nvPr/>
        </p:nvSpPr>
        <p:spPr>
          <a:xfrm>
            <a:off x="548640" y="1325880"/>
            <a:ext cx="2377440" cy="658368"/>
          </a:xfrm>
          <a:prstGeom prst="rect">
            <a:avLst/>
          </a:prstGeom>
          <a:noFill/>
          <a:ln/>
        </p:spPr>
        <p:txBody>
          <a:bodyPr wrap="square" lIns="0" tIns="0" rIns="0" bIns="0" rtlCol="0" anchor="ctr"/>
          <a:lstStyle/>
          <a:p>
            <a:pPr algn="ctr" indent="0" marL="0">
              <a:buNone/>
            </a:pPr>
            <a:r>
              <a:rPr lang="en-US" sz="4000" b="1" dirty="0">
                <a:solidFill>
                  <a:srgbClr val="E8833A"/>
                </a:solidFill>
                <a:latin typeface="Cambria" pitchFamily="34" charset="0"/>
                <a:ea typeface="Cambria" pitchFamily="34" charset="-122"/>
                <a:cs typeface="Cambria" pitchFamily="34" charset="-120"/>
              </a:rPr>
              <a:t>809 ms</a:t>
            </a:r>
            <a:endParaRPr lang="en-US" sz="4000" dirty="0"/>
          </a:p>
        </p:txBody>
      </p:sp>
      <p:sp>
        <p:nvSpPr>
          <p:cNvPr id="5" name="Text 3"/>
          <p:cNvSpPr txBox="1"/>
          <p:nvPr/>
        </p:nvSpPr>
        <p:spPr>
          <a:xfrm>
            <a:off x="548640" y="1984248"/>
            <a:ext cx="2377440" cy="274320"/>
          </a:xfrm>
          <a:prstGeom prst="rect">
            <a:avLst/>
          </a:prstGeom>
          <a:noFill/>
          <a:ln/>
        </p:spPr>
        <p:txBody>
          <a:bodyPr wrap="square" lIns="0" tIns="0" rIns="0" bIns="0" rtlCol="0" anchor="ctr"/>
          <a:lstStyle/>
          <a:p>
            <a:pPr algn="ctr" indent="0" marL="0">
              <a:buNone/>
            </a:pPr>
            <a:r>
              <a:rPr lang="en-US" sz="1100" dirty="0">
                <a:solidFill>
                  <a:srgbClr val="6B7785"/>
                </a:solidFill>
                <a:latin typeface="Calibri" pitchFamily="34" charset="0"/>
                <a:ea typeface="Calibri" pitchFamily="34" charset="-122"/>
                <a:cs typeface="Calibri" pitchFamily="34" charset="-120"/>
              </a:rPr>
              <a:t>baseline</a:t>
            </a:r>
            <a:endParaRPr lang="en-US" sz="1100" dirty="0"/>
          </a:p>
        </p:txBody>
      </p:sp>
      <p:sp>
        <p:nvSpPr>
          <p:cNvPr id="6" name="Shape 4"/>
          <p:cNvSpPr/>
          <p:nvPr/>
        </p:nvSpPr>
        <p:spPr>
          <a:xfrm>
            <a:off x="3063240" y="1645920"/>
            <a:ext cx="502920" cy="0"/>
          </a:xfrm>
          <a:prstGeom prst="line">
            <a:avLst/>
          </a:prstGeom>
          <a:noFill/>
          <a:ln w="22225">
            <a:solidFill>
              <a:srgbClr val="6B7785"/>
            </a:solidFill>
            <a:prstDash val="solid"/>
            <a:tailEnd type="triangle"/>
          </a:ln>
        </p:spPr>
      </p:sp>
      <p:sp>
        <p:nvSpPr>
          <p:cNvPr id="7" name="Text 5"/>
          <p:cNvSpPr txBox="1"/>
          <p:nvPr/>
        </p:nvSpPr>
        <p:spPr>
          <a:xfrm>
            <a:off x="3657600" y="1325880"/>
            <a:ext cx="2377440" cy="658368"/>
          </a:xfrm>
          <a:prstGeom prst="rect">
            <a:avLst/>
          </a:prstGeom>
          <a:noFill/>
          <a:ln/>
        </p:spPr>
        <p:txBody>
          <a:bodyPr wrap="square" lIns="0" tIns="0" rIns="0" bIns="0" rtlCol="0" anchor="ctr"/>
          <a:lstStyle/>
          <a:p>
            <a:pPr algn="ctr" indent="0" marL="0">
              <a:buNone/>
            </a:pPr>
            <a:r>
              <a:rPr lang="en-US" sz="4000" b="1" dirty="0">
                <a:solidFill>
                  <a:srgbClr val="2D9B8A"/>
                </a:solidFill>
                <a:latin typeface="Cambria" pitchFamily="34" charset="0"/>
                <a:ea typeface="Cambria" pitchFamily="34" charset="-122"/>
                <a:cs typeface="Cambria" pitchFamily="34" charset="-120"/>
              </a:rPr>
              <a:t>282 ms</a:t>
            </a:r>
            <a:endParaRPr lang="en-US" sz="4000" dirty="0"/>
          </a:p>
        </p:txBody>
      </p:sp>
      <p:sp>
        <p:nvSpPr>
          <p:cNvPr id="8" name="Text 6"/>
          <p:cNvSpPr txBox="1"/>
          <p:nvPr/>
        </p:nvSpPr>
        <p:spPr>
          <a:xfrm>
            <a:off x="3657600" y="1984248"/>
            <a:ext cx="2377440" cy="274320"/>
          </a:xfrm>
          <a:prstGeom prst="rect">
            <a:avLst/>
          </a:prstGeom>
          <a:noFill/>
          <a:ln/>
        </p:spPr>
        <p:txBody>
          <a:bodyPr wrap="square" lIns="0" tIns="0" rIns="0" bIns="0" rtlCol="0" anchor="ctr"/>
          <a:lstStyle/>
          <a:p>
            <a:pPr algn="ctr" indent="0" marL="0">
              <a:buNone/>
            </a:pPr>
            <a:r>
              <a:rPr lang="en-US" sz="1100" dirty="0">
                <a:solidFill>
                  <a:srgbClr val="6B7785"/>
                </a:solidFill>
                <a:latin typeface="Calibri" pitchFamily="34" charset="0"/>
                <a:ea typeface="Calibri" pitchFamily="34" charset="-122"/>
                <a:cs typeface="Calibri" pitchFamily="34" charset="-120"/>
              </a:rPr>
              <a:t>optimized</a:t>
            </a:r>
            <a:endParaRPr lang="en-US" sz="1100" dirty="0"/>
          </a:p>
        </p:txBody>
      </p:sp>
      <p:sp>
        <p:nvSpPr>
          <p:cNvPr id="9" name="Shape 7"/>
          <p:cNvSpPr/>
          <p:nvPr/>
        </p:nvSpPr>
        <p:spPr>
          <a:xfrm>
            <a:off x="6400800" y="1280160"/>
            <a:ext cx="2377440" cy="960120"/>
          </a:xfrm>
          <a:prstGeom prst="roundRect">
            <a:avLst>
              <a:gd name="adj" fmla="val 5714"/>
            </a:avLst>
          </a:prstGeom>
          <a:solidFill>
            <a:srgbClr val="2D9B8A"/>
          </a:solidFill>
          <a:ln w="12700">
            <a:solidFill>
              <a:srgbClr val="2D9B8A"/>
            </a:solidFill>
            <a:prstDash val="solid"/>
          </a:ln>
        </p:spPr>
      </p:sp>
      <p:sp>
        <p:nvSpPr>
          <p:cNvPr id="10" name="Text 8"/>
          <p:cNvSpPr txBox="1"/>
          <p:nvPr/>
        </p:nvSpPr>
        <p:spPr>
          <a:xfrm>
            <a:off x="6400800" y="1344168"/>
            <a:ext cx="2377440" cy="54864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2.87×</a:t>
            </a:r>
            <a:endParaRPr lang="en-US" sz="3200" dirty="0"/>
          </a:p>
        </p:txBody>
      </p:sp>
      <p:sp>
        <p:nvSpPr>
          <p:cNvPr id="11" name="Text 9"/>
          <p:cNvSpPr txBox="1"/>
          <p:nvPr/>
        </p:nvSpPr>
        <p:spPr>
          <a:xfrm>
            <a:off x="6400800" y="1874520"/>
            <a:ext cx="2377440" cy="274320"/>
          </a:xfrm>
          <a:prstGeom prst="rect">
            <a:avLst/>
          </a:prstGeom>
          <a:noFill/>
          <a:ln/>
        </p:spPr>
        <p:txBody>
          <a:bodyPr wrap="square" lIns="0" tIns="0" rIns="0" bIns="0" rtlCol="0" anchor="ctr"/>
          <a:lstStyle/>
          <a:p>
            <a:pPr algn="ctr" indent="0" marL="0">
              <a:buNone/>
            </a:pPr>
            <a:r>
              <a:rPr lang="en-US" sz="1100" dirty="0">
                <a:solidFill>
                  <a:srgbClr val="D6F0EA"/>
                </a:solidFill>
                <a:latin typeface="Calibri" pitchFamily="34" charset="0"/>
                <a:ea typeface="Calibri" pitchFamily="34" charset="-122"/>
                <a:cs typeface="Calibri" pitchFamily="34" charset="-120"/>
              </a:rPr>
              <a:t>65.1% cut  ·  t = 315</a:t>
            </a:r>
            <a:endParaRPr lang="en-US" sz="1100" dirty="0"/>
          </a:p>
        </p:txBody>
      </p:sp>
      <p:sp>
        <p:nvSpPr>
          <p:cNvPr id="12" name="Text 10"/>
          <p:cNvSpPr txBox="1"/>
          <p:nvPr/>
        </p:nvSpPr>
        <p:spPr>
          <a:xfrm>
            <a:off x="9098280" y="1325880"/>
            <a:ext cx="2560320" cy="914400"/>
          </a:xfrm>
          <a:prstGeom prst="rect">
            <a:avLst/>
          </a:prstGeom>
          <a:noFill/>
          <a:ln/>
        </p:spPr>
        <p:txBody>
          <a:bodyPr wrap="square" lIns="0" tIns="0" rIns="0" bIns="0" rtlCol="0" anchor="ctr"/>
          <a:lstStyle/>
          <a:p>
            <a:pPr indent="0" marL="0">
              <a:lnSpc>
                <a:spcPts val="1700"/>
              </a:lnSpc>
              <a:buNone/>
            </a:pPr>
            <a:r>
              <a:rPr lang="en-US" sz="1200" dirty="0">
                <a:solidFill>
                  <a:srgbClr val="6B7785"/>
                </a:solidFill>
                <a:latin typeface="Calibri" pitchFamily="34" charset="0"/>
                <a:ea typeface="Calibri" pitchFamily="34" charset="-122"/>
                <a:cs typeface="Calibri" pitchFamily="34" charset="-120"/>
              </a:rPr>
              <a:t>IPC 2.59 → 2.70</a:t>
            </a:r>
            <a:endParaRPr lang="en-US" sz="1200" dirty="0"/>
          </a:p>
          <a:p>
            <a:pPr indent="0" marL="0">
              <a:lnSpc>
                <a:spcPts val="1700"/>
              </a:lnSpc>
              <a:buNone/>
            </a:pPr>
            <a:r>
              <a:rPr lang="en-US" sz="1200" dirty="0">
                <a:solidFill>
                  <a:srgbClr val="6B7785"/>
                </a:solidFill>
                <a:latin typeface="Calibri" pitchFamily="34" charset="0"/>
                <a:ea typeface="Calibri" pitchFamily="34" charset="-122"/>
                <a:cs typeface="Calibri" pitchFamily="34" charset="-120"/>
              </a:rPr>
              <a:t>instructions 2.78× fewer</a:t>
            </a:r>
            <a:endParaRPr lang="en-US" sz="1200" dirty="0"/>
          </a:p>
          <a:p>
            <a:pPr indent="0" marL="0">
              <a:lnSpc>
                <a:spcPts val="1700"/>
              </a:lnSpc>
              <a:buNone/>
            </a:pPr>
            <a:r>
              <a:rPr lang="en-US" sz="1200" dirty="0">
                <a:solidFill>
                  <a:srgbClr val="6B7785"/>
                </a:solidFill>
                <a:latin typeface="Calibri" pitchFamily="34" charset="0"/>
                <a:ea typeface="Calibri" pitchFamily="34" charset="-122"/>
                <a:cs typeface="Calibri" pitchFamily="34" charset="-120"/>
              </a:rPr>
              <a:t>Same story as pyflate.</a:t>
            </a:r>
            <a:endParaRPr lang="en-US" sz="1200" dirty="0"/>
          </a:p>
        </p:txBody>
      </p:sp>
      <p:sp>
        <p:nvSpPr>
          <p:cNvPr id="13" name="Shape 11"/>
          <p:cNvSpPr/>
          <p:nvPr/>
        </p:nvSpPr>
        <p:spPr>
          <a:xfrm>
            <a:off x="548640" y="2514600"/>
            <a:ext cx="11091672" cy="3291840"/>
          </a:xfrm>
          <a:prstGeom prst="roundRect">
            <a:avLst>
              <a:gd name="adj" fmla="val 1667"/>
            </a:avLst>
          </a:prstGeom>
          <a:solidFill>
            <a:srgbClr val="1B2430"/>
          </a:solidFill>
          <a:ln w="12700">
            <a:solidFill>
              <a:srgbClr val="1B2430"/>
            </a:solidFill>
            <a:prstDash val="solid"/>
          </a:ln>
        </p:spPr>
      </p:sp>
      <p:sp>
        <p:nvSpPr>
          <p:cNvPr id="14" name="Text 12"/>
          <p:cNvSpPr txBox="1"/>
          <p:nvPr/>
        </p:nvSpPr>
        <p:spPr>
          <a:xfrm>
            <a:off x="868680" y="2697480"/>
            <a:ext cx="10424160" cy="320040"/>
          </a:xfrm>
          <a:prstGeom prst="rect">
            <a:avLst/>
          </a:prstGeom>
          <a:noFill/>
          <a:ln/>
        </p:spPr>
        <p:txBody>
          <a:bodyPr wrap="square" lIns="0" tIns="0" rIns="0" bIns="0" rtlCol="0" anchor="ctr"/>
          <a:lstStyle/>
          <a:p>
            <a:pPr indent="0" marL="0">
              <a:buNone/>
            </a:pPr>
            <a:r>
              <a:rPr lang="en-US" sz="1600" b="1" dirty="0">
                <a:solidFill>
                  <a:srgbClr val="E8833A"/>
                </a:solidFill>
                <a:latin typeface="Calibri" pitchFamily="34" charset="0"/>
                <a:ea typeface="Calibri" pitchFamily="34" charset="-122"/>
                <a:cs typeface="Calibri" pitchFamily="34" charset="-120"/>
              </a:rPr>
              <a:t>One row looks like a regression — and is not</a:t>
            </a:r>
            <a:endParaRPr lang="en-US" sz="1600" dirty="0"/>
          </a:p>
        </p:txBody>
      </p:sp>
      <p:sp>
        <p:nvSpPr>
          <p:cNvPr id="15" name="Text 13"/>
          <p:cNvSpPr txBox="1"/>
          <p:nvPr/>
        </p:nvSpPr>
        <p:spPr>
          <a:xfrm>
            <a:off x="868680" y="3200400"/>
            <a:ext cx="3200400" cy="320040"/>
          </a:xfrm>
          <a:prstGeom prst="rect">
            <a:avLst/>
          </a:prstGeom>
          <a:noFill/>
          <a:ln/>
        </p:spPr>
        <p:txBody>
          <a:bodyPr wrap="square" lIns="0" tIns="0" rIns="0" bIns="0" rtlCol="0" anchor="ctr"/>
          <a:lstStyle/>
          <a:p>
            <a:pPr indent="0" marL="0">
              <a:buNone/>
            </a:pPr>
            <a:r>
              <a:rPr lang="en-US" sz="1250" dirty="0">
                <a:solidFill>
                  <a:srgbClr val="E8EDF2"/>
                </a:solidFill>
                <a:latin typeface="Courier New" pitchFamily="34" charset="0"/>
                <a:ea typeface="Courier New" pitchFamily="34" charset="-122"/>
                <a:cs typeface="Courier New" pitchFamily="34" charset="-120"/>
              </a:rPr>
              <a:t>cache-miss RATE</a:t>
            </a:r>
            <a:endParaRPr lang="en-US" sz="1250" dirty="0"/>
          </a:p>
        </p:txBody>
      </p:sp>
      <p:sp>
        <p:nvSpPr>
          <p:cNvPr id="16" name="Text 14"/>
          <p:cNvSpPr txBox="1"/>
          <p:nvPr/>
        </p:nvSpPr>
        <p:spPr>
          <a:xfrm>
            <a:off x="4069080" y="3200400"/>
            <a:ext cx="2194560" cy="32004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1.02%</a:t>
            </a:r>
            <a:endParaRPr lang="en-US" sz="1250" dirty="0"/>
          </a:p>
        </p:txBody>
      </p:sp>
      <p:sp>
        <p:nvSpPr>
          <p:cNvPr id="17" name="Text 15"/>
          <p:cNvSpPr txBox="1"/>
          <p:nvPr/>
        </p:nvSpPr>
        <p:spPr>
          <a:xfrm>
            <a:off x="6263640" y="3200400"/>
            <a:ext cx="2194560" cy="32004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2.91%</a:t>
            </a:r>
            <a:endParaRPr lang="en-US" sz="1250" dirty="0"/>
          </a:p>
        </p:txBody>
      </p:sp>
      <p:sp>
        <p:nvSpPr>
          <p:cNvPr id="18" name="Text 16"/>
          <p:cNvSpPr txBox="1"/>
          <p:nvPr/>
        </p:nvSpPr>
        <p:spPr>
          <a:xfrm>
            <a:off x="8458200" y="3200400"/>
            <a:ext cx="2743200" cy="320040"/>
          </a:xfrm>
          <a:prstGeom prst="rect">
            <a:avLst/>
          </a:prstGeom>
          <a:noFill/>
          <a:ln/>
        </p:spPr>
        <p:txBody>
          <a:bodyPr wrap="square" lIns="0" tIns="0" rIns="0" bIns="0" rtlCol="0" anchor="ctr"/>
          <a:lstStyle/>
          <a:p>
            <a:pPr indent="0" marL="0">
              <a:buNone/>
            </a:pPr>
            <a:r>
              <a:rPr lang="en-US" sz="1250" b="1" dirty="0">
                <a:solidFill>
                  <a:srgbClr val="E8833A"/>
                </a:solidFill>
                <a:latin typeface="Calibri" pitchFamily="34" charset="0"/>
                <a:ea typeface="Calibri" pitchFamily="34" charset="-122"/>
                <a:cs typeface="Calibri" pitchFamily="34" charset="-120"/>
              </a:rPr>
              <a:t>WORSE</a:t>
            </a:r>
            <a:endParaRPr lang="en-US" sz="1250" dirty="0"/>
          </a:p>
        </p:txBody>
      </p:sp>
      <p:sp>
        <p:nvSpPr>
          <p:cNvPr id="19" name="Text 17"/>
          <p:cNvSpPr txBox="1"/>
          <p:nvPr/>
        </p:nvSpPr>
        <p:spPr>
          <a:xfrm>
            <a:off x="868680" y="3639312"/>
            <a:ext cx="3200400" cy="320040"/>
          </a:xfrm>
          <a:prstGeom prst="rect">
            <a:avLst/>
          </a:prstGeom>
          <a:noFill/>
          <a:ln/>
        </p:spPr>
        <p:txBody>
          <a:bodyPr wrap="square" lIns="0" tIns="0" rIns="0" bIns="0" rtlCol="0" anchor="ctr"/>
          <a:lstStyle/>
          <a:p>
            <a:pPr indent="0" marL="0">
              <a:buNone/>
            </a:pPr>
            <a:r>
              <a:rPr lang="en-US" sz="1250" dirty="0">
                <a:solidFill>
                  <a:srgbClr val="E8EDF2"/>
                </a:solidFill>
                <a:latin typeface="Courier New" pitchFamily="34" charset="0"/>
                <a:ea typeface="Courier New" pitchFamily="34" charset="-122"/>
                <a:cs typeface="Courier New" pitchFamily="34" charset="-120"/>
              </a:rPr>
              <a:t>cache REFERENCES</a:t>
            </a:r>
            <a:endParaRPr lang="en-US" sz="1250" dirty="0"/>
          </a:p>
        </p:txBody>
      </p:sp>
      <p:sp>
        <p:nvSpPr>
          <p:cNvPr id="20" name="Text 18"/>
          <p:cNvSpPr txBox="1"/>
          <p:nvPr/>
        </p:nvSpPr>
        <p:spPr>
          <a:xfrm>
            <a:off x="4069080" y="3639312"/>
            <a:ext cx="2194560" cy="32004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18.7 M</a:t>
            </a:r>
            <a:endParaRPr lang="en-US" sz="1250" dirty="0"/>
          </a:p>
        </p:txBody>
      </p:sp>
      <p:sp>
        <p:nvSpPr>
          <p:cNvPr id="21" name="Text 19"/>
          <p:cNvSpPr txBox="1"/>
          <p:nvPr/>
        </p:nvSpPr>
        <p:spPr>
          <a:xfrm>
            <a:off x="6263640" y="3639312"/>
            <a:ext cx="2194560" cy="32004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3.00 M</a:t>
            </a:r>
            <a:endParaRPr lang="en-US" sz="1250" dirty="0"/>
          </a:p>
        </p:txBody>
      </p:sp>
      <p:sp>
        <p:nvSpPr>
          <p:cNvPr id="22" name="Text 20"/>
          <p:cNvSpPr txBox="1"/>
          <p:nvPr/>
        </p:nvSpPr>
        <p:spPr>
          <a:xfrm>
            <a:off x="8458200" y="3639312"/>
            <a:ext cx="2743200" cy="320040"/>
          </a:xfrm>
          <a:prstGeom prst="rect">
            <a:avLst/>
          </a:prstGeom>
          <a:noFill/>
          <a:ln/>
        </p:spPr>
        <p:txBody>
          <a:bodyPr wrap="square" lIns="0" tIns="0" rIns="0" bIns="0" rtlCol="0" anchor="ctr"/>
          <a:lstStyle/>
          <a:p>
            <a:pPr indent="0" marL="0">
              <a:buNone/>
            </a:pPr>
            <a:r>
              <a:rPr lang="en-US" sz="1250" b="1" dirty="0">
                <a:solidFill>
                  <a:srgbClr val="2D9B8A"/>
                </a:solidFill>
                <a:latin typeface="Calibri" pitchFamily="34" charset="0"/>
                <a:ea typeface="Calibri" pitchFamily="34" charset="-122"/>
                <a:cs typeface="Calibri" pitchFamily="34" charset="-120"/>
              </a:rPr>
              <a:t>6.23× fewer</a:t>
            </a:r>
            <a:endParaRPr lang="en-US" sz="1250" dirty="0"/>
          </a:p>
        </p:txBody>
      </p:sp>
      <p:sp>
        <p:nvSpPr>
          <p:cNvPr id="23" name="Text 21"/>
          <p:cNvSpPr txBox="1"/>
          <p:nvPr/>
        </p:nvSpPr>
        <p:spPr>
          <a:xfrm>
            <a:off x="868680" y="4078224"/>
            <a:ext cx="3200400" cy="320040"/>
          </a:xfrm>
          <a:prstGeom prst="rect">
            <a:avLst/>
          </a:prstGeom>
          <a:noFill/>
          <a:ln/>
        </p:spPr>
        <p:txBody>
          <a:bodyPr wrap="square" lIns="0" tIns="0" rIns="0" bIns="0" rtlCol="0" anchor="ctr"/>
          <a:lstStyle/>
          <a:p>
            <a:pPr indent="0" marL="0">
              <a:buNone/>
            </a:pPr>
            <a:r>
              <a:rPr lang="en-US" sz="1250" dirty="0">
                <a:solidFill>
                  <a:srgbClr val="E8EDF2"/>
                </a:solidFill>
                <a:latin typeface="Courier New" pitchFamily="34" charset="0"/>
                <a:ea typeface="Courier New" pitchFamily="34" charset="-122"/>
                <a:cs typeface="Courier New" pitchFamily="34" charset="-120"/>
              </a:rPr>
              <a:t>cache MISSES</a:t>
            </a:r>
            <a:endParaRPr lang="en-US" sz="1250" dirty="0"/>
          </a:p>
        </p:txBody>
      </p:sp>
      <p:sp>
        <p:nvSpPr>
          <p:cNvPr id="24" name="Text 22"/>
          <p:cNvSpPr txBox="1"/>
          <p:nvPr/>
        </p:nvSpPr>
        <p:spPr>
          <a:xfrm>
            <a:off x="4069080" y="4078224"/>
            <a:ext cx="2194560" cy="32004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190 K</a:t>
            </a:r>
            <a:endParaRPr lang="en-US" sz="1250" dirty="0"/>
          </a:p>
        </p:txBody>
      </p:sp>
      <p:sp>
        <p:nvSpPr>
          <p:cNvPr id="25" name="Text 23"/>
          <p:cNvSpPr txBox="1"/>
          <p:nvPr/>
        </p:nvSpPr>
        <p:spPr>
          <a:xfrm>
            <a:off x="6263640" y="4078224"/>
            <a:ext cx="2194560" cy="32004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87 K</a:t>
            </a:r>
            <a:endParaRPr lang="en-US" sz="1250" dirty="0"/>
          </a:p>
        </p:txBody>
      </p:sp>
      <p:sp>
        <p:nvSpPr>
          <p:cNvPr id="26" name="Text 24"/>
          <p:cNvSpPr txBox="1"/>
          <p:nvPr/>
        </p:nvSpPr>
        <p:spPr>
          <a:xfrm>
            <a:off x="8458200" y="4078224"/>
            <a:ext cx="2743200" cy="320040"/>
          </a:xfrm>
          <a:prstGeom prst="rect">
            <a:avLst/>
          </a:prstGeom>
          <a:noFill/>
          <a:ln/>
        </p:spPr>
        <p:txBody>
          <a:bodyPr wrap="square" lIns="0" tIns="0" rIns="0" bIns="0" rtlCol="0" anchor="ctr"/>
          <a:lstStyle/>
          <a:p>
            <a:pPr indent="0" marL="0">
              <a:buNone/>
            </a:pPr>
            <a:r>
              <a:rPr lang="en-US" sz="1250" b="1" dirty="0">
                <a:solidFill>
                  <a:srgbClr val="2D9B8A"/>
                </a:solidFill>
                <a:latin typeface="Calibri" pitchFamily="34" charset="0"/>
                <a:ea typeface="Calibri" pitchFamily="34" charset="-122"/>
                <a:cs typeface="Calibri" pitchFamily="34" charset="-120"/>
              </a:rPr>
              <a:t>2.18× fewer</a:t>
            </a:r>
            <a:endParaRPr lang="en-US" sz="1250" dirty="0"/>
          </a:p>
        </p:txBody>
      </p:sp>
      <p:sp>
        <p:nvSpPr>
          <p:cNvPr id="27" name="Text 25"/>
          <p:cNvSpPr txBox="1"/>
          <p:nvPr/>
        </p:nvSpPr>
        <p:spPr>
          <a:xfrm>
            <a:off x="868680" y="4572000"/>
            <a:ext cx="10424160" cy="685800"/>
          </a:xfrm>
          <a:prstGeom prst="rect">
            <a:avLst/>
          </a:prstGeom>
          <a:noFill/>
          <a:ln/>
        </p:spPr>
        <p:txBody>
          <a:bodyPr wrap="square" lIns="0" tIns="0" rIns="0" bIns="0" rtlCol="0" anchor="ctr"/>
          <a:lstStyle/>
          <a:p>
            <a:pPr indent="0" marL="0">
              <a:lnSpc>
                <a:spcPts val="1700"/>
              </a:lnSpc>
              <a:buNone/>
            </a:pPr>
            <a:r>
              <a:rPr lang="en-US" sz="1250" dirty="0">
                <a:solidFill>
                  <a:srgbClr val="AFBECD"/>
                </a:solidFill>
                <a:latin typeface="Calibri" pitchFamily="34" charset="0"/>
                <a:ea typeface="Calibri" pitchFamily="34" charset="-122"/>
                <a:cs typeface="Calibri" pitchFamily="34" charset="-120"/>
              </a:rPr>
              <a:t>The optimized code makes 6.23× fewer cache REFERENCES, because it no longer allocates and chases a swarm of short-lived Vector objects. The references that remain are the genuinely cold ones — so the ratio of misses to references rises even though the machine stalls far less often.</a:t>
            </a:r>
            <a:endParaRPr lang="en-US" sz="1250" dirty="0"/>
          </a:p>
        </p:txBody>
      </p:sp>
      <p:sp>
        <p:nvSpPr>
          <p:cNvPr id="28" name="Text 26"/>
          <p:cNvSpPr txBox="1"/>
          <p:nvPr/>
        </p:nvSpPr>
        <p:spPr>
          <a:xfrm>
            <a:off x="868680" y="5285232"/>
            <a:ext cx="10424160" cy="475488"/>
          </a:xfrm>
          <a:prstGeom prst="rect">
            <a:avLst/>
          </a:prstGeom>
          <a:noFill/>
          <a:ln/>
        </p:spPr>
        <p:txBody>
          <a:bodyPr wrap="square" lIns="0" tIns="0" rIns="0" bIns="0" rtlCol="0" anchor="ctr"/>
          <a:lstStyle/>
          <a:p>
            <a:pPr indent="0" marL="0">
              <a:buNone/>
            </a:pPr>
            <a:r>
              <a:rPr lang="en-US" sz="1300" b="1" i="1" dirty="0">
                <a:solidFill>
                  <a:srgbClr val="FFFFFF"/>
                </a:solidFill>
                <a:latin typeface="Calibri" pitchFamily="34" charset="0"/>
                <a:ea typeface="Calibri" pitchFamily="34" charset="-122"/>
                <a:cs typeface="Calibri" pitchFamily="34" charset="-120"/>
              </a:rPr>
              <a:t>This is the same trap the course's own perf tutorial sets with row-major vs column-major traversal. A rate is not a performance metric; misses per unit of work is.</a:t>
            </a:r>
            <a:endParaRPr lang="en-US" sz="1300" dirty="0"/>
          </a:p>
        </p:txBody>
      </p:sp>
      <p:sp>
        <p:nvSpPr>
          <p:cNvPr id="29" name="Text 27"/>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Lana</a:t>
            </a:r>
            <a:endParaRPr lang="en-US" sz="1000" dirty="0"/>
          </a:p>
        </p:txBody>
      </p:sp>
      <p:sp>
        <p:nvSpPr>
          <p:cNvPr id="30" name="Text 28"/>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E8833A"/>
                </a:solidFill>
                <a:latin typeface="Calibri" pitchFamily="34" charset="0"/>
                <a:ea typeface="Calibri" pitchFamily="34" charset="-122"/>
                <a:cs typeface="Calibri" pitchFamily="34" charset="-120"/>
              </a:rPr>
              <a:t>BENCHMARK 2  ·  HARDWARE</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The square root is the real design decision</a:t>
            </a:r>
            <a:endParaRPr lang="en-US" sz="2900" dirty="0"/>
          </a:p>
        </p:txBody>
      </p:sp>
      <p:sp>
        <p:nvSpPr>
          <p:cNvPr id="4" name="Text 2"/>
          <p:cNvSpPr txBox="1"/>
          <p:nvPr/>
        </p:nvSpPr>
        <p:spPr>
          <a:xfrm>
            <a:off x="548640" y="1325880"/>
            <a:ext cx="11091672" cy="502920"/>
          </a:xfrm>
          <a:prstGeom prst="rect">
            <a:avLst/>
          </a:prstGeom>
          <a:noFill/>
          <a:ln/>
        </p:spPr>
        <p:txBody>
          <a:bodyPr wrap="square" lIns="0" tIns="0" rIns="0" bIns="0" rtlCol="0" anchor="ctr"/>
          <a:lstStyle/>
          <a:p>
            <a:pPr indent="0" marL="0">
              <a:lnSpc>
                <a:spcPts val="1800"/>
              </a:lnSpc>
              <a:buNone/>
            </a:pPr>
            <a:r>
              <a:rPr lang="en-US" sz="1350" dirty="0">
                <a:solidFill>
                  <a:srgbClr val="1B2430"/>
                </a:solidFill>
                <a:latin typeface="Calibri" pitchFamily="34" charset="0"/>
                <a:ea typeface="Calibri" pitchFamily="34" charset="-122"/>
                <a:cs typeface="Calibri" pitchFamily="34" charset="-120"/>
              </a:rPr>
              <a:t>Not the multipliers. fp32_sqrt is 24 pipeline stages — by far the largest block — so whether it is shared or replicated sets both the throughput and roughly half the array area.</a:t>
            </a:r>
            <a:endParaRPr lang="en-US" sz="1350" dirty="0"/>
          </a:p>
        </p:txBody>
      </p:sp>
      <p:sp>
        <p:nvSpPr>
          <p:cNvPr id="5" name="Shape 3"/>
          <p:cNvSpPr/>
          <p:nvPr/>
        </p:nvSpPr>
        <p:spPr>
          <a:xfrm>
            <a:off x="548640" y="1965960"/>
            <a:ext cx="5394960" cy="1965960"/>
          </a:xfrm>
          <a:prstGeom prst="roundRect">
            <a:avLst>
              <a:gd name="adj" fmla="val 2791"/>
            </a:avLst>
          </a:prstGeom>
          <a:solidFill>
            <a:srgbClr val="F3F6F8"/>
          </a:solidFill>
          <a:ln w="9525">
            <a:solidFill>
              <a:srgbClr val="DBE2E8"/>
            </a:solidFill>
            <a:prstDash val="solid"/>
          </a:ln>
        </p:spPr>
      </p:sp>
      <p:sp>
        <p:nvSpPr>
          <p:cNvPr id="6" name="Text 4"/>
          <p:cNvSpPr txBox="1"/>
          <p:nvPr/>
        </p:nvSpPr>
        <p:spPr>
          <a:xfrm>
            <a:off x="822960" y="2121408"/>
            <a:ext cx="4846320" cy="292608"/>
          </a:xfrm>
          <a:prstGeom prst="rect">
            <a:avLst/>
          </a:prstGeom>
          <a:noFill/>
          <a:ln/>
        </p:spPr>
        <p:txBody>
          <a:bodyPr wrap="square" lIns="0" tIns="0" rIns="0" bIns="0" rtlCol="0" anchor="ctr"/>
          <a:lstStyle/>
          <a:p>
            <a:pPr indent="0" marL="0">
              <a:buNone/>
            </a:pPr>
            <a:r>
              <a:rPr lang="en-US" sz="1500" b="1" dirty="0">
                <a:solidFill>
                  <a:srgbClr val="2D9B8A"/>
                </a:solidFill>
                <a:latin typeface="Calibri" pitchFamily="34" charset="0"/>
                <a:ea typeface="Calibri" pitchFamily="34" charset="-122"/>
                <a:cs typeface="Calibri" pitchFamily="34" charset="-120"/>
              </a:rPr>
              <a:t>Shared  (what we built)</a:t>
            </a:r>
            <a:endParaRPr lang="en-US" sz="1500" dirty="0"/>
          </a:p>
        </p:txBody>
      </p:sp>
      <p:sp>
        <p:nvSpPr>
          <p:cNvPr id="7" name="Text 5"/>
          <p:cNvSpPr txBox="1"/>
          <p:nvPr/>
        </p:nvSpPr>
        <p:spPr>
          <a:xfrm>
            <a:off x="822960" y="2468880"/>
            <a:ext cx="4846320" cy="274320"/>
          </a:xfrm>
          <a:prstGeom prst="rect">
            <a:avLst/>
          </a:prstGeom>
          <a:noFill/>
          <a:ln/>
        </p:spPr>
        <p:txBody>
          <a:bodyPr wrap="square" lIns="0" tIns="0" rIns="0" bIns="0" rtlCol="0" anchor="ctr"/>
          <a:lstStyle/>
          <a:p>
            <a:pPr indent="0" marL="0">
              <a:buNone/>
            </a:pPr>
            <a:r>
              <a:rPr lang="en-US" sz="1300" dirty="0">
                <a:solidFill>
                  <a:srgbClr val="1B2430"/>
                </a:solidFill>
                <a:latin typeface="Courier New" pitchFamily="34" charset="0"/>
                <a:ea typeface="Courier New" pitchFamily="34" charset="-122"/>
                <a:cs typeface="Courier New" pitchFamily="34" charset="-120"/>
              </a:rPr>
              <a:t>1 sqrt unit  ·  1 ray / 8 cycles</a:t>
            </a:r>
            <a:endParaRPr lang="en-US" sz="1300" dirty="0"/>
          </a:p>
        </p:txBody>
      </p:sp>
      <p:sp>
        <p:nvSpPr>
          <p:cNvPr id="8" name="Text 6"/>
          <p:cNvSpPr txBox="1"/>
          <p:nvPr/>
        </p:nvSpPr>
        <p:spPr>
          <a:xfrm>
            <a:off x="822960" y="2788920"/>
            <a:ext cx="4846320" cy="960120"/>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Smallest area. The sqrt sets the throughput: 8 spheres must drain through one pipeline before the next ray enters.</a:t>
            </a:r>
            <a:endParaRPr lang="en-US" sz="1200" dirty="0"/>
          </a:p>
        </p:txBody>
      </p:sp>
      <p:sp>
        <p:nvSpPr>
          <p:cNvPr id="9" name="Shape 7"/>
          <p:cNvSpPr/>
          <p:nvPr/>
        </p:nvSpPr>
        <p:spPr>
          <a:xfrm>
            <a:off x="6245352" y="1965960"/>
            <a:ext cx="5394960" cy="1965960"/>
          </a:xfrm>
          <a:prstGeom prst="roundRect">
            <a:avLst>
              <a:gd name="adj" fmla="val 2791"/>
            </a:avLst>
          </a:prstGeom>
          <a:solidFill>
            <a:srgbClr val="F3F6F8"/>
          </a:solidFill>
          <a:ln w="9525">
            <a:solidFill>
              <a:srgbClr val="DBE2E8"/>
            </a:solidFill>
            <a:prstDash val="solid"/>
          </a:ln>
        </p:spPr>
      </p:sp>
      <p:sp>
        <p:nvSpPr>
          <p:cNvPr id="10" name="Text 8"/>
          <p:cNvSpPr txBox="1"/>
          <p:nvPr/>
        </p:nvSpPr>
        <p:spPr>
          <a:xfrm>
            <a:off x="6519672" y="2121408"/>
            <a:ext cx="4846320" cy="292608"/>
          </a:xfrm>
          <a:prstGeom prst="rect">
            <a:avLst/>
          </a:prstGeom>
          <a:noFill/>
          <a:ln/>
        </p:spPr>
        <p:txBody>
          <a:bodyPr wrap="square" lIns="0" tIns="0" rIns="0" bIns="0" rtlCol="0" anchor="ctr"/>
          <a:lstStyle/>
          <a:p>
            <a:pPr indent="0" marL="0">
              <a:buNone/>
            </a:pPr>
            <a:r>
              <a:rPr lang="en-US" sz="1500" b="1" dirty="0">
                <a:solidFill>
                  <a:srgbClr val="E8833A"/>
                </a:solidFill>
                <a:latin typeface="Calibri" pitchFamily="34" charset="0"/>
                <a:ea typeface="Calibri" pitchFamily="34" charset="-122"/>
                <a:cs typeface="Calibri" pitchFamily="34" charset="-120"/>
              </a:rPr>
              <a:t>Replicated  (also buildable)</a:t>
            </a:r>
            <a:endParaRPr lang="en-US" sz="1500" dirty="0"/>
          </a:p>
        </p:txBody>
      </p:sp>
      <p:sp>
        <p:nvSpPr>
          <p:cNvPr id="11" name="Text 9"/>
          <p:cNvSpPr txBox="1"/>
          <p:nvPr/>
        </p:nvSpPr>
        <p:spPr>
          <a:xfrm>
            <a:off x="6519672" y="2468880"/>
            <a:ext cx="4846320" cy="274320"/>
          </a:xfrm>
          <a:prstGeom prst="rect">
            <a:avLst/>
          </a:prstGeom>
          <a:noFill/>
          <a:ln/>
        </p:spPr>
        <p:txBody>
          <a:bodyPr wrap="square" lIns="0" tIns="0" rIns="0" bIns="0" rtlCol="0" anchor="ctr"/>
          <a:lstStyle/>
          <a:p>
            <a:pPr indent="0" marL="0">
              <a:buNone/>
            </a:pPr>
            <a:r>
              <a:rPr lang="en-US" sz="1300" dirty="0">
                <a:solidFill>
                  <a:srgbClr val="1B2430"/>
                </a:solidFill>
                <a:latin typeface="Courier New" pitchFamily="34" charset="0"/>
                <a:ea typeface="Courier New" pitchFamily="34" charset="-122"/>
                <a:cs typeface="Courier New" pitchFamily="34" charset="-120"/>
              </a:rPr>
              <a:t>8 sqrt units  ·  1 ray / 1 cycle</a:t>
            </a:r>
            <a:endParaRPr lang="en-US" sz="1300" dirty="0"/>
          </a:p>
        </p:txBody>
      </p:sp>
      <p:sp>
        <p:nvSpPr>
          <p:cNvPr id="12" name="Text 10"/>
          <p:cNvSpPr txBox="1"/>
          <p:nvPr/>
        </p:nvSpPr>
        <p:spPr>
          <a:xfrm>
            <a:off x="6519672" y="2788920"/>
            <a:ext cx="4846320" cy="960120"/>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8× the throughput for roughly double the total array area. The design is parameterized, so both points on the curve are real.</a:t>
            </a:r>
            <a:endParaRPr lang="en-US" sz="1200" dirty="0"/>
          </a:p>
        </p:txBody>
      </p:sp>
      <p:sp>
        <p:nvSpPr>
          <p:cNvPr id="13" name="Text 11"/>
          <p:cNvSpPr txBox="1"/>
          <p:nvPr/>
        </p:nvSpPr>
        <p:spPr>
          <a:xfrm>
            <a:off x="548640" y="4114800"/>
            <a:ext cx="11091672" cy="29260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 second knob: accuracy against area</a:t>
            </a:r>
            <a:endParaRPr lang="en-US" sz="1400" dirty="0"/>
          </a:p>
        </p:txBody>
      </p:sp>
      <p:sp>
        <p:nvSpPr>
          <p:cNvPr id="14" name="Text 12"/>
          <p:cNvSpPr txBox="1"/>
          <p:nvPr/>
        </p:nvSpPr>
        <p:spPr>
          <a:xfrm>
            <a:off x="548640" y="4434840"/>
            <a:ext cx="11091672" cy="868680"/>
          </a:xfrm>
          <a:prstGeom prst="rect">
            <a:avLst/>
          </a:prstGeom>
          <a:noFill/>
          <a:ln/>
        </p:spPr>
        <p:txBody>
          <a:bodyPr wrap="square" lIns="0" tIns="0" rIns="0" bIns="0" rtlCol="0" anchor="ctr"/>
          <a:lstStyle/>
          <a:p>
            <a:pPr indent="0" marL="0">
              <a:lnSpc>
                <a:spcPts val="1800"/>
              </a:lnSpc>
              <a:buNone/>
            </a:pPr>
            <a:r>
              <a:rPr lang="en-US" sz="1300" dirty="0">
                <a:solidFill>
                  <a:srgbClr val="1B2430"/>
                </a:solidFill>
                <a:latin typeface="Calibri" pitchFamily="34" charset="0"/>
                <a:ea typeface="Calibri" pitchFamily="34" charset="-122"/>
                <a:cs typeface="Calibri" pitchFamily="34" charset="-120"/>
              </a:rPr>
              <a:t>Our root truncates rather than rounds. Measured against math.sqrt over 6,008 samples: 1.16 ulp worst case. A 25th stage plus a rounding incrementer brings that to 0.69 ulp. We kept truncation, because 1 ulp of a distance cannot move an 8-bit colour channel — but it does mean this accelerator is NOT bit-exact, unlike the pyflate one.</a:t>
            </a:r>
            <a:endParaRPr lang="en-US" sz="1300" dirty="0"/>
          </a:p>
        </p:txBody>
      </p:sp>
      <p:sp>
        <p:nvSpPr>
          <p:cNvPr id="15" name="Text 13"/>
          <p:cNvSpPr txBox="1"/>
          <p:nvPr/>
        </p:nvSpPr>
        <p:spPr>
          <a:xfrm>
            <a:off x="548640" y="5440680"/>
            <a:ext cx="11091672" cy="457200"/>
          </a:xfrm>
          <a:prstGeom prst="rect">
            <a:avLst/>
          </a:prstGeom>
          <a:noFill/>
          <a:ln/>
        </p:spPr>
        <p:txBody>
          <a:bodyPr wrap="square" lIns="0" tIns="0" rIns="0" bIns="0" rtlCol="0" anchor="ctr"/>
          <a:lstStyle/>
          <a:p>
            <a:pPr indent="0" marL="0">
              <a:lnSpc>
                <a:spcPts val="1700"/>
              </a:lnSpc>
              <a:buNone/>
            </a:pPr>
            <a:r>
              <a:rPr lang="en-US" sz="1250" i="1" dirty="0">
                <a:solidFill>
                  <a:srgbClr val="2D9B8A"/>
                </a:solidFill>
                <a:latin typeface="Calibri" pitchFamily="34" charset="0"/>
                <a:ea typeface="Calibri" pitchFamily="34" charset="-122"/>
                <a:cs typeface="Calibri" pitchFamily="34" charset="-120"/>
              </a:rPr>
              <a:t>And one place where precision is not negotiable: bfloat16 would halve the multiplier area, but 8 mantissa bits cannot survive the cancellation in (cc − v·v). We rejected it.</a:t>
            </a:r>
            <a:endParaRPr lang="en-US" sz="1250" dirty="0"/>
          </a:p>
        </p:txBody>
      </p:sp>
      <p:sp>
        <p:nvSpPr>
          <p:cNvPr id="16" name="Text 14"/>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Lana</a:t>
            </a:r>
            <a:endParaRPr lang="en-US" sz="1000" dirty="0"/>
          </a:p>
        </p:txBody>
      </p:sp>
      <p:sp>
        <p:nvSpPr>
          <p:cNvPr id="17" name="Text 15"/>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B3543F"/>
                </a:solidFill>
                <a:latin typeface="Calibri" pitchFamily="34" charset="0"/>
                <a:ea typeface="Calibri" pitchFamily="34" charset="-122"/>
                <a:cs typeface="Calibri" pitchFamily="34" charset="-120"/>
              </a:rPr>
              <a:t>VERIFICATION</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We simulated the RTL — and it was wrong</a:t>
            </a:r>
            <a:endParaRPr lang="en-US" sz="2900" dirty="0"/>
          </a:p>
        </p:txBody>
      </p:sp>
      <p:sp>
        <p:nvSpPr>
          <p:cNvPr id="4" name="Shape 2"/>
          <p:cNvSpPr/>
          <p:nvPr/>
        </p:nvSpPr>
        <p:spPr>
          <a:xfrm>
            <a:off x="548640" y="1325880"/>
            <a:ext cx="11091672" cy="1691640"/>
          </a:xfrm>
          <a:prstGeom prst="roundRect">
            <a:avLst>
              <a:gd name="adj" fmla="val 3243"/>
            </a:avLst>
          </a:prstGeom>
          <a:solidFill>
            <a:srgbClr val="1B2430"/>
          </a:solidFill>
          <a:ln w="19050">
            <a:solidFill>
              <a:srgbClr val="B3543F"/>
            </a:solidFill>
            <a:prstDash val="solid"/>
          </a:ln>
        </p:spPr>
      </p:sp>
      <p:sp>
        <p:nvSpPr>
          <p:cNvPr id="5" name="Text 3"/>
          <p:cNvSpPr txBox="1"/>
          <p:nvPr/>
        </p:nvSpPr>
        <p:spPr>
          <a:xfrm>
            <a:off x="868680" y="1481328"/>
            <a:ext cx="10424160" cy="292608"/>
          </a:xfrm>
          <a:prstGeom prst="rect">
            <a:avLst/>
          </a:prstGeom>
          <a:noFill/>
          <a:ln/>
        </p:spPr>
        <p:txBody>
          <a:bodyPr wrap="square" lIns="0" tIns="0" rIns="0" bIns="0" rtlCol="0" anchor="ctr"/>
          <a:lstStyle/>
          <a:p>
            <a:pPr indent="0" marL="0">
              <a:buNone/>
            </a:pPr>
            <a:r>
              <a:rPr lang="en-US" sz="1500" b="1" dirty="0">
                <a:solidFill>
                  <a:srgbClr val="E8833A"/>
                </a:solidFill>
                <a:latin typeface="Calibri" pitchFamily="34" charset="0"/>
                <a:ea typeface="Calibri" pitchFamily="34" charset="-122"/>
                <a:cs typeface="Calibri" pitchFamily="34" charset="-120"/>
              </a:rPr>
              <a:t>tb_ray_sphere failed on its second test vector</a:t>
            </a:r>
            <a:endParaRPr lang="en-US" sz="1500" dirty="0"/>
          </a:p>
        </p:txBody>
      </p:sp>
      <p:sp>
        <p:nvSpPr>
          <p:cNvPr id="6" name="Text 4"/>
          <p:cNvSpPr txBox="1"/>
          <p:nvPr/>
        </p:nvSpPr>
        <p:spPr>
          <a:xfrm>
            <a:off x="868680" y="1828800"/>
            <a:ext cx="5029200" cy="320040"/>
          </a:xfrm>
          <a:prstGeom prst="rect">
            <a:avLst/>
          </a:prstGeom>
          <a:noFill/>
          <a:ln/>
        </p:spPr>
        <p:txBody>
          <a:bodyPr wrap="square" lIns="0" tIns="0" rIns="0" bIns="0" rtlCol="0" anchor="ctr"/>
          <a:lstStyle/>
          <a:p>
            <a:pPr indent="0" marL="0">
              <a:buNone/>
            </a:pPr>
            <a:r>
              <a:rPr lang="en-US" sz="1500" dirty="0">
                <a:solidFill>
                  <a:srgbClr val="FFD9B8"/>
                </a:solidFill>
                <a:latin typeface="Courier New" pitchFamily="34" charset="0"/>
                <a:ea typeface="Courier New" pitchFamily="34" charset="-122"/>
                <a:cs typeface="Courier New" pitchFamily="34" charset="-120"/>
              </a:rPr>
              <a:t>2 + 3  →  6.5          9 − 4  →  2.5</a:t>
            </a:r>
            <a:endParaRPr lang="en-US" sz="1500" dirty="0"/>
          </a:p>
        </p:txBody>
      </p:sp>
      <p:sp>
        <p:nvSpPr>
          <p:cNvPr id="7" name="Text 5"/>
          <p:cNvSpPr txBox="1"/>
          <p:nvPr/>
        </p:nvSpPr>
        <p:spPr>
          <a:xfrm>
            <a:off x="868680" y="2212848"/>
            <a:ext cx="10424160" cy="731520"/>
          </a:xfrm>
          <a:prstGeom prst="rect">
            <a:avLst/>
          </a:prstGeom>
          <a:noFill/>
          <a:ln/>
        </p:spPr>
        <p:txBody>
          <a:bodyPr wrap="square" lIns="0" tIns="0" rIns="0" bIns="0" rtlCol="0" anchor="ctr"/>
          <a:lstStyle/>
          <a:p>
            <a:pPr indent="0" marL="0">
              <a:lnSpc>
                <a:spcPts val="1700"/>
              </a:lnSpc>
              <a:buNone/>
            </a:pPr>
            <a:r>
              <a:rPr lang="en-US" sz="1250" dirty="0">
                <a:solidFill>
                  <a:srgbClr val="E8EDF2"/>
                </a:solidFill>
                <a:latin typeface="Calibri" pitchFamily="34" charset="0"/>
                <a:ea typeface="Calibri" pitchFamily="34" charset="-122"/>
                <a:cs typeface="Calibri" pitchFamily="34" charset="-120"/>
              </a:rPr>
              <a:t>fp32_add had two coupled off-by-one errors: the carry path normalized the leading one to bit 26 while the leading-zero path normalized it to bit 27 — and the mantissa slice matched neither convention. The module had been written carefully and reviewed. It was still flatly wrong.</a:t>
            </a:r>
            <a:endParaRPr lang="en-US" sz="1250" dirty="0"/>
          </a:p>
        </p:txBody>
      </p:sp>
      <p:sp>
        <p:nvSpPr>
          <p:cNvPr id="8" name="Text 6"/>
          <p:cNvSpPr txBox="1"/>
          <p:nvPr/>
        </p:nvSpPr>
        <p:spPr>
          <a:xfrm>
            <a:off x="548640" y="3072384"/>
            <a:ext cx="11091672" cy="640080"/>
          </a:xfrm>
          <a:prstGeom prst="rect">
            <a:avLst/>
          </a:prstGeom>
          <a:noFill/>
          <a:ln/>
        </p:spPr>
        <p:txBody>
          <a:bodyPr wrap="square" lIns="0" tIns="0" rIns="0" bIns="0" rtlCol="0" anchor="ctr"/>
          <a:lstStyle/>
          <a:p>
            <a:pPr indent="0" marL="0">
              <a:lnSpc>
                <a:spcPts val="1800"/>
              </a:lnSpc>
              <a:buNone/>
            </a:pPr>
            <a:r>
              <a:rPr lang="en-US" sz="1300" dirty="0">
                <a:solidFill>
                  <a:srgbClr val="1B2430"/>
                </a:solidFill>
                <a:latin typeface="Calibri" pitchFamily="34" charset="0"/>
                <a:ea typeface="Calibri" pitchFamily="34" charset="-122"/>
                <a:cs typeface="Calibri" pitchFamily="34" charset="-120"/>
              </a:rPr>
              <a:t>Three hand-picked vectors were enough to MISS it, so we added 400 randomized ones — a quarter of them near-cancelling subtractions, the case that exercises the long normalize path where the bug lived. It happened again later: a rewritten BWT chase looked right and ran at two cycles per hop until its new testbench caught it.</a:t>
            </a:r>
            <a:endParaRPr lang="en-US" sz="1300" dirty="0"/>
          </a:p>
        </p:txBody>
      </p:sp>
      <p:sp>
        <p:nvSpPr>
          <p:cNvPr id="9" name="Shape 7"/>
          <p:cNvSpPr/>
          <p:nvPr/>
        </p:nvSpPr>
        <p:spPr>
          <a:xfrm>
            <a:off x="548640" y="3813048"/>
            <a:ext cx="164592" cy="164592"/>
          </a:xfrm>
          <a:prstGeom prst="ellipse">
            <a:avLst/>
          </a:prstGeom>
          <a:solidFill>
            <a:srgbClr val="2D9B8A"/>
          </a:solidFill>
          <a:ln w="12700">
            <a:solidFill>
              <a:srgbClr val="2D9B8A"/>
            </a:solidFill>
            <a:prstDash val="solid"/>
          </a:ln>
        </p:spPr>
      </p:sp>
      <p:sp>
        <p:nvSpPr>
          <p:cNvPr id="10" name="Text 8"/>
          <p:cNvSpPr txBox="1"/>
          <p:nvPr/>
        </p:nvSpPr>
        <p:spPr>
          <a:xfrm>
            <a:off x="786384" y="3749040"/>
            <a:ext cx="3383280" cy="292608"/>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correctness gate — byte / bit-identical</a:t>
            </a:r>
            <a:endParaRPr lang="en-US" sz="1050" dirty="0"/>
          </a:p>
        </p:txBody>
      </p:sp>
      <p:sp>
        <p:nvSpPr>
          <p:cNvPr id="11" name="Shape 9"/>
          <p:cNvSpPr/>
          <p:nvPr/>
        </p:nvSpPr>
        <p:spPr>
          <a:xfrm>
            <a:off x="4261104" y="3813048"/>
            <a:ext cx="164592" cy="164592"/>
          </a:xfrm>
          <a:prstGeom prst="ellipse">
            <a:avLst/>
          </a:prstGeom>
          <a:solidFill>
            <a:srgbClr val="2D9B8A"/>
          </a:solidFill>
          <a:ln w="12700">
            <a:solidFill>
              <a:srgbClr val="2D9B8A"/>
            </a:solidFill>
            <a:prstDash val="solid"/>
          </a:ln>
        </p:spPr>
      </p:sp>
      <p:sp>
        <p:nvSpPr>
          <p:cNvPr id="12" name="Text 10"/>
          <p:cNvSpPr txBox="1"/>
          <p:nvPr/>
        </p:nvSpPr>
        <p:spPr>
          <a:xfrm>
            <a:off x="4498848" y="3749040"/>
            <a:ext cx="3383280" cy="292608"/>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extended — 16 streams vs libbz2</a:t>
            </a:r>
            <a:endParaRPr lang="en-US" sz="1050" dirty="0"/>
          </a:p>
        </p:txBody>
      </p:sp>
      <p:sp>
        <p:nvSpPr>
          <p:cNvPr id="13" name="Shape 11"/>
          <p:cNvSpPr/>
          <p:nvPr/>
        </p:nvSpPr>
        <p:spPr>
          <a:xfrm>
            <a:off x="7973568" y="3813048"/>
            <a:ext cx="164592" cy="164592"/>
          </a:xfrm>
          <a:prstGeom prst="ellipse">
            <a:avLst/>
          </a:prstGeom>
          <a:solidFill>
            <a:srgbClr val="2D9B8A"/>
          </a:solidFill>
          <a:ln w="12700">
            <a:solidFill>
              <a:srgbClr val="2D9B8A"/>
            </a:solidFill>
            <a:prstDash val="solid"/>
          </a:ln>
        </p:spPr>
      </p:sp>
      <p:sp>
        <p:nvSpPr>
          <p:cNvPr id="14" name="Text 12"/>
          <p:cNvSpPr txBox="1"/>
          <p:nvPr/>
        </p:nvSpPr>
        <p:spPr>
          <a:xfrm>
            <a:off x="8211312" y="3749040"/>
            <a:ext cx="3383280" cy="292608"/>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golden model — 148,271 symbols</a:t>
            </a:r>
            <a:endParaRPr lang="en-US" sz="1050" dirty="0"/>
          </a:p>
        </p:txBody>
      </p:sp>
      <p:sp>
        <p:nvSpPr>
          <p:cNvPr id="15" name="Shape 13"/>
          <p:cNvSpPr/>
          <p:nvPr/>
        </p:nvSpPr>
        <p:spPr>
          <a:xfrm>
            <a:off x="548640" y="4197096"/>
            <a:ext cx="164592" cy="164592"/>
          </a:xfrm>
          <a:prstGeom prst="ellipse">
            <a:avLst/>
          </a:prstGeom>
          <a:solidFill>
            <a:srgbClr val="2D9B8A"/>
          </a:solidFill>
          <a:ln w="12700">
            <a:solidFill>
              <a:srgbClr val="2D9B8A"/>
            </a:solidFill>
            <a:prstDash val="solid"/>
          </a:ln>
        </p:spPr>
      </p:sp>
      <p:sp>
        <p:nvSpPr>
          <p:cNvPr id="16" name="Text 14"/>
          <p:cNvSpPr txBox="1"/>
          <p:nvPr/>
        </p:nvSpPr>
        <p:spPr>
          <a:xfrm>
            <a:off x="786384" y="4133088"/>
            <a:ext cx="3383280" cy="292608"/>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sqrt model — 6,008 samples</a:t>
            </a:r>
            <a:endParaRPr lang="en-US" sz="1050" dirty="0"/>
          </a:p>
        </p:txBody>
      </p:sp>
      <p:sp>
        <p:nvSpPr>
          <p:cNvPr id="17" name="Shape 15"/>
          <p:cNvSpPr/>
          <p:nvPr/>
        </p:nvSpPr>
        <p:spPr>
          <a:xfrm>
            <a:off x="4261104" y="4197096"/>
            <a:ext cx="164592" cy="164592"/>
          </a:xfrm>
          <a:prstGeom prst="ellipse">
            <a:avLst/>
          </a:prstGeom>
          <a:solidFill>
            <a:srgbClr val="2D9B8A"/>
          </a:solidFill>
          <a:ln w="12700">
            <a:solidFill>
              <a:srgbClr val="2D9B8A"/>
            </a:solidFill>
            <a:prstDash val="solid"/>
          </a:ln>
        </p:spPr>
      </p:sp>
      <p:sp>
        <p:nvSpPr>
          <p:cNvPr id="18" name="Text 16"/>
          <p:cNvSpPr txBox="1"/>
          <p:nvPr/>
        </p:nvSpPr>
        <p:spPr>
          <a:xfrm>
            <a:off x="4498848" y="4133088"/>
            <a:ext cx="3383280" cy="292608"/>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tb_huffman_decoder — symbol + bits</a:t>
            </a:r>
            <a:endParaRPr lang="en-US" sz="1050" dirty="0"/>
          </a:p>
        </p:txBody>
      </p:sp>
      <p:sp>
        <p:nvSpPr>
          <p:cNvPr id="19" name="Shape 17"/>
          <p:cNvSpPr/>
          <p:nvPr/>
        </p:nvSpPr>
        <p:spPr>
          <a:xfrm>
            <a:off x="7973568" y="4197096"/>
            <a:ext cx="164592" cy="164592"/>
          </a:xfrm>
          <a:prstGeom prst="ellipse">
            <a:avLst/>
          </a:prstGeom>
          <a:solidFill>
            <a:srgbClr val="2D9B8A"/>
          </a:solidFill>
          <a:ln w="12700">
            <a:solidFill>
              <a:srgbClr val="2D9B8A"/>
            </a:solidFill>
            <a:prstDash val="solid"/>
          </a:ln>
        </p:spPr>
      </p:sp>
      <p:sp>
        <p:nvSpPr>
          <p:cNvPr id="20" name="Text 18"/>
          <p:cNvSpPr txBox="1"/>
          <p:nvPr/>
        </p:nvSpPr>
        <p:spPr>
          <a:xfrm>
            <a:off x="8211312" y="4133088"/>
            <a:ext cx="3383280" cy="292608"/>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tb_bit_window — 12 retires, 1 to 20 b</a:t>
            </a:r>
            <a:endParaRPr lang="en-US" sz="1050" dirty="0"/>
          </a:p>
        </p:txBody>
      </p:sp>
      <p:sp>
        <p:nvSpPr>
          <p:cNvPr id="21" name="Shape 19"/>
          <p:cNvSpPr/>
          <p:nvPr/>
        </p:nvSpPr>
        <p:spPr>
          <a:xfrm>
            <a:off x="548640" y="4581144"/>
            <a:ext cx="164592" cy="164592"/>
          </a:xfrm>
          <a:prstGeom prst="ellipse">
            <a:avLst/>
          </a:prstGeom>
          <a:solidFill>
            <a:srgbClr val="2D9B8A"/>
          </a:solidFill>
          <a:ln w="12700">
            <a:solidFill>
              <a:srgbClr val="2D9B8A"/>
            </a:solidFill>
            <a:prstDash val="solid"/>
          </a:ln>
        </p:spPr>
      </p:sp>
      <p:sp>
        <p:nvSpPr>
          <p:cNvPr id="22" name="Text 20"/>
          <p:cNvSpPr txBox="1"/>
          <p:nvPr/>
        </p:nvSpPr>
        <p:spPr>
          <a:xfrm>
            <a:off x="786384" y="4517136"/>
            <a:ext cx="3383280" cy="292608"/>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tb_mtf_unit — pre-move entry</a:t>
            </a:r>
            <a:endParaRPr lang="en-US" sz="1050" dirty="0"/>
          </a:p>
        </p:txBody>
      </p:sp>
      <p:sp>
        <p:nvSpPr>
          <p:cNvPr id="23" name="Shape 21"/>
          <p:cNvSpPr/>
          <p:nvPr/>
        </p:nvSpPr>
        <p:spPr>
          <a:xfrm>
            <a:off x="4261104" y="4581144"/>
            <a:ext cx="164592" cy="164592"/>
          </a:xfrm>
          <a:prstGeom prst="ellipse">
            <a:avLst/>
          </a:prstGeom>
          <a:solidFill>
            <a:srgbClr val="2D9B8A"/>
          </a:solidFill>
          <a:ln w="12700">
            <a:solidFill>
              <a:srgbClr val="2D9B8A"/>
            </a:solidFill>
            <a:prstDash val="solid"/>
          </a:ln>
        </p:spPr>
      </p:sp>
      <p:sp>
        <p:nvSpPr>
          <p:cNvPr id="24" name="Text 22"/>
          <p:cNvSpPr txBox="1"/>
          <p:nvPr/>
        </p:nvSpPr>
        <p:spPr>
          <a:xfrm>
            <a:off x="4498848" y="4517136"/>
            <a:ext cx="3383280" cy="292608"/>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tb_run_expander — RUNA/RUNB + stall</a:t>
            </a:r>
            <a:endParaRPr lang="en-US" sz="1050" dirty="0"/>
          </a:p>
        </p:txBody>
      </p:sp>
      <p:sp>
        <p:nvSpPr>
          <p:cNvPr id="25" name="Shape 23"/>
          <p:cNvSpPr/>
          <p:nvPr/>
        </p:nvSpPr>
        <p:spPr>
          <a:xfrm>
            <a:off x="7973568" y="4581144"/>
            <a:ext cx="164592" cy="164592"/>
          </a:xfrm>
          <a:prstGeom prst="ellipse">
            <a:avLst/>
          </a:prstGeom>
          <a:solidFill>
            <a:srgbClr val="2D9B8A"/>
          </a:solidFill>
          <a:ln w="12700">
            <a:solidFill>
              <a:srgbClr val="2D9B8A"/>
            </a:solidFill>
            <a:prstDash val="solid"/>
          </a:ln>
        </p:spPr>
      </p:sp>
      <p:sp>
        <p:nvSpPr>
          <p:cNvPr id="26" name="Text 24"/>
          <p:cNvSpPr txBox="1"/>
          <p:nvPr/>
        </p:nvSpPr>
        <p:spPr>
          <a:xfrm>
            <a:off x="8211312" y="4517136"/>
            <a:ext cx="3383280" cy="292608"/>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tb_rle_final — outer RLE, zero count</a:t>
            </a:r>
            <a:endParaRPr lang="en-US" sz="1050" dirty="0"/>
          </a:p>
        </p:txBody>
      </p:sp>
      <p:sp>
        <p:nvSpPr>
          <p:cNvPr id="27" name="Shape 25"/>
          <p:cNvSpPr/>
          <p:nvPr/>
        </p:nvSpPr>
        <p:spPr>
          <a:xfrm>
            <a:off x="548640" y="4965192"/>
            <a:ext cx="164592" cy="164592"/>
          </a:xfrm>
          <a:prstGeom prst="ellipse">
            <a:avLst/>
          </a:prstGeom>
          <a:solidFill>
            <a:srgbClr val="2D9B8A"/>
          </a:solidFill>
          <a:ln w="12700">
            <a:solidFill>
              <a:srgbClr val="2D9B8A"/>
            </a:solidFill>
            <a:prstDash val="solid"/>
          </a:ln>
        </p:spPr>
      </p:sp>
      <p:sp>
        <p:nvSpPr>
          <p:cNvPr id="28" name="Text 26"/>
          <p:cNvSpPr txBox="1"/>
          <p:nvPr/>
        </p:nvSpPr>
        <p:spPr>
          <a:xfrm>
            <a:off x="786384" y="4901184"/>
            <a:ext cx="3383280" cy="292608"/>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tb_bwt_index_builder — T[] vs software</a:t>
            </a:r>
            <a:endParaRPr lang="en-US" sz="1050" dirty="0"/>
          </a:p>
        </p:txBody>
      </p:sp>
      <p:sp>
        <p:nvSpPr>
          <p:cNvPr id="29" name="Shape 27"/>
          <p:cNvSpPr/>
          <p:nvPr/>
        </p:nvSpPr>
        <p:spPr>
          <a:xfrm>
            <a:off x="4261104" y="4965192"/>
            <a:ext cx="164592" cy="164592"/>
          </a:xfrm>
          <a:prstGeom prst="ellipse">
            <a:avLst/>
          </a:prstGeom>
          <a:solidFill>
            <a:srgbClr val="2D9B8A"/>
          </a:solidFill>
          <a:ln w="12700">
            <a:solidFill>
              <a:srgbClr val="2D9B8A"/>
            </a:solidFill>
            <a:prstDash val="solid"/>
          </a:ln>
        </p:spPr>
      </p:sp>
      <p:sp>
        <p:nvSpPr>
          <p:cNvPr id="30" name="Text 28"/>
          <p:cNvSpPr txBox="1"/>
          <p:nvPr/>
        </p:nvSpPr>
        <p:spPr>
          <a:xfrm>
            <a:off x="4498848" y="4901184"/>
            <a:ext cx="3383280" cy="292608"/>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tb_bwt_reverse — chase vs software</a:t>
            </a:r>
            <a:endParaRPr lang="en-US" sz="1050" dirty="0"/>
          </a:p>
        </p:txBody>
      </p:sp>
      <p:sp>
        <p:nvSpPr>
          <p:cNvPr id="31" name="Shape 29"/>
          <p:cNvSpPr/>
          <p:nvPr/>
        </p:nvSpPr>
        <p:spPr>
          <a:xfrm>
            <a:off x="7973568" y="4965192"/>
            <a:ext cx="164592" cy="164592"/>
          </a:xfrm>
          <a:prstGeom prst="ellipse">
            <a:avLst/>
          </a:prstGeom>
          <a:solidFill>
            <a:srgbClr val="E8833A"/>
          </a:solidFill>
          <a:ln w="12700">
            <a:solidFill>
              <a:srgbClr val="E8833A"/>
            </a:solidFill>
            <a:prstDash val="solid"/>
          </a:ln>
        </p:spPr>
      </p:sp>
      <p:sp>
        <p:nvSpPr>
          <p:cNvPr id="32" name="Text 30"/>
          <p:cNvSpPr txBox="1"/>
          <p:nvPr/>
        </p:nvSpPr>
        <p:spPr>
          <a:xfrm>
            <a:off x="8211312" y="4901184"/>
            <a:ext cx="3383280" cy="292608"/>
          </a:xfrm>
          <a:prstGeom prst="rect">
            <a:avLst/>
          </a:prstGeom>
          <a:noFill/>
          <a:ln/>
        </p:spPr>
        <p:txBody>
          <a:bodyPr wrap="square" lIns="0" tIns="0" rIns="0" bIns="0" rtlCol="0" anchor="ctr"/>
          <a:lstStyle/>
          <a:p>
            <a:pPr indent="0" marL="0">
              <a:buNone/>
            </a:pPr>
            <a:r>
              <a:rPr lang="en-US" sz="1050" b="1" dirty="0">
                <a:solidFill>
                  <a:srgbClr val="1B2430"/>
                </a:solidFill>
                <a:latin typeface="Calibri" pitchFamily="34" charset="0"/>
                <a:ea typeface="Calibri" pitchFamily="34" charset="-122"/>
                <a:cs typeface="Calibri" pitchFamily="34" charset="-120"/>
              </a:rPr>
              <a:t>tb_top_block — END TO END, whole block</a:t>
            </a:r>
            <a:endParaRPr lang="en-US" sz="1050" dirty="0"/>
          </a:p>
        </p:txBody>
      </p:sp>
      <p:sp>
        <p:nvSpPr>
          <p:cNvPr id="33" name="Shape 31"/>
          <p:cNvSpPr/>
          <p:nvPr/>
        </p:nvSpPr>
        <p:spPr>
          <a:xfrm>
            <a:off x="548640" y="5349240"/>
            <a:ext cx="164592" cy="164592"/>
          </a:xfrm>
          <a:prstGeom prst="ellipse">
            <a:avLst/>
          </a:prstGeom>
          <a:solidFill>
            <a:srgbClr val="2D9B8A"/>
          </a:solidFill>
          <a:ln w="12700">
            <a:solidFill>
              <a:srgbClr val="2D9B8A"/>
            </a:solidFill>
            <a:prstDash val="solid"/>
          </a:ln>
        </p:spPr>
      </p:sp>
      <p:sp>
        <p:nvSpPr>
          <p:cNvPr id="34" name="Text 32"/>
          <p:cNvSpPr txBox="1"/>
          <p:nvPr/>
        </p:nvSpPr>
        <p:spPr>
          <a:xfrm>
            <a:off x="786384" y="5285232"/>
            <a:ext cx="3383280" cy="292608"/>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tb_ray_sphere — single PE, bit-exact</a:t>
            </a:r>
            <a:endParaRPr lang="en-US" sz="1050" dirty="0"/>
          </a:p>
        </p:txBody>
      </p:sp>
      <p:sp>
        <p:nvSpPr>
          <p:cNvPr id="35" name="Shape 33"/>
          <p:cNvSpPr/>
          <p:nvPr/>
        </p:nvSpPr>
        <p:spPr>
          <a:xfrm>
            <a:off x="4261104" y="5349240"/>
            <a:ext cx="164592" cy="164592"/>
          </a:xfrm>
          <a:prstGeom prst="ellipse">
            <a:avLst/>
          </a:prstGeom>
          <a:solidFill>
            <a:srgbClr val="2D9B8A"/>
          </a:solidFill>
          <a:ln w="12700">
            <a:solidFill>
              <a:srgbClr val="2D9B8A"/>
            </a:solidFill>
            <a:prstDash val="solid"/>
          </a:ln>
        </p:spPr>
      </p:sp>
      <p:sp>
        <p:nvSpPr>
          <p:cNvPr id="36" name="Text 34"/>
          <p:cNvSpPr txBox="1"/>
          <p:nvPr/>
        </p:nvSpPr>
        <p:spPr>
          <a:xfrm>
            <a:off x="4498848" y="5285232"/>
            <a:ext cx="3383280" cy="292608"/>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tb_ray_array — nearest of 8 spheres</a:t>
            </a:r>
            <a:endParaRPr lang="en-US" sz="1050" dirty="0"/>
          </a:p>
        </p:txBody>
      </p:sp>
      <p:sp>
        <p:nvSpPr>
          <p:cNvPr id="37" name="Shape 35"/>
          <p:cNvSpPr/>
          <p:nvPr/>
        </p:nvSpPr>
        <p:spPr>
          <a:xfrm>
            <a:off x="7973568" y="5349240"/>
            <a:ext cx="164592" cy="164592"/>
          </a:xfrm>
          <a:prstGeom prst="ellipse">
            <a:avLst/>
          </a:prstGeom>
          <a:solidFill>
            <a:srgbClr val="2D9B8A"/>
          </a:solidFill>
          <a:ln w="12700">
            <a:solidFill>
              <a:srgbClr val="2D9B8A"/>
            </a:solidFill>
            <a:prstDash val="solid"/>
          </a:ln>
        </p:spPr>
      </p:sp>
      <p:sp>
        <p:nvSpPr>
          <p:cNvPr id="38" name="Text 36"/>
          <p:cNvSpPr txBox="1"/>
          <p:nvPr/>
        </p:nvSpPr>
        <p:spPr>
          <a:xfrm>
            <a:off x="8211312" y="5285232"/>
            <a:ext cx="3383280" cy="292608"/>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tb_fp_random — 400 vectors, bit-exact</a:t>
            </a:r>
            <a:endParaRPr lang="en-US" sz="1050" dirty="0"/>
          </a:p>
        </p:txBody>
      </p:sp>
      <p:sp>
        <p:nvSpPr>
          <p:cNvPr id="39" name="Text 37"/>
          <p:cNvSpPr txBox="1"/>
          <p:nvPr/>
        </p:nvSpPr>
        <p:spPr>
          <a:xfrm>
            <a:off x="5394960" y="5742432"/>
            <a:ext cx="6245352" cy="320040"/>
          </a:xfrm>
          <a:prstGeom prst="rect">
            <a:avLst/>
          </a:prstGeom>
          <a:noFill/>
          <a:ln/>
        </p:spPr>
        <p:txBody>
          <a:bodyPr wrap="square" lIns="0" tIns="0" rIns="0" bIns="0" rtlCol="0" anchor="ctr"/>
          <a:lstStyle/>
          <a:p>
            <a:pPr indent="0" marL="0">
              <a:buNone/>
            </a:pPr>
            <a:r>
              <a:rPr lang="en-US" sz="1400" b="1" dirty="0">
                <a:solidFill>
                  <a:srgbClr val="2D9B8A"/>
                </a:solidFill>
                <a:latin typeface="Calibri" pitchFamily="34" charset="0"/>
                <a:ea typeface="Calibri" pitchFamily="34" charset="-122"/>
                <a:cs typeface="Calibri" pitchFamily="34" charset="-120"/>
              </a:rPr>
              <a:t>15 / 15 green in the guest  ·  ./tools/regress.sh</a:t>
            </a:r>
            <a:endParaRPr lang="en-US" sz="1400" dirty="0"/>
          </a:p>
        </p:txBody>
      </p:sp>
      <p:sp>
        <p:nvSpPr>
          <p:cNvPr id="40" name="Text 38"/>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Lana</a:t>
            </a:r>
            <a:endParaRPr lang="en-US" sz="1000" dirty="0"/>
          </a:p>
        </p:txBody>
      </p:sp>
      <p:sp>
        <p:nvSpPr>
          <p:cNvPr id="41" name="Text 39"/>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E8833A"/>
                </a:solidFill>
                <a:latin typeface="Calibri" pitchFamily="34" charset="0"/>
                <a:ea typeface="Calibri" pitchFamily="34" charset="-122"/>
                <a:cs typeface="Calibri" pitchFamily="34" charset="-120"/>
              </a:rPr>
              <a:t>SYNTHESIS</a:t>
            </a:r>
            <a:endParaRPr lang="en-US" sz="1100" dirty="0"/>
          </a:p>
        </p:txBody>
      </p:sp>
      <p:sp>
        <p:nvSpPr>
          <p:cNvPr id="3" name="Text 1"/>
          <p:cNvSpPr txBox="1"/>
          <p:nvPr/>
        </p:nvSpPr>
        <p:spPr>
          <a:xfrm>
            <a:off x="548640" y="713232"/>
            <a:ext cx="11091672"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Two benchmarks, two paradigms</a:t>
            </a:r>
            <a:endParaRPr lang="en-US" sz="3200" dirty="0"/>
          </a:p>
        </p:txBody>
      </p:sp>
      <p:sp>
        <p:nvSpPr>
          <p:cNvPr id="4" name="Text 2"/>
          <p:cNvSpPr txBox="1"/>
          <p:nvPr/>
        </p:nvSpPr>
        <p:spPr>
          <a:xfrm>
            <a:off x="548640" y="1417320"/>
            <a:ext cx="10698480" cy="457200"/>
          </a:xfrm>
          <a:prstGeom prst="rect">
            <a:avLst/>
          </a:prstGeom>
          <a:noFill/>
          <a:ln/>
        </p:spPr>
        <p:txBody>
          <a:bodyPr wrap="square" lIns="0" tIns="0" rIns="0" bIns="0" rtlCol="0" anchor="ctr"/>
          <a:lstStyle/>
          <a:p>
            <a:pPr indent="0" marL="0">
              <a:lnSpc>
                <a:spcPts val="1900"/>
              </a:lnSpc>
              <a:buNone/>
            </a:pPr>
            <a:r>
              <a:rPr lang="en-US" sz="1400" dirty="0">
                <a:solidFill>
                  <a:srgbClr val="AFBECD"/>
                </a:solidFill>
                <a:latin typeface="Calibri" pitchFamily="34" charset="0"/>
                <a:ea typeface="Calibri" pitchFamily="34" charset="-122"/>
                <a:cs typeface="Calibri" pitchFamily="34" charset="-120"/>
              </a:rPr>
              <a:t>This is why we chose the pair we did. The same project motivates both of the dominant accelerator patterns from the course — and, more importantly, shows why each one is wrong for the other workload.</a:t>
            </a:r>
            <a:endParaRPr lang="en-US" sz="1400" dirty="0"/>
          </a:p>
        </p:txBody>
      </p:sp>
      <p:sp>
        <p:nvSpPr>
          <p:cNvPr id="5" name="Text 3"/>
          <p:cNvSpPr txBox="1"/>
          <p:nvPr/>
        </p:nvSpPr>
        <p:spPr>
          <a:xfrm>
            <a:off x="548640" y="2057400"/>
            <a:ext cx="2377440" cy="310896"/>
          </a:xfrm>
          <a:prstGeom prst="rect">
            <a:avLst/>
          </a:prstGeom>
          <a:noFill/>
          <a:ln/>
        </p:spPr>
        <p:txBody>
          <a:bodyPr wrap="square" lIns="0" tIns="0" rIns="0" bIns="0" rtlCol="0" anchor="ctr"/>
          <a:lstStyle/>
          <a:p>
            <a:pPr indent="0" marL="0">
              <a:buNone/>
            </a:pPr>
            <a:endParaRPr lang="en-US" sz="1400" dirty="0"/>
          </a:p>
        </p:txBody>
      </p:sp>
      <p:sp>
        <p:nvSpPr>
          <p:cNvPr id="6" name="Text 4"/>
          <p:cNvSpPr txBox="1"/>
          <p:nvPr/>
        </p:nvSpPr>
        <p:spPr>
          <a:xfrm>
            <a:off x="2926080" y="2057400"/>
            <a:ext cx="4206240" cy="310896"/>
          </a:xfrm>
          <a:prstGeom prst="rect">
            <a:avLst/>
          </a:prstGeom>
          <a:noFill/>
          <a:ln/>
        </p:spPr>
        <p:txBody>
          <a:bodyPr wrap="square" lIns="0" tIns="0" rIns="0" bIns="0" rtlCol="0" anchor="ctr"/>
          <a:lstStyle/>
          <a:p>
            <a:pPr indent="0" marL="0">
              <a:buNone/>
            </a:pPr>
            <a:r>
              <a:rPr lang="en-US" sz="1400" b="1" dirty="0">
                <a:solidFill>
                  <a:srgbClr val="E8833A"/>
                </a:solidFill>
                <a:latin typeface="Calibri" pitchFamily="34" charset="0"/>
                <a:ea typeface="Calibri" pitchFamily="34" charset="-122"/>
                <a:cs typeface="Calibri" pitchFamily="34" charset="-120"/>
              </a:rPr>
              <a:t>pyflate</a:t>
            </a:r>
            <a:endParaRPr lang="en-US" sz="1400" dirty="0"/>
          </a:p>
        </p:txBody>
      </p:sp>
      <p:sp>
        <p:nvSpPr>
          <p:cNvPr id="7" name="Text 5"/>
          <p:cNvSpPr txBox="1"/>
          <p:nvPr/>
        </p:nvSpPr>
        <p:spPr>
          <a:xfrm>
            <a:off x="7132320" y="2057400"/>
            <a:ext cx="4480560" cy="310896"/>
          </a:xfrm>
          <a:prstGeom prst="rect">
            <a:avLst/>
          </a:prstGeom>
          <a:noFill/>
          <a:ln/>
        </p:spPr>
        <p:txBody>
          <a:bodyPr wrap="square" lIns="0" tIns="0" rIns="0" bIns="0" rtlCol="0" anchor="ctr"/>
          <a:lstStyle/>
          <a:p>
            <a:pPr indent="0" marL="0">
              <a:buNone/>
            </a:pPr>
            <a:r>
              <a:rPr lang="en-US" sz="1400" b="1" dirty="0">
                <a:solidFill>
                  <a:srgbClr val="2D9B8A"/>
                </a:solidFill>
                <a:latin typeface="Calibri" pitchFamily="34" charset="0"/>
                <a:ea typeface="Calibri" pitchFamily="34" charset="-122"/>
                <a:cs typeface="Calibri" pitchFamily="34" charset="-120"/>
              </a:rPr>
              <a:t>raytrace</a:t>
            </a:r>
            <a:endParaRPr lang="en-US" sz="1400" dirty="0"/>
          </a:p>
        </p:txBody>
      </p:sp>
      <p:sp>
        <p:nvSpPr>
          <p:cNvPr id="8" name="Text 6"/>
          <p:cNvSpPr txBox="1"/>
          <p:nvPr/>
        </p:nvSpPr>
        <p:spPr>
          <a:xfrm>
            <a:off x="548640" y="2642616"/>
            <a:ext cx="2377440" cy="457200"/>
          </a:xfrm>
          <a:prstGeom prst="rect">
            <a:avLst/>
          </a:prstGeom>
          <a:noFill/>
          <a:ln/>
        </p:spPr>
        <p:txBody>
          <a:bodyPr wrap="square" lIns="0" tIns="0" rIns="0" bIns="0" rtlCol="0" anchor="ctr"/>
          <a:lstStyle/>
          <a:p>
            <a:pPr indent="0" marL="0">
              <a:buNone/>
            </a:pPr>
            <a:r>
              <a:rPr lang="en-US" sz="1250" b="1" dirty="0">
                <a:solidFill>
                  <a:srgbClr val="8A97A6"/>
                </a:solidFill>
                <a:latin typeface="Calibri" pitchFamily="34" charset="0"/>
                <a:ea typeface="Calibri" pitchFamily="34" charset="-122"/>
                <a:cs typeface="Calibri" pitchFamily="34" charset="-120"/>
              </a:rPr>
              <a:t>Bound by</a:t>
            </a:r>
            <a:endParaRPr lang="en-US" sz="1250" dirty="0"/>
          </a:p>
        </p:txBody>
      </p:sp>
      <p:sp>
        <p:nvSpPr>
          <p:cNvPr id="9" name="Text 7"/>
          <p:cNvSpPr txBox="1"/>
          <p:nvPr/>
        </p:nvSpPr>
        <p:spPr>
          <a:xfrm>
            <a:off x="2926080" y="2642616"/>
            <a:ext cx="4206240" cy="45720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integer, control flow, memory</a:t>
            </a:r>
            <a:endParaRPr lang="en-US" sz="1250" dirty="0"/>
          </a:p>
        </p:txBody>
      </p:sp>
      <p:sp>
        <p:nvSpPr>
          <p:cNvPr id="10" name="Text 8"/>
          <p:cNvSpPr txBox="1"/>
          <p:nvPr/>
        </p:nvSpPr>
        <p:spPr>
          <a:xfrm>
            <a:off x="7132320" y="2642616"/>
            <a:ext cx="4480560" cy="45720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floating point, allocation</a:t>
            </a:r>
            <a:endParaRPr lang="en-US" sz="1250" dirty="0"/>
          </a:p>
        </p:txBody>
      </p:sp>
      <p:sp>
        <p:nvSpPr>
          <p:cNvPr id="11" name="Text 9"/>
          <p:cNvSpPr txBox="1"/>
          <p:nvPr/>
        </p:nvSpPr>
        <p:spPr>
          <a:xfrm>
            <a:off x="548640" y="3227832"/>
            <a:ext cx="2377440" cy="457200"/>
          </a:xfrm>
          <a:prstGeom prst="rect">
            <a:avLst/>
          </a:prstGeom>
          <a:noFill/>
          <a:ln/>
        </p:spPr>
        <p:txBody>
          <a:bodyPr wrap="square" lIns="0" tIns="0" rIns="0" bIns="0" rtlCol="0" anchor="ctr"/>
          <a:lstStyle/>
          <a:p>
            <a:pPr indent="0" marL="0">
              <a:buNone/>
            </a:pPr>
            <a:r>
              <a:rPr lang="en-US" sz="1250" b="1" dirty="0">
                <a:solidFill>
                  <a:srgbClr val="8A97A6"/>
                </a:solidFill>
                <a:latin typeface="Calibri" pitchFamily="34" charset="0"/>
                <a:ea typeface="Calibri" pitchFamily="34" charset="-122"/>
                <a:cs typeface="Calibri" pitchFamily="34" charset="-120"/>
              </a:rPr>
              <a:t>Data rate</a:t>
            </a:r>
            <a:endParaRPr lang="en-US" sz="1250" dirty="0"/>
          </a:p>
        </p:txBody>
      </p:sp>
      <p:sp>
        <p:nvSpPr>
          <p:cNvPr id="12" name="Text 10"/>
          <p:cNvSpPr txBox="1"/>
          <p:nvPr/>
        </p:nvSpPr>
        <p:spPr>
          <a:xfrm>
            <a:off x="2926080" y="3227832"/>
            <a:ext cx="4206240" cy="45720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VARIABLE — 1 to 20 bits/symbol</a:t>
            </a:r>
            <a:endParaRPr lang="en-US" sz="1250" dirty="0"/>
          </a:p>
        </p:txBody>
      </p:sp>
      <p:sp>
        <p:nvSpPr>
          <p:cNvPr id="13" name="Text 11"/>
          <p:cNvSpPr txBox="1"/>
          <p:nvPr/>
        </p:nvSpPr>
        <p:spPr>
          <a:xfrm>
            <a:off x="7132320" y="3227832"/>
            <a:ext cx="4480560" cy="45720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FIXED — same shape every test</a:t>
            </a:r>
            <a:endParaRPr lang="en-US" sz="1250" dirty="0"/>
          </a:p>
        </p:txBody>
      </p:sp>
      <p:sp>
        <p:nvSpPr>
          <p:cNvPr id="14" name="Text 12"/>
          <p:cNvSpPr txBox="1"/>
          <p:nvPr/>
        </p:nvSpPr>
        <p:spPr>
          <a:xfrm>
            <a:off x="548640" y="3813048"/>
            <a:ext cx="2377440" cy="457200"/>
          </a:xfrm>
          <a:prstGeom prst="rect">
            <a:avLst/>
          </a:prstGeom>
          <a:noFill/>
          <a:ln/>
        </p:spPr>
        <p:txBody>
          <a:bodyPr wrap="square" lIns="0" tIns="0" rIns="0" bIns="0" rtlCol="0" anchor="ctr"/>
          <a:lstStyle/>
          <a:p>
            <a:pPr indent="0" marL="0">
              <a:buNone/>
            </a:pPr>
            <a:r>
              <a:rPr lang="en-US" sz="1250" b="1" dirty="0">
                <a:solidFill>
                  <a:srgbClr val="8A97A6"/>
                </a:solidFill>
                <a:latin typeface="Calibri" pitchFamily="34" charset="0"/>
                <a:ea typeface="Calibri" pitchFamily="34" charset="-122"/>
                <a:cs typeface="Calibri" pitchFamily="34" charset="-120"/>
              </a:rPr>
              <a:t>Pattern</a:t>
            </a:r>
            <a:endParaRPr lang="en-US" sz="1250" dirty="0"/>
          </a:p>
        </p:txBody>
      </p:sp>
      <p:sp>
        <p:nvSpPr>
          <p:cNvPr id="15" name="Text 13"/>
          <p:cNvSpPr txBox="1"/>
          <p:nvPr/>
        </p:nvSpPr>
        <p:spPr>
          <a:xfrm>
            <a:off x="2926080" y="3813048"/>
            <a:ext cx="4206240" cy="45720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DATAFLOW, valid/ready</a:t>
            </a:r>
            <a:endParaRPr lang="en-US" sz="1250" dirty="0"/>
          </a:p>
        </p:txBody>
      </p:sp>
      <p:sp>
        <p:nvSpPr>
          <p:cNvPr id="16" name="Text 14"/>
          <p:cNvSpPr txBox="1"/>
          <p:nvPr/>
        </p:nvSpPr>
        <p:spPr>
          <a:xfrm>
            <a:off x="7132320" y="3813048"/>
            <a:ext cx="4480560" cy="45720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SYSTOLIC-STYLE, weight-stationary</a:t>
            </a:r>
            <a:endParaRPr lang="en-US" sz="1250" dirty="0"/>
          </a:p>
        </p:txBody>
      </p:sp>
      <p:sp>
        <p:nvSpPr>
          <p:cNvPr id="17" name="Text 15"/>
          <p:cNvSpPr txBox="1"/>
          <p:nvPr/>
        </p:nvSpPr>
        <p:spPr>
          <a:xfrm>
            <a:off x="548640" y="4398264"/>
            <a:ext cx="2377440" cy="457200"/>
          </a:xfrm>
          <a:prstGeom prst="rect">
            <a:avLst/>
          </a:prstGeom>
          <a:noFill/>
          <a:ln/>
        </p:spPr>
        <p:txBody>
          <a:bodyPr wrap="square" lIns="0" tIns="0" rIns="0" bIns="0" rtlCol="0" anchor="ctr"/>
          <a:lstStyle/>
          <a:p>
            <a:pPr indent="0" marL="0">
              <a:buNone/>
            </a:pPr>
            <a:r>
              <a:rPr lang="en-US" sz="1250" b="1" dirty="0">
                <a:solidFill>
                  <a:srgbClr val="8A97A6"/>
                </a:solidFill>
                <a:latin typeface="Calibri" pitchFamily="34" charset="0"/>
                <a:ea typeface="Calibri" pitchFamily="34" charset="-122"/>
                <a:cs typeface="Calibri" pitchFamily="34" charset="-120"/>
              </a:rPr>
              <a:t>Key idea</a:t>
            </a:r>
            <a:endParaRPr lang="en-US" sz="1250" dirty="0"/>
          </a:p>
        </p:txBody>
      </p:sp>
      <p:sp>
        <p:nvSpPr>
          <p:cNvPr id="18" name="Text 16"/>
          <p:cNvSpPr txBox="1"/>
          <p:nvPr/>
        </p:nvSpPr>
        <p:spPr>
          <a:xfrm>
            <a:off x="2926080" y="4398264"/>
            <a:ext cx="4206240" cy="45720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20 comparators + priority encoder</a:t>
            </a:r>
            <a:endParaRPr lang="en-US" sz="1250" dirty="0"/>
          </a:p>
        </p:txBody>
      </p:sp>
      <p:sp>
        <p:nvSpPr>
          <p:cNvPr id="19" name="Text 17"/>
          <p:cNvSpPr txBox="1"/>
          <p:nvPr/>
        </p:nvSpPr>
        <p:spPr>
          <a:xfrm>
            <a:off x="7132320" y="4398264"/>
            <a:ext cx="4480560" cy="45720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preload spheres, stream rays</a:t>
            </a:r>
            <a:endParaRPr lang="en-US" sz="1250" dirty="0"/>
          </a:p>
        </p:txBody>
      </p:sp>
      <p:sp>
        <p:nvSpPr>
          <p:cNvPr id="20" name="Text 18"/>
          <p:cNvSpPr txBox="1"/>
          <p:nvPr/>
        </p:nvSpPr>
        <p:spPr>
          <a:xfrm>
            <a:off x="548640" y="4983480"/>
            <a:ext cx="2377440" cy="457200"/>
          </a:xfrm>
          <a:prstGeom prst="rect">
            <a:avLst/>
          </a:prstGeom>
          <a:noFill/>
          <a:ln/>
        </p:spPr>
        <p:txBody>
          <a:bodyPr wrap="square" lIns="0" tIns="0" rIns="0" bIns="0" rtlCol="0" anchor="ctr"/>
          <a:lstStyle/>
          <a:p>
            <a:pPr indent="0" marL="0">
              <a:buNone/>
            </a:pPr>
            <a:r>
              <a:rPr lang="en-US" sz="1250" b="1" dirty="0">
                <a:solidFill>
                  <a:srgbClr val="8A97A6"/>
                </a:solidFill>
                <a:latin typeface="Calibri" pitchFamily="34" charset="0"/>
                <a:ea typeface="Calibri" pitchFamily="34" charset="-122"/>
                <a:cs typeface="Calibri" pitchFamily="34" charset="-120"/>
              </a:rPr>
              <a:t>Bit-exact?</a:t>
            </a:r>
            <a:endParaRPr lang="en-US" sz="1250" dirty="0"/>
          </a:p>
        </p:txBody>
      </p:sp>
      <p:sp>
        <p:nvSpPr>
          <p:cNvPr id="21" name="Text 19"/>
          <p:cNvSpPr txBox="1"/>
          <p:nvPr/>
        </p:nvSpPr>
        <p:spPr>
          <a:xfrm>
            <a:off x="2926080" y="4983480"/>
            <a:ext cx="4206240" cy="45720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yes</a:t>
            </a:r>
            <a:endParaRPr lang="en-US" sz="1250" dirty="0"/>
          </a:p>
        </p:txBody>
      </p:sp>
      <p:sp>
        <p:nvSpPr>
          <p:cNvPr id="22" name="Text 20"/>
          <p:cNvSpPr txBox="1"/>
          <p:nvPr/>
        </p:nvSpPr>
        <p:spPr>
          <a:xfrm>
            <a:off x="7132320" y="4983480"/>
            <a:ext cx="4480560" cy="45720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no — truncating sqrt, 1.16 ulp</a:t>
            </a:r>
            <a:endParaRPr lang="en-US" sz="1250" dirty="0"/>
          </a:p>
        </p:txBody>
      </p:sp>
      <p:sp>
        <p:nvSpPr>
          <p:cNvPr id="23" name="Shape 21"/>
          <p:cNvSpPr/>
          <p:nvPr/>
        </p:nvSpPr>
        <p:spPr>
          <a:xfrm>
            <a:off x="548640" y="5440680"/>
            <a:ext cx="11091672" cy="731520"/>
          </a:xfrm>
          <a:prstGeom prst="roundRect">
            <a:avLst>
              <a:gd name="adj" fmla="val 7500"/>
            </a:avLst>
          </a:prstGeom>
          <a:solidFill>
            <a:srgbClr val="2B3A4A"/>
          </a:solidFill>
          <a:ln w="19050">
            <a:solidFill>
              <a:srgbClr val="E8833A"/>
            </a:solidFill>
            <a:prstDash val="solid"/>
          </a:ln>
        </p:spPr>
      </p:sp>
      <p:sp>
        <p:nvSpPr>
          <p:cNvPr id="24" name="Text 22"/>
          <p:cNvSpPr txBox="1"/>
          <p:nvPr/>
        </p:nvSpPr>
        <p:spPr>
          <a:xfrm>
            <a:off x="822960" y="5559552"/>
            <a:ext cx="10543032" cy="512064"/>
          </a:xfrm>
          <a:prstGeom prst="rect">
            <a:avLst/>
          </a:prstGeom>
          <a:noFill/>
          <a:ln/>
        </p:spPr>
        <p:txBody>
          <a:bodyPr wrap="square" lIns="0" tIns="0" rIns="0" bIns="0" rtlCol="0" anchor="ctr"/>
          <a:lstStyle/>
          <a:p>
            <a:pPr indent="0" marL="0">
              <a:lnSpc>
                <a:spcPts val="1800"/>
              </a:lnSpc>
              <a:buNone/>
            </a:pPr>
            <a:r>
              <a:rPr lang="en-US" sz="1350" dirty="0">
                <a:solidFill>
                  <a:srgbClr val="FFFFFF"/>
                </a:solidFill>
                <a:latin typeface="Calibri" pitchFamily="34" charset="0"/>
                <a:ea typeface="Calibri" pitchFamily="34" charset="-122"/>
                <a:cs typeface="Calibri" pitchFamily="34" charset="-120"/>
              </a:rPr>
              <a:t>A conventional systolic array moves data at a fixed cadence, so a variable-rate bitstream mis-aligns it. pyflate therefore needs valid/ready flow control; the fixed-shape intersection kernel does not.</a:t>
            </a:r>
            <a:endParaRPr lang="en-US" sz="1350" dirty="0"/>
          </a:p>
        </p:txBody>
      </p:sp>
      <p:sp>
        <p:nvSpPr>
          <p:cNvPr id="25" name="Text 23"/>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8A97A6"/>
                </a:solidFill>
                <a:latin typeface="Calibri" pitchFamily="34" charset="0"/>
                <a:ea typeface="Calibri" pitchFamily="34" charset="-122"/>
                <a:cs typeface="Calibri" pitchFamily="34" charset="-120"/>
              </a:rPr>
              <a:t>Taha + Lana</a:t>
            </a:r>
            <a:endParaRPr lang="en-US" sz="1000" dirty="0"/>
          </a:p>
        </p:txBody>
      </p:sp>
      <p:sp>
        <p:nvSpPr>
          <p:cNvPr id="26" name="Text 24"/>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8A97A6"/>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B3543F"/>
                </a:solidFill>
                <a:latin typeface="Calibri" pitchFamily="34" charset="0"/>
                <a:ea typeface="Calibri" pitchFamily="34" charset="-122"/>
                <a:cs typeface="Calibri" pitchFamily="34" charset="-120"/>
              </a:rPr>
              <a:t>LIMITATIONS</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What we did not finish</a:t>
            </a:r>
            <a:endParaRPr lang="en-US" sz="2900" dirty="0"/>
          </a:p>
        </p:txBody>
      </p:sp>
      <p:sp>
        <p:nvSpPr>
          <p:cNvPr id="4" name="Text 2"/>
          <p:cNvSpPr txBox="1"/>
          <p:nvPr/>
        </p:nvSpPr>
        <p:spPr>
          <a:xfrm>
            <a:off x="548640" y="1371600"/>
            <a:ext cx="11091672" cy="274320"/>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Stating this plainly is deliberate. Every claim in our reports is one we can defend; these are the ones we cannot.</a:t>
            </a:r>
            <a:endParaRPr lang="en-US" sz="1300" dirty="0"/>
          </a:p>
        </p:txBody>
      </p:sp>
      <p:sp>
        <p:nvSpPr>
          <p:cNvPr id="5" name="Shape 3"/>
          <p:cNvSpPr/>
          <p:nvPr/>
        </p:nvSpPr>
        <p:spPr>
          <a:xfrm>
            <a:off x="548640" y="1810512"/>
            <a:ext cx="256032" cy="256032"/>
          </a:xfrm>
          <a:prstGeom prst="ellipse">
            <a:avLst/>
          </a:prstGeom>
          <a:solidFill>
            <a:srgbClr val="B3543F"/>
          </a:solidFill>
          <a:ln w="12700">
            <a:solidFill>
              <a:srgbClr val="B3543F"/>
            </a:solidFill>
            <a:prstDash val="solid"/>
          </a:ln>
        </p:spPr>
      </p:sp>
      <p:sp>
        <p:nvSpPr>
          <p:cNvPr id="6" name="Text 4"/>
          <p:cNvSpPr txBox="1"/>
          <p:nvPr/>
        </p:nvSpPr>
        <p:spPr>
          <a:xfrm>
            <a:off x="548640" y="181051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960120" y="1783080"/>
            <a:ext cx="10607040" cy="29260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End-to-end simulation covers a SMALL block, not the benchmark file</a:t>
            </a:r>
            <a:endParaRPr lang="en-US" sz="1400" dirty="0"/>
          </a:p>
        </p:txBody>
      </p:sp>
      <p:sp>
        <p:nvSpPr>
          <p:cNvPr id="8" name="Text 6"/>
          <p:cNvSpPr txBox="1"/>
          <p:nvPr/>
        </p:nvSpPr>
        <p:spPr>
          <a:xfrm>
            <a:off x="960120" y="2103120"/>
            <a:ext cx="10607040" cy="1005840"/>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tb_top_block programs the accelerator through its CSRs, streams one compressed block in and checks the bytes that come out - so the assembled design does decompress. But the block is 15 bytes, generated by running the bzip2 encoder in Python. Feeding interpreter.tar.bz2 through the RTL would need a full driver model and a long simulation.</a:t>
            </a:r>
            <a:endParaRPr lang="en-US" sz="1200" dirty="0"/>
          </a:p>
        </p:txBody>
      </p:sp>
      <p:sp>
        <p:nvSpPr>
          <p:cNvPr id="9" name="Shape 7"/>
          <p:cNvSpPr/>
          <p:nvPr/>
        </p:nvSpPr>
        <p:spPr>
          <a:xfrm>
            <a:off x="548640" y="3227832"/>
            <a:ext cx="256032" cy="256032"/>
          </a:xfrm>
          <a:prstGeom prst="ellipse">
            <a:avLst/>
          </a:prstGeom>
          <a:solidFill>
            <a:srgbClr val="B3543F"/>
          </a:solidFill>
          <a:ln w="12700">
            <a:solidFill>
              <a:srgbClr val="B3543F"/>
            </a:solidFill>
            <a:prstDash val="solid"/>
          </a:ln>
        </p:spPr>
      </p:sp>
      <p:sp>
        <p:nvSpPr>
          <p:cNvPr id="10" name="Text 8"/>
          <p:cNvSpPr txBox="1"/>
          <p:nvPr/>
        </p:nvSpPr>
        <p:spPr>
          <a:xfrm>
            <a:off x="548640" y="32278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txBox="1"/>
          <p:nvPr/>
        </p:nvSpPr>
        <p:spPr>
          <a:xfrm>
            <a:off x="960120" y="3200400"/>
            <a:ext cx="10607040" cy="29260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One Huffman table at a time - the biggest gap to a usable accelerator</a:t>
            </a:r>
            <a:endParaRPr lang="en-US" sz="1400" dirty="0"/>
          </a:p>
        </p:txBody>
      </p:sp>
      <p:sp>
        <p:nvSpPr>
          <p:cNvPr id="12" name="Text 10"/>
          <p:cNvSpPr txBox="1"/>
          <p:nvPr/>
        </p:nvSpPr>
        <p:spPr>
          <a:xfrm>
            <a:off x="960120" y="3520440"/>
            <a:ext cx="10607040" cy="1005840"/>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A real block carries up to six tables and switches every 50 symbols. The hardware holds one set, so the driver would reprogram it at each switch - roughly 3,000 bursts for the benchmark block. A production design holds six banks and selects with the decoded selector stream.</a:t>
            </a:r>
            <a:endParaRPr lang="en-US" sz="1200" dirty="0"/>
          </a:p>
        </p:txBody>
      </p:sp>
      <p:sp>
        <p:nvSpPr>
          <p:cNvPr id="13" name="Shape 11"/>
          <p:cNvSpPr/>
          <p:nvPr/>
        </p:nvSpPr>
        <p:spPr>
          <a:xfrm>
            <a:off x="548640" y="4645152"/>
            <a:ext cx="256032" cy="256032"/>
          </a:xfrm>
          <a:prstGeom prst="ellipse">
            <a:avLst/>
          </a:prstGeom>
          <a:solidFill>
            <a:srgbClr val="B3543F"/>
          </a:solidFill>
          <a:ln w="12700">
            <a:solidFill>
              <a:srgbClr val="B3543F"/>
            </a:solidFill>
            <a:prstDash val="solid"/>
          </a:ln>
        </p:spPr>
      </p:sp>
      <p:sp>
        <p:nvSpPr>
          <p:cNvPr id="14" name="Text 12"/>
          <p:cNvSpPr txBox="1"/>
          <p:nvPr/>
        </p:nvSpPr>
        <p:spPr>
          <a:xfrm>
            <a:off x="548640" y="464515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3"/>
          <p:cNvSpPr txBox="1"/>
          <p:nvPr/>
        </p:nvSpPr>
        <p:spPr>
          <a:xfrm>
            <a:off x="960120" y="4617720"/>
            <a:ext cx="10607040" cy="29260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Amdahl caps both accelerators</a:t>
            </a:r>
            <a:endParaRPr lang="en-US" sz="1400" dirty="0"/>
          </a:p>
        </p:txBody>
      </p:sp>
      <p:sp>
        <p:nvSpPr>
          <p:cNvPr id="16" name="Text 14"/>
          <p:cNvSpPr txBox="1"/>
          <p:nvPr/>
        </p:nvSpPr>
        <p:spPr>
          <a:xfrm>
            <a:off x="960120" y="4937760"/>
            <a:ext cx="10607040" cy="1005840"/>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raytrace intersection is 35% of the optimized runtime → 1.54× ceiling on a whole frame. For pyflate, a 67 KB input behind PCIe would be dominated by the round trip — which is why this belongs on-die, not on a discrete card.</a:t>
            </a:r>
            <a:endParaRPr lang="en-US" sz="1200" dirty="0"/>
          </a:p>
        </p:txBody>
      </p:sp>
      <p:sp>
        <p:nvSpPr>
          <p:cNvPr id="17" name="Text 15"/>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Taha</a:t>
            </a:r>
            <a:endParaRPr lang="en-US" sz="1000" dirty="0"/>
          </a:p>
        </p:txBody>
      </p:sp>
      <p:sp>
        <p:nvSpPr>
          <p:cNvPr id="18" name="Text 16"/>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548640" y="685800"/>
            <a:ext cx="11091672" cy="237744"/>
          </a:xfrm>
          <a:prstGeom prst="rect">
            <a:avLst/>
          </a:prstGeom>
          <a:noFill/>
          <a:ln/>
        </p:spPr>
        <p:txBody>
          <a:bodyPr wrap="square" lIns="0" tIns="0" rIns="0" bIns="0" rtlCol="0" anchor="ctr"/>
          <a:lstStyle/>
          <a:p>
            <a:pPr indent="0" marL="0">
              <a:buNone/>
            </a:pPr>
            <a:r>
              <a:rPr lang="en-US" sz="1100" b="1" spc="160" kern="0" dirty="0">
                <a:solidFill>
                  <a:srgbClr val="E8833A"/>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548640" y="960120"/>
            <a:ext cx="11091672"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Requirement was 7% on two benchmarks</a:t>
            </a:r>
            <a:endParaRPr lang="en-US" sz="3200" dirty="0"/>
          </a:p>
        </p:txBody>
      </p:sp>
      <p:sp>
        <p:nvSpPr>
          <p:cNvPr id="4" name="Shape 2"/>
          <p:cNvSpPr/>
          <p:nvPr/>
        </p:nvSpPr>
        <p:spPr>
          <a:xfrm>
            <a:off x="548640" y="1828800"/>
            <a:ext cx="11091672" cy="868680"/>
          </a:xfrm>
          <a:prstGeom prst="roundRect">
            <a:avLst>
              <a:gd name="adj" fmla="val 6316"/>
            </a:avLst>
          </a:prstGeom>
          <a:solidFill>
            <a:srgbClr val="2B3A4A"/>
          </a:solidFill>
          <a:ln w="9525">
            <a:solidFill>
              <a:srgbClr val="3C4E61"/>
            </a:solidFill>
            <a:prstDash val="solid"/>
          </a:ln>
        </p:spPr>
      </p:sp>
      <p:sp>
        <p:nvSpPr>
          <p:cNvPr id="5" name="Text 3"/>
          <p:cNvSpPr txBox="1"/>
          <p:nvPr/>
        </p:nvSpPr>
        <p:spPr>
          <a:xfrm>
            <a:off x="822960" y="2029968"/>
            <a:ext cx="1828800" cy="457200"/>
          </a:xfrm>
          <a:prstGeom prst="rect">
            <a:avLst/>
          </a:prstGeom>
          <a:noFill/>
          <a:ln/>
        </p:spPr>
        <p:txBody>
          <a:bodyPr wrap="square" lIns="0" tIns="0" rIns="0" bIns="0" rtlCol="0" anchor="ctr"/>
          <a:lstStyle/>
          <a:p>
            <a:pPr indent="0" marL="0">
              <a:buNone/>
            </a:pPr>
            <a:r>
              <a:rPr lang="en-US" sz="1800" b="1" dirty="0">
                <a:solidFill>
                  <a:srgbClr val="E8EDF2"/>
                </a:solidFill>
                <a:latin typeface="Cambria" pitchFamily="34" charset="0"/>
                <a:ea typeface="Cambria" pitchFamily="34" charset="-122"/>
                <a:cs typeface="Cambria" pitchFamily="34" charset="-120"/>
              </a:rPr>
              <a:t>pyflate</a:t>
            </a:r>
            <a:endParaRPr lang="en-US" sz="1800" dirty="0"/>
          </a:p>
        </p:txBody>
      </p:sp>
      <p:sp>
        <p:nvSpPr>
          <p:cNvPr id="6" name="Text 4"/>
          <p:cNvSpPr txBox="1"/>
          <p:nvPr/>
        </p:nvSpPr>
        <p:spPr>
          <a:xfrm>
            <a:off x="2651760" y="2029968"/>
            <a:ext cx="1737360" cy="457200"/>
          </a:xfrm>
          <a:prstGeom prst="rect">
            <a:avLst/>
          </a:prstGeom>
          <a:noFill/>
          <a:ln/>
        </p:spPr>
        <p:txBody>
          <a:bodyPr wrap="square" lIns="0" tIns="0" rIns="0" bIns="0" rtlCol="0" anchor="ctr"/>
          <a:lstStyle/>
          <a:p>
            <a:pPr indent="0" marL="0">
              <a:buNone/>
            </a:pPr>
            <a:r>
              <a:rPr lang="en-US" sz="1400" dirty="0">
                <a:solidFill>
                  <a:srgbClr val="E8833A"/>
                </a:solidFill>
                <a:latin typeface="Calibri" pitchFamily="34" charset="0"/>
                <a:ea typeface="Calibri" pitchFamily="34" charset="-122"/>
                <a:cs typeface="Calibri" pitchFamily="34" charset="-120"/>
              </a:rPr>
              <a:t>1115.1 ms</a:t>
            </a:r>
            <a:endParaRPr lang="en-US" sz="1400" dirty="0"/>
          </a:p>
        </p:txBody>
      </p:sp>
      <p:sp>
        <p:nvSpPr>
          <p:cNvPr id="7" name="Text 5"/>
          <p:cNvSpPr txBox="1"/>
          <p:nvPr/>
        </p:nvSpPr>
        <p:spPr>
          <a:xfrm>
            <a:off x="4389120" y="2029968"/>
            <a:ext cx="1737360" cy="457200"/>
          </a:xfrm>
          <a:prstGeom prst="rect">
            <a:avLst/>
          </a:prstGeom>
          <a:noFill/>
          <a:ln/>
        </p:spPr>
        <p:txBody>
          <a:bodyPr wrap="square" lIns="0" tIns="0" rIns="0" bIns="0" rtlCol="0" anchor="ctr"/>
          <a:lstStyle/>
          <a:p>
            <a:pPr indent="0" marL="0">
              <a:buNone/>
            </a:pPr>
            <a:r>
              <a:rPr lang="en-US" sz="1400" dirty="0">
                <a:solidFill>
                  <a:srgbClr val="2D9B8A"/>
                </a:solidFill>
                <a:latin typeface="Calibri" pitchFamily="34" charset="0"/>
                <a:ea typeface="Calibri" pitchFamily="34" charset="-122"/>
                <a:cs typeface="Calibri" pitchFamily="34" charset="-120"/>
              </a:rPr>
              <a:t>444.6 ms</a:t>
            </a:r>
            <a:endParaRPr lang="en-US" sz="1400" dirty="0"/>
          </a:p>
        </p:txBody>
      </p:sp>
      <p:sp>
        <p:nvSpPr>
          <p:cNvPr id="8" name="Text 6"/>
          <p:cNvSpPr txBox="1"/>
          <p:nvPr/>
        </p:nvSpPr>
        <p:spPr>
          <a:xfrm>
            <a:off x="6126480" y="2029968"/>
            <a:ext cx="1554480" cy="457200"/>
          </a:xfrm>
          <a:prstGeom prst="rect">
            <a:avLst/>
          </a:prstGeom>
          <a:noFill/>
          <a:ln/>
        </p:spPr>
        <p:txBody>
          <a:bodyPr wrap="square" lIns="0" tIns="0" rIns="0" bIns="0" rtlCol="0" anchor="ctr"/>
          <a:lstStyle/>
          <a:p>
            <a:pPr indent="0" marL="0">
              <a:buNone/>
            </a:pPr>
            <a:r>
              <a:rPr lang="en-US" sz="1400" b="1" dirty="0">
                <a:solidFill>
                  <a:srgbClr val="2D9B8A"/>
                </a:solidFill>
                <a:latin typeface="Calibri" pitchFamily="34" charset="0"/>
                <a:ea typeface="Calibri" pitchFamily="34" charset="-122"/>
                <a:cs typeface="Calibri" pitchFamily="34" charset="-120"/>
              </a:rPr>
              <a:t>60.1%</a:t>
            </a:r>
            <a:endParaRPr lang="en-US" sz="1400" dirty="0"/>
          </a:p>
        </p:txBody>
      </p:sp>
      <p:sp>
        <p:nvSpPr>
          <p:cNvPr id="9" name="Text 7"/>
          <p:cNvSpPr txBox="1"/>
          <p:nvPr/>
        </p:nvSpPr>
        <p:spPr>
          <a:xfrm>
            <a:off x="7680960" y="2029968"/>
            <a:ext cx="1554480" cy="457200"/>
          </a:xfrm>
          <a:prstGeom prst="rect">
            <a:avLst/>
          </a:prstGeom>
          <a:noFill/>
          <a:ln/>
        </p:spPr>
        <p:txBody>
          <a:bodyPr wrap="square" lIns="0" tIns="0" rIns="0" bIns="0" rtlCol="0" anchor="ctr"/>
          <a:lstStyle/>
          <a:p>
            <a:pPr indent="0" marL="0">
              <a:buNone/>
            </a:pPr>
            <a:r>
              <a:rPr lang="en-US" sz="2000" b="1" dirty="0">
                <a:solidFill>
                  <a:srgbClr val="2D9B8A"/>
                </a:solidFill>
                <a:latin typeface="Calibri" pitchFamily="34" charset="0"/>
                <a:ea typeface="Calibri" pitchFamily="34" charset="-122"/>
                <a:cs typeface="Calibri" pitchFamily="34" charset="-120"/>
              </a:rPr>
              <a:t>2.51×</a:t>
            </a:r>
            <a:endParaRPr lang="en-US" sz="2000" dirty="0"/>
          </a:p>
        </p:txBody>
      </p:sp>
      <p:sp>
        <p:nvSpPr>
          <p:cNvPr id="10" name="Text 8"/>
          <p:cNvSpPr txBox="1"/>
          <p:nvPr/>
        </p:nvSpPr>
        <p:spPr>
          <a:xfrm>
            <a:off x="9235440" y="2029968"/>
            <a:ext cx="1645920" cy="457200"/>
          </a:xfrm>
          <a:prstGeom prst="rect">
            <a:avLst/>
          </a:prstGeom>
          <a:noFill/>
          <a:ln/>
        </p:spPr>
        <p:txBody>
          <a:bodyPr wrap="square" lIns="0" tIns="0" rIns="0" bIns="0" rtlCol="0" anchor="ctr"/>
          <a:lstStyle/>
          <a:p>
            <a:pPr indent="0" marL="0">
              <a:buNone/>
            </a:pPr>
            <a:r>
              <a:rPr lang="en-US" sz="1400" dirty="0">
                <a:solidFill>
                  <a:srgbClr val="E8EDF2"/>
                </a:solidFill>
                <a:latin typeface="Calibri" pitchFamily="34" charset="0"/>
                <a:ea typeface="Calibri" pitchFamily="34" charset="-122"/>
                <a:cs typeface="Calibri" pitchFamily="34" charset="-120"/>
              </a:rPr>
              <a:t>t = 676.00</a:t>
            </a:r>
            <a:endParaRPr lang="en-US" sz="1400" dirty="0"/>
          </a:p>
        </p:txBody>
      </p:sp>
      <p:sp>
        <p:nvSpPr>
          <p:cNvPr id="11" name="Shape 9"/>
          <p:cNvSpPr/>
          <p:nvPr/>
        </p:nvSpPr>
        <p:spPr>
          <a:xfrm>
            <a:off x="548640" y="2880360"/>
            <a:ext cx="11091672" cy="868680"/>
          </a:xfrm>
          <a:prstGeom prst="roundRect">
            <a:avLst>
              <a:gd name="adj" fmla="val 6316"/>
            </a:avLst>
          </a:prstGeom>
          <a:solidFill>
            <a:srgbClr val="2B3A4A"/>
          </a:solidFill>
          <a:ln w="9525">
            <a:solidFill>
              <a:srgbClr val="3C4E61"/>
            </a:solidFill>
            <a:prstDash val="solid"/>
          </a:ln>
        </p:spPr>
      </p:sp>
      <p:sp>
        <p:nvSpPr>
          <p:cNvPr id="12" name="Text 10"/>
          <p:cNvSpPr txBox="1"/>
          <p:nvPr/>
        </p:nvSpPr>
        <p:spPr>
          <a:xfrm>
            <a:off x="822960" y="3081528"/>
            <a:ext cx="1828800" cy="457200"/>
          </a:xfrm>
          <a:prstGeom prst="rect">
            <a:avLst/>
          </a:prstGeom>
          <a:noFill/>
          <a:ln/>
        </p:spPr>
        <p:txBody>
          <a:bodyPr wrap="square" lIns="0" tIns="0" rIns="0" bIns="0" rtlCol="0" anchor="ctr"/>
          <a:lstStyle/>
          <a:p>
            <a:pPr indent="0" marL="0">
              <a:buNone/>
            </a:pPr>
            <a:r>
              <a:rPr lang="en-US" sz="1800" b="1" dirty="0">
                <a:solidFill>
                  <a:srgbClr val="E8EDF2"/>
                </a:solidFill>
                <a:latin typeface="Cambria" pitchFamily="34" charset="0"/>
                <a:ea typeface="Cambria" pitchFamily="34" charset="-122"/>
                <a:cs typeface="Cambria" pitchFamily="34" charset="-120"/>
              </a:rPr>
              <a:t>raytrace</a:t>
            </a:r>
            <a:endParaRPr lang="en-US" sz="1800" dirty="0"/>
          </a:p>
        </p:txBody>
      </p:sp>
      <p:sp>
        <p:nvSpPr>
          <p:cNvPr id="13" name="Text 11"/>
          <p:cNvSpPr txBox="1"/>
          <p:nvPr/>
        </p:nvSpPr>
        <p:spPr>
          <a:xfrm>
            <a:off x="2651760" y="3081528"/>
            <a:ext cx="1737360" cy="457200"/>
          </a:xfrm>
          <a:prstGeom prst="rect">
            <a:avLst/>
          </a:prstGeom>
          <a:noFill/>
          <a:ln/>
        </p:spPr>
        <p:txBody>
          <a:bodyPr wrap="square" lIns="0" tIns="0" rIns="0" bIns="0" rtlCol="0" anchor="ctr"/>
          <a:lstStyle/>
          <a:p>
            <a:pPr indent="0" marL="0">
              <a:buNone/>
            </a:pPr>
            <a:r>
              <a:rPr lang="en-US" sz="1400" dirty="0">
                <a:solidFill>
                  <a:srgbClr val="E8833A"/>
                </a:solidFill>
                <a:latin typeface="Calibri" pitchFamily="34" charset="0"/>
                <a:ea typeface="Calibri" pitchFamily="34" charset="-122"/>
                <a:cs typeface="Calibri" pitchFamily="34" charset="-120"/>
              </a:rPr>
              <a:t>809.3 ms</a:t>
            </a:r>
            <a:endParaRPr lang="en-US" sz="1400" dirty="0"/>
          </a:p>
        </p:txBody>
      </p:sp>
      <p:sp>
        <p:nvSpPr>
          <p:cNvPr id="14" name="Text 12"/>
          <p:cNvSpPr txBox="1"/>
          <p:nvPr/>
        </p:nvSpPr>
        <p:spPr>
          <a:xfrm>
            <a:off x="4389120" y="3081528"/>
            <a:ext cx="1737360" cy="457200"/>
          </a:xfrm>
          <a:prstGeom prst="rect">
            <a:avLst/>
          </a:prstGeom>
          <a:noFill/>
          <a:ln/>
        </p:spPr>
        <p:txBody>
          <a:bodyPr wrap="square" lIns="0" tIns="0" rIns="0" bIns="0" rtlCol="0" anchor="ctr"/>
          <a:lstStyle/>
          <a:p>
            <a:pPr indent="0" marL="0">
              <a:buNone/>
            </a:pPr>
            <a:r>
              <a:rPr lang="en-US" sz="1400" dirty="0">
                <a:solidFill>
                  <a:srgbClr val="2D9B8A"/>
                </a:solidFill>
                <a:latin typeface="Calibri" pitchFamily="34" charset="0"/>
                <a:ea typeface="Calibri" pitchFamily="34" charset="-122"/>
                <a:cs typeface="Calibri" pitchFamily="34" charset="-120"/>
              </a:rPr>
              <a:t>282.2 ms</a:t>
            </a:r>
            <a:endParaRPr lang="en-US" sz="1400" dirty="0"/>
          </a:p>
        </p:txBody>
      </p:sp>
      <p:sp>
        <p:nvSpPr>
          <p:cNvPr id="15" name="Text 13"/>
          <p:cNvSpPr txBox="1"/>
          <p:nvPr/>
        </p:nvSpPr>
        <p:spPr>
          <a:xfrm>
            <a:off x="6126480" y="3081528"/>
            <a:ext cx="1554480" cy="457200"/>
          </a:xfrm>
          <a:prstGeom prst="rect">
            <a:avLst/>
          </a:prstGeom>
          <a:noFill/>
          <a:ln/>
        </p:spPr>
        <p:txBody>
          <a:bodyPr wrap="square" lIns="0" tIns="0" rIns="0" bIns="0" rtlCol="0" anchor="ctr"/>
          <a:lstStyle/>
          <a:p>
            <a:pPr indent="0" marL="0">
              <a:buNone/>
            </a:pPr>
            <a:r>
              <a:rPr lang="en-US" sz="1400" b="1" dirty="0">
                <a:solidFill>
                  <a:srgbClr val="2D9B8A"/>
                </a:solidFill>
                <a:latin typeface="Calibri" pitchFamily="34" charset="0"/>
                <a:ea typeface="Calibri" pitchFamily="34" charset="-122"/>
                <a:cs typeface="Calibri" pitchFamily="34" charset="-120"/>
              </a:rPr>
              <a:t>65.1%</a:t>
            </a:r>
            <a:endParaRPr lang="en-US" sz="1400" dirty="0"/>
          </a:p>
        </p:txBody>
      </p:sp>
      <p:sp>
        <p:nvSpPr>
          <p:cNvPr id="16" name="Text 14"/>
          <p:cNvSpPr txBox="1"/>
          <p:nvPr/>
        </p:nvSpPr>
        <p:spPr>
          <a:xfrm>
            <a:off x="7680960" y="3081528"/>
            <a:ext cx="1554480" cy="457200"/>
          </a:xfrm>
          <a:prstGeom prst="rect">
            <a:avLst/>
          </a:prstGeom>
          <a:noFill/>
          <a:ln/>
        </p:spPr>
        <p:txBody>
          <a:bodyPr wrap="square" lIns="0" tIns="0" rIns="0" bIns="0" rtlCol="0" anchor="ctr"/>
          <a:lstStyle/>
          <a:p>
            <a:pPr indent="0" marL="0">
              <a:buNone/>
            </a:pPr>
            <a:r>
              <a:rPr lang="en-US" sz="2000" b="1" dirty="0">
                <a:solidFill>
                  <a:srgbClr val="2D9B8A"/>
                </a:solidFill>
                <a:latin typeface="Calibri" pitchFamily="34" charset="0"/>
                <a:ea typeface="Calibri" pitchFamily="34" charset="-122"/>
                <a:cs typeface="Calibri" pitchFamily="34" charset="-120"/>
              </a:rPr>
              <a:t>2.87×</a:t>
            </a:r>
            <a:endParaRPr lang="en-US" sz="2000" dirty="0"/>
          </a:p>
        </p:txBody>
      </p:sp>
      <p:sp>
        <p:nvSpPr>
          <p:cNvPr id="17" name="Text 15"/>
          <p:cNvSpPr txBox="1"/>
          <p:nvPr/>
        </p:nvSpPr>
        <p:spPr>
          <a:xfrm>
            <a:off x="9235440" y="3081528"/>
            <a:ext cx="1645920" cy="457200"/>
          </a:xfrm>
          <a:prstGeom prst="rect">
            <a:avLst/>
          </a:prstGeom>
          <a:noFill/>
          <a:ln/>
        </p:spPr>
        <p:txBody>
          <a:bodyPr wrap="square" lIns="0" tIns="0" rIns="0" bIns="0" rtlCol="0" anchor="ctr"/>
          <a:lstStyle/>
          <a:p>
            <a:pPr indent="0" marL="0">
              <a:buNone/>
            </a:pPr>
            <a:r>
              <a:rPr lang="en-US" sz="1400" dirty="0">
                <a:solidFill>
                  <a:srgbClr val="E8EDF2"/>
                </a:solidFill>
                <a:latin typeface="Calibri" pitchFamily="34" charset="0"/>
                <a:ea typeface="Calibri" pitchFamily="34" charset="-122"/>
                <a:cs typeface="Calibri" pitchFamily="34" charset="-120"/>
              </a:rPr>
              <a:t>t = 315.11</a:t>
            </a:r>
            <a:endParaRPr lang="en-US" sz="1400" dirty="0"/>
          </a:p>
        </p:txBody>
      </p:sp>
      <p:sp>
        <p:nvSpPr>
          <p:cNvPr id="18" name="Text 16"/>
          <p:cNvSpPr txBox="1"/>
          <p:nvPr/>
        </p:nvSpPr>
        <p:spPr>
          <a:xfrm>
            <a:off x="548640" y="4069080"/>
            <a:ext cx="10698480" cy="457200"/>
          </a:xfrm>
          <a:prstGeom prst="rect">
            <a:avLst/>
          </a:prstGeom>
          <a:noFill/>
          <a:ln/>
        </p:spPr>
        <p:txBody>
          <a:bodyPr wrap="square" lIns="0" tIns="0" rIns="0" bIns="0" rtlCol="0" anchor="ctr"/>
          <a:lstStyle/>
          <a:p>
            <a:pPr indent="0" marL="0">
              <a:lnSpc>
                <a:spcPts val="1900"/>
              </a:lnSpc>
              <a:buNone/>
            </a:pPr>
            <a:r>
              <a:rPr lang="en-US" sz="1400" dirty="0">
                <a:solidFill>
                  <a:srgbClr val="AFBECD"/>
                </a:solidFill>
                <a:latin typeface="Calibri" pitchFamily="34" charset="0"/>
                <a:ea typeface="Calibri" pitchFamily="34" charset="-122"/>
                <a:cs typeface="Calibri" pitchFamily="34" charset="-120"/>
              </a:rPr>
              <a:t>Measured inside the course QEMU guest. Both clear the bar by roughly 9×, both statistically significant, and both with output identical to the original — byte for byte for pyflate, pixel for pixel for raytrace.</a:t>
            </a:r>
            <a:endParaRPr lang="en-US" sz="1400" dirty="0"/>
          </a:p>
        </p:txBody>
      </p:sp>
      <p:sp>
        <p:nvSpPr>
          <p:cNvPr id="19" name="Shape 17"/>
          <p:cNvSpPr/>
          <p:nvPr/>
        </p:nvSpPr>
        <p:spPr>
          <a:xfrm>
            <a:off x="548640" y="4709160"/>
            <a:ext cx="11091672" cy="1234440"/>
          </a:xfrm>
          <a:prstGeom prst="roundRect">
            <a:avLst>
              <a:gd name="adj" fmla="val 4444"/>
            </a:avLst>
          </a:prstGeom>
          <a:solidFill>
            <a:srgbClr val="2B3A4A"/>
          </a:solidFill>
          <a:ln w="19050">
            <a:solidFill>
              <a:srgbClr val="2D9B8A"/>
            </a:solidFill>
            <a:prstDash val="solid"/>
          </a:ln>
        </p:spPr>
      </p:sp>
      <p:sp>
        <p:nvSpPr>
          <p:cNvPr id="20" name="Text 18"/>
          <p:cNvSpPr txBox="1"/>
          <p:nvPr/>
        </p:nvSpPr>
        <p:spPr>
          <a:xfrm>
            <a:off x="868680" y="4846320"/>
            <a:ext cx="10424160" cy="274320"/>
          </a:xfrm>
          <a:prstGeom prst="rect">
            <a:avLst/>
          </a:prstGeom>
          <a:noFill/>
          <a:ln/>
        </p:spPr>
        <p:txBody>
          <a:bodyPr wrap="square" lIns="0" tIns="0" rIns="0" bIns="0" rtlCol="0" anchor="ctr"/>
          <a:lstStyle/>
          <a:p>
            <a:pPr indent="0" marL="0">
              <a:buNone/>
            </a:pPr>
            <a:r>
              <a:rPr lang="en-US" sz="1300" b="1" dirty="0">
                <a:solidFill>
                  <a:srgbClr val="2D9B8A"/>
                </a:solidFill>
                <a:latin typeface="Calibri" pitchFamily="34" charset="0"/>
                <a:ea typeface="Calibri" pitchFamily="34" charset="-122"/>
                <a:cs typeface="Calibri" pitchFamily="34" charset="-120"/>
              </a:rPr>
              <a:t>What we would want you to take away</a:t>
            </a:r>
            <a:endParaRPr lang="en-US" sz="1300" dirty="0"/>
          </a:p>
        </p:txBody>
      </p:sp>
      <p:sp>
        <p:nvSpPr>
          <p:cNvPr id="21" name="Text 19"/>
          <p:cNvSpPr txBox="1"/>
          <p:nvPr/>
        </p:nvSpPr>
        <p:spPr>
          <a:xfrm>
            <a:off x="868680" y="5138928"/>
            <a:ext cx="10424160" cy="685800"/>
          </a:xfrm>
          <a:prstGeom prst="rect">
            <a:avLst/>
          </a:prstGeom>
          <a:noFill/>
          <a:ln/>
        </p:spPr>
        <p:txBody>
          <a:bodyPr wrap="square" lIns="0" tIns="0" rIns="0" bIns="0" rtlCol="0" anchor="ctr"/>
          <a:lstStyle/>
          <a:p>
            <a:pPr indent="0" marL="0">
              <a:lnSpc>
                <a:spcPts val="1800"/>
              </a:lnSpc>
              <a:buNone/>
            </a:pPr>
            <a:r>
              <a:rPr lang="en-US" sz="1350" dirty="0">
                <a:solidFill>
                  <a:srgbClr val="FFFFFF"/>
                </a:solidFill>
                <a:latin typeface="Calibri" pitchFamily="34" charset="0"/>
                <a:ea typeface="Calibri" pitchFamily="34" charset="-122"/>
                <a:cs typeface="Calibri" pitchFamily="34" charset="-120"/>
              </a:rPr>
              <a:t>In both benchmarks the obvious diagnosis was wrong, and the counters — not intuition — settled it. Cycles fell in step with the stopwatch while IPC barely moved. We did not make the machine faster; we stopped asking it to do work that was never needed.</a:t>
            </a:r>
            <a:endParaRPr lang="en-US" sz="1350" dirty="0"/>
          </a:p>
        </p:txBody>
      </p:sp>
      <p:sp>
        <p:nvSpPr>
          <p:cNvPr id="22" name="Text 20"/>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8A97A6"/>
                </a:solidFill>
                <a:latin typeface="Calibri" pitchFamily="34" charset="0"/>
                <a:ea typeface="Calibri" pitchFamily="34" charset="-122"/>
                <a:cs typeface="Calibri" pitchFamily="34" charset="-120"/>
              </a:rPr>
              <a:t>Lana</a:t>
            </a:r>
            <a:endParaRPr lang="en-US" sz="1000" dirty="0"/>
          </a:p>
        </p:txBody>
      </p:sp>
      <p:sp>
        <p:nvSpPr>
          <p:cNvPr id="23" name="Text 21"/>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8A97A6"/>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548640" y="1417320"/>
            <a:ext cx="11091672" cy="274320"/>
          </a:xfrm>
          <a:prstGeom prst="rect">
            <a:avLst/>
          </a:prstGeom>
          <a:noFill/>
          <a:ln/>
        </p:spPr>
        <p:txBody>
          <a:bodyPr wrap="square" lIns="0" tIns="0" rIns="0" bIns="0" rtlCol="0" anchor="ctr"/>
          <a:lstStyle/>
          <a:p>
            <a:pPr indent="0" marL="0">
              <a:buNone/>
            </a:pPr>
            <a:r>
              <a:rPr lang="en-US" sz="1300" b="1" spc="200" kern="0" dirty="0">
                <a:solidFill>
                  <a:srgbClr val="E8833A"/>
                </a:solidFill>
                <a:latin typeface="Calibri" pitchFamily="34" charset="0"/>
                <a:ea typeface="Calibri" pitchFamily="34" charset="-122"/>
                <a:cs typeface="Calibri" pitchFamily="34" charset="-120"/>
              </a:rPr>
              <a:t>END OF PRESENTATION</a:t>
            </a:r>
            <a:endParaRPr lang="en-US" sz="1300" dirty="0"/>
          </a:p>
        </p:txBody>
      </p:sp>
      <p:sp>
        <p:nvSpPr>
          <p:cNvPr id="3" name="Text 1"/>
          <p:cNvSpPr txBox="1"/>
          <p:nvPr/>
        </p:nvSpPr>
        <p:spPr>
          <a:xfrm>
            <a:off x="548640" y="1783080"/>
            <a:ext cx="7863840" cy="11430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4" name="Text 2"/>
          <p:cNvSpPr txBox="1"/>
          <p:nvPr/>
        </p:nvSpPr>
        <p:spPr>
          <a:xfrm>
            <a:off x="548640" y="3017520"/>
            <a:ext cx="7680960" cy="685800"/>
          </a:xfrm>
          <a:prstGeom prst="rect">
            <a:avLst/>
          </a:prstGeom>
          <a:noFill/>
          <a:ln/>
        </p:spPr>
        <p:txBody>
          <a:bodyPr wrap="square" lIns="0" tIns="0" rIns="0" bIns="0" rtlCol="0" anchor="ctr"/>
          <a:lstStyle/>
          <a:p>
            <a:pPr indent="0" marL="0">
              <a:lnSpc>
                <a:spcPts val="2100"/>
              </a:lnSpc>
              <a:buNone/>
            </a:pPr>
            <a:r>
              <a:rPr lang="en-US" sz="1500" dirty="0">
                <a:solidFill>
                  <a:srgbClr val="AFBECD"/>
                </a:solidFill>
                <a:latin typeface="Calibri" pitchFamily="34" charset="0"/>
                <a:ea typeface="Calibri" pitchFamily="34" charset="-122"/>
                <a:cs typeface="Calibri" pitchFamily="34" charset="-120"/>
              </a:rPr>
              <a:t>Questions welcome — the code runs, and we can open any file, flame graph or testbench you would like to see.</a:t>
            </a:r>
            <a:endParaRPr lang="en-US" sz="1500" dirty="0"/>
          </a:p>
        </p:txBody>
      </p:sp>
      <p:sp>
        <p:nvSpPr>
          <p:cNvPr id="5" name="Text 3"/>
          <p:cNvSpPr txBox="1"/>
          <p:nvPr/>
        </p:nvSpPr>
        <p:spPr>
          <a:xfrm>
            <a:off x="548640" y="3886200"/>
            <a:ext cx="731520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Taha Taha   ·   Lana Bakre</a:t>
            </a:r>
            <a:endParaRPr lang="en-US" sz="1600" dirty="0"/>
          </a:p>
        </p:txBody>
      </p:sp>
      <p:sp>
        <p:nvSpPr>
          <p:cNvPr id="6" name="Text 4"/>
          <p:cNvSpPr txBox="1"/>
          <p:nvPr/>
        </p:nvSpPr>
        <p:spPr>
          <a:xfrm>
            <a:off x="548640" y="4224528"/>
            <a:ext cx="7315200" cy="274320"/>
          </a:xfrm>
          <a:prstGeom prst="rect">
            <a:avLst/>
          </a:prstGeom>
          <a:noFill/>
          <a:ln/>
        </p:spPr>
        <p:txBody>
          <a:bodyPr wrap="square" lIns="0" tIns="0" rIns="0" bIns="0" rtlCol="0" anchor="ctr"/>
          <a:lstStyle/>
          <a:p>
            <a:pPr indent="0" marL="0">
              <a:buNone/>
            </a:pPr>
            <a:r>
              <a:rPr lang="en-US" sz="1200" dirty="0">
                <a:solidFill>
                  <a:srgbClr val="8A97A6"/>
                </a:solidFill>
                <a:latin typeface="Calibri" pitchFamily="34" charset="0"/>
                <a:ea typeface="Calibri" pitchFamily="34" charset="-122"/>
                <a:cs typeface="Calibri" pitchFamily="34" charset="-120"/>
              </a:rPr>
              <a:t>HW/SW Co-design  ·  00460882  ·  Technion</a:t>
            </a:r>
            <a:endParaRPr lang="en-US" sz="1200" dirty="0"/>
          </a:p>
        </p:txBody>
      </p:sp>
      <p:sp>
        <p:nvSpPr>
          <p:cNvPr id="7" name="Shape 5"/>
          <p:cNvSpPr/>
          <p:nvPr/>
        </p:nvSpPr>
        <p:spPr>
          <a:xfrm>
            <a:off x="8686800" y="1783080"/>
            <a:ext cx="2971800" cy="2697480"/>
          </a:xfrm>
          <a:prstGeom prst="roundRect">
            <a:avLst>
              <a:gd name="adj" fmla="val 2034"/>
            </a:avLst>
          </a:prstGeom>
          <a:solidFill>
            <a:srgbClr val="2B3A4A"/>
          </a:solidFill>
          <a:ln w="9525">
            <a:solidFill>
              <a:srgbClr val="3C4E61"/>
            </a:solidFill>
            <a:prstDash val="solid"/>
          </a:ln>
        </p:spPr>
      </p:sp>
      <p:sp>
        <p:nvSpPr>
          <p:cNvPr id="8" name="Text 6"/>
          <p:cNvSpPr txBox="1"/>
          <p:nvPr/>
        </p:nvSpPr>
        <p:spPr>
          <a:xfrm>
            <a:off x="8915400" y="1965960"/>
            <a:ext cx="2514600" cy="228600"/>
          </a:xfrm>
          <a:prstGeom prst="rect">
            <a:avLst/>
          </a:prstGeom>
          <a:noFill/>
          <a:ln/>
        </p:spPr>
        <p:txBody>
          <a:bodyPr wrap="square" lIns="0" tIns="0" rIns="0" bIns="0" rtlCol="0" anchor="ctr"/>
          <a:lstStyle/>
          <a:p>
            <a:pPr indent="0" marL="0">
              <a:buNone/>
            </a:pPr>
            <a:r>
              <a:rPr lang="en-US" sz="1000" b="1" spc="150" kern="0" dirty="0">
                <a:solidFill>
                  <a:srgbClr val="8A97A6"/>
                </a:solidFill>
                <a:latin typeface="Calibri" pitchFamily="34" charset="0"/>
                <a:ea typeface="Calibri" pitchFamily="34" charset="-122"/>
                <a:cs typeface="Calibri" pitchFamily="34" charset="-120"/>
              </a:rPr>
              <a:t>RESULTS</a:t>
            </a:r>
            <a:endParaRPr lang="en-US" sz="1000" dirty="0"/>
          </a:p>
        </p:txBody>
      </p:sp>
      <p:sp>
        <p:nvSpPr>
          <p:cNvPr id="9" name="Text 7"/>
          <p:cNvSpPr txBox="1"/>
          <p:nvPr/>
        </p:nvSpPr>
        <p:spPr>
          <a:xfrm>
            <a:off x="8915400" y="2331720"/>
            <a:ext cx="2514600" cy="256032"/>
          </a:xfrm>
          <a:prstGeom prst="rect">
            <a:avLst/>
          </a:prstGeom>
          <a:noFill/>
          <a:ln/>
        </p:spPr>
        <p:txBody>
          <a:bodyPr wrap="square" lIns="0" tIns="0" rIns="0" bIns="0" rtlCol="0" anchor="ctr"/>
          <a:lstStyle/>
          <a:p>
            <a:pPr indent="0" marL="0">
              <a:buNone/>
            </a:pPr>
            <a:r>
              <a:rPr lang="en-US" sz="1200" dirty="0">
                <a:solidFill>
                  <a:srgbClr val="AFBECD"/>
                </a:solidFill>
                <a:latin typeface="Calibri" pitchFamily="34" charset="0"/>
                <a:ea typeface="Calibri" pitchFamily="34" charset="-122"/>
                <a:cs typeface="Calibri" pitchFamily="34" charset="-120"/>
              </a:rPr>
              <a:t>pyflate</a:t>
            </a:r>
            <a:endParaRPr lang="en-US" sz="1200" dirty="0"/>
          </a:p>
        </p:txBody>
      </p:sp>
      <p:sp>
        <p:nvSpPr>
          <p:cNvPr id="10" name="Text 8"/>
          <p:cNvSpPr txBox="1"/>
          <p:nvPr/>
        </p:nvSpPr>
        <p:spPr>
          <a:xfrm>
            <a:off x="8915400" y="2569464"/>
            <a:ext cx="2514600" cy="502920"/>
          </a:xfrm>
          <a:prstGeom prst="rect">
            <a:avLst/>
          </a:prstGeom>
          <a:noFill/>
          <a:ln/>
        </p:spPr>
        <p:txBody>
          <a:bodyPr wrap="square" lIns="0" tIns="0" rIns="0" bIns="0" rtlCol="0" anchor="ctr"/>
          <a:lstStyle/>
          <a:p>
            <a:pPr indent="0" marL="0">
              <a:buNone/>
            </a:pPr>
            <a:r>
              <a:rPr lang="en-US" sz="3000" b="1" dirty="0">
                <a:solidFill>
                  <a:srgbClr val="2D9B8A"/>
                </a:solidFill>
                <a:latin typeface="Cambria" pitchFamily="34" charset="0"/>
                <a:ea typeface="Cambria" pitchFamily="34" charset="-122"/>
                <a:cs typeface="Cambria" pitchFamily="34" charset="-120"/>
              </a:rPr>
              <a:t>2.51×</a:t>
            </a:r>
            <a:endParaRPr lang="en-US" sz="3000" dirty="0"/>
          </a:p>
        </p:txBody>
      </p:sp>
      <p:sp>
        <p:nvSpPr>
          <p:cNvPr id="11" name="Text 9"/>
          <p:cNvSpPr txBox="1"/>
          <p:nvPr/>
        </p:nvSpPr>
        <p:spPr>
          <a:xfrm>
            <a:off x="8915400" y="3081528"/>
            <a:ext cx="2514600" cy="228600"/>
          </a:xfrm>
          <a:prstGeom prst="rect">
            <a:avLst/>
          </a:prstGeom>
          <a:noFill/>
          <a:ln/>
        </p:spPr>
        <p:txBody>
          <a:bodyPr wrap="square" lIns="0" tIns="0" rIns="0" bIns="0" rtlCol="0" anchor="ctr"/>
          <a:lstStyle/>
          <a:p>
            <a:pPr indent="0" marL="0">
              <a:buNone/>
            </a:pPr>
            <a:r>
              <a:rPr lang="en-US" sz="1050" dirty="0">
                <a:solidFill>
                  <a:srgbClr val="8A97A6"/>
                </a:solidFill>
                <a:latin typeface="Calibri" pitchFamily="34" charset="0"/>
                <a:ea typeface="Calibri" pitchFamily="34" charset="-122"/>
                <a:cs typeface="Calibri" pitchFamily="34" charset="-120"/>
              </a:rPr>
              <a:t>60.1% less time</a:t>
            </a:r>
            <a:endParaRPr lang="en-US" sz="1050" dirty="0"/>
          </a:p>
        </p:txBody>
      </p:sp>
      <p:sp>
        <p:nvSpPr>
          <p:cNvPr id="12" name="Text 10"/>
          <p:cNvSpPr txBox="1"/>
          <p:nvPr/>
        </p:nvSpPr>
        <p:spPr>
          <a:xfrm>
            <a:off x="8915400" y="3383280"/>
            <a:ext cx="2514600" cy="256032"/>
          </a:xfrm>
          <a:prstGeom prst="rect">
            <a:avLst/>
          </a:prstGeom>
          <a:noFill/>
          <a:ln/>
        </p:spPr>
        <p:txBody>
          <a:bodyPr wrap="square" lIns="0" tIns="0" rIns="0" bIns="0" rtlCol="0" anchor="ctr"/>
          <a:lstStyle/>
          <a:p>
            <a:pPr indent="0" marL="0">
              <a:buNone/>
            </a:pPr>
            <a:r>
              <a:rPr lang="en-US" sz="1200" dirty="0">
                <a:solidFill>
                  <a:srgbClr val="AFBECD"/>
                </a:solidFill>
                <a:latin typeface="Calibri" pitchFamily="34" charset="0"/>
                <a:ea typeface="Calibri" pitchFamily="34" charset="-122"/>
                <a:cs typeface="Calibri" pitchFamily="34" charset="-120"/>
              </a:rPr>
              <a:t>raytrace</a:t>
            </a:r>
            <a:endParaRPr lang="en-US" sz="1200" dirty="0"/>
          </a:p>
        </p:txBody>
      </p:sp>
      <p:sp>
        <p:nvSpPr>
          <p:cNvPr id="13" name="Text 11"/>
          <p:cNvSpPr txBox="1"/>
          <p:nvPr/>
        </p:nvSpPr>
        <p:spPr>
          <a:xfrm>
            <a:off x="8915400" y="3621024"/>
            <a:ext cx="2514600" cy="502920"/>
          </a:xfrm>
          <a:prstGeom prst="rect">
            <a:avLst/>
          </a:prstGeom>
          <a:noFill/>
          <a:ln/>
        </p:spPr>
        <p:txBody>
          <a:bodyPr wrap="square" lIns="0" tIns="0" rIns="0" bIns="0" rtlCol="0" anchor="ctr"/>
          <a:lstStyle/>
          <a:p>
            <a:pPr indent="0" marL="0">
              <a:buNone/>
            </a:pPr>
            <a:r>
              <a:rPr lang="en-US" sz="3000" b="1" dirty="0">
                <a:solidFill>
                  <a:srgbClr val="2D9B8A"/>
                </a:solidFill>
                <a:latin typeface="Cambria" pitchFamily="34" charset="0"/>
                <a:ea typeface="Cambria" pitchFamily="34" charset="-122"/>
                <a:cs typeface="Cambria" pitchFamily="34" charset="-120"/>
              </a:rPr>
              <a:t>2.87×</a:t>
            </a:r>
            <a:endParaRPr lang="en-US" sz="3000" dirty="0"/>
          </a:p>
        </p:txBody>
      </p:sp>
      <p:sp>
        <p:nvSpPr>
          <p:cNvPr id="14" name="Text 12"/>
          <p:cNvSpPr txBox="1"/>
          <p:nvPr/>
        </p:nvSpPr>
        <p:spPr>
          <a:xfrm>
            <a:off x="8915400" y="4133088"/>
            <a:ext cx="2514600" cy="228600"/>
          </a:xfrm>
          <a:prstGeom prst="rect">
            <a:avLst/>
          </a:prstGeom>
          <a:noFill/>
          <a:ln/>
        </p:spPr>
        <p:txBody>
          <a:bodyPr wrap="square" lIns="0" tIns="0" rIns="0" bIns="0" rtlCol="0" anchor="ctr"/>
          <a:lstStyle/>
          <a:p>
            <a:pPr indent="0" marL="0">
              <a:buNone/>
            </a:pPr>
            <a:r>
              <a:rPr lang="en-US" sz="1050" dirty="0">
                <a:solidFill>
                  <a:srgbClr val="8A97A6"/>
                </a:solidFill>
                <a:latin typeface="Calibri" pitchFamily="34" charset="0"/>
                <a:ea typeface="Calibri" pitchFamily="34" charset="-122"/>
                <a:cs typeface="Calibri" pitchFamily="34" charset="-120"/>
              </a:rPr>
              <a:t>65.1% less time</a:t>
            </a:r>
            <a:endParaRPr lang="en-US" sz="1050" dirty="0"/>
          </a:p>
        </p:txBody>
      </p:sp>
      <p:sp>
        <p:nvSpPr>
          <p:cNvPr id="15" name="Shape 13"/>
          <p:cNvSpPr/>
          <p:nvPr/>
        </p:nvSpPr>
        <p:spPr>
          <a:xfrm>
            <a:off x="548640" y="4846320"/>
            <a:ext cx="11091672" cy="1051560"/>
          </a:xfrm>
          <a:prstGeom prst="roundRect">
            <a:avLst>
              <a:gd name="adj" fmla="val 5217"/>
            </a:avLst>
          </a:prstGeom>
          <a:solidFill>
            <a:srgbClr val="2B3A4A"/>
          </a:solidFill>
          <a:ln w="19050">
            <a:solidFill>
              <a:srgbClr val="2D9B8A"/>
            </a:solidFill>
            <a:prstDash val="solid"/>
          </a:ln>
        </p:spPr>
      </p:sp>
      <p:sp>
        <p:nvSpPr>
          <p:cNvPr id="16" name="Text 14"/>
          <p:cNvSpPr txBox="1"/>
          <p:nvPr/>
        </p:nvSpPr>
        <p:spPr>
          <a:xfrm>
            <a:off x="868680" y="4983480"/>
            <a:ext cx="10424160" cy="274320"/>
          </a:xfrm>
          <a:prstGeom prst="rect">
            <a:avLst/>
          </a:prstGeom>
          <a:noFill/>
          <a:ln/>
        </p:spPr>
        <p:txBody>
          <a:bodyPr wrap="square" lIns="0" tIns="0" rIns="0" bIns="0" rtlCol="0" anchor="ctr"/>
          <a:lstStyle/>
          <a:p>
            <a:pPr indent="0" marL="0">
              <a:buNone/>
            </a:pPr>
            <a:r>
              <a:rPr lang="en-US" sz="1300" b="1" dirty="0">
                <a:solidFill>
                  <a:srgbClr val="2D9B8A"/>
                </a:solidFill>
                <a:latin typeface="Calibri" pitchFamily="34" charset="0"/>
                <a:ea typeface="Calibri" pitchFamily="34" charset="-122"/>
                <a:cs typeface="Calibri" pitchFamily="34" charset="-120"/>
              </a:rPr>
              <a:t>15 / 15 checks green inside the course QEMU guest</a:t>
            </a:r>
            <a:endParaRPr lang="en-US" sz="1300" dirty="0"/>
          </a:p>
        </p:txBody>
      </p:sp>
      <p:sp>
        <p:nvSpPr>
          <p:cNvPr id="17" name="Text 15"/>
          <p:cNvSpPr txBox="1"/>
          <p:nvPr/>
        </p:nvSpPr>
        <p:spPr>
          <a:xfrm>
            <a:off x="868680" y="5285232"/>
            <a:ext cx="10424160" cy="457200"/>
          </a:xfrm>
          <a:prstGeom prst="rect">
            <a:avLst/>
          </a:prstGeom>
          <a:noFill/>
          <a:ln/>
        </p:spPr>
        <p:txBody>
          <a:bodyPr wrap="square" lIns="0" tIns="0" rIns="0" bIns="0" rtlCol="0" anchor="ctr"/>
          <a:lstStyle/>
          <a:p>
            <a:pPr indent="0" marL="0">
              <a:lnSpc>
                <a:spcPts val="1700"/>
              </a:lnSpc>
              <a:buNone/>
            </a:pPr>
            <a:r>
              <a:rPr lang="en-US" sz="1250" dirty="0">
                <a:solidFill>
                  <a:srgbClr val="E8EDF2"/>
                </a:solidFill>
                <a:latin typeface="Calibri" pitchFamily="34" charset="0"/>
                <a:ea typeface="Calibri" pitchFamily="34" charset="-122"/>
                <a:cs typeface="Calibri" pitchFamily="34" charset="-120"/>
              </a:rPr>
              <a:t>pyflate byte-identical over all 399,360 bytes  ·  raytrace bit-identical at seven resolutions  ·  the bzip2 accelerator decompresses a whole block end to end in simulation</a:t>
            </a:r>
            <a:endParaRPr lang="en-US" sz="1250" dirty="0"/>
          </a:p>
        </p:txBody>
      </p:sp>
      <p:sp>
        <p:nvSpPr>
          <p:cNvPr id="18" name="Text 16"/>
          <p:cNvSpPr txBox="1"/>
          <p:nvPr/>
        </p:nvSpPr>
        <p:spPr>
          <a:xfrm>
            <a:off x="548640" y="5943600"/>
            <a:ext cx="5486400" cy="256032"/>
          </a:xfrm>
          <a:prstGeom prst="rect">
            <a:avLst/>
          </a:prstGeom>
          <a:noFill/>
          <a:ln/>
        </p:spPr>
        <p:txBody>
          <a:bodyPr wrap="square" lIns="0" tIns="0" rIns="0" bIns="0" rtlCol="0" anchor="ctr"/>
          <a:lstStyle/>
          <a:p>
            <a:pPr indent="0" marL="0">
              <a:buNone/>
            </a:pPr>
            <a:r>
              <a:rPr lang="en-US" sz="1100" i="1" dirty="0">
                <a:solidFill>
                  <a:srgbClr val="6B7785"/>
                </a:solidFill>
                <a:latin typeface="Calibri" pitchFamily="34" charset="0"/>
                <a:ea typeface="Calibri" pitchFamily="34" charset="-122"/>
                <a:cs typeface="Calibri" pitchFamily="34" charset="-120"/>
              </a:rPr>
              <a:t>Backup slides follow — B1 to B5</a:t>
            </a:r>
            <a:endParaRPr lang="en-US" sz="1100" dirty="0"/>
          </a:p>
        </p:txBody>
      </p:sp>
      <p:sp>
        <p:nvSpPr>
          <p:cNvPr id="19" name="Text 17"/>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8A97A6"/>
                </a:solidFill>
                <a:latin typeface="Calibri" pitchFamily="34" charset="0"/>
                <a:ea typeface="Calibri" pitchFamily="34" charset="-122"/>
                <a:cs typeface="Calibri" pitchFamily="34" charset="-120"/>
              </a:rPr>
              <a:t>Taha + Lana</a:t>
            </a:r>
            <a:endParaRPr lang="en-US" sz="1000" dirty="0"/>
          </a:p>
        </p:txBody>
      </p:sp>
      <p:sp>
        <p:nvSpPr>
          <p:cNvPr id="20" name="Text 18"/>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8A97A6"/>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457200"/>
            <a:ext cx="6858000" cy="237744"/>
          </a:xfrm>
          <a:prstGeom prst="rect">
            <a:avLst/>
          </a:prstGeom>
          <a:noFill/>
          <a:ln/>
        </p:spPr>
        <p:txBody>
          <a:bodyPr wrap="square" lIns="0" tIns="0" rIns="0" bIns="0" rtlCol="0" anchor="ctr"/>
          <a:lstStyle/>
          <a:p>
            <a:pPr indent="0" marL="0">
              <a:buNone/>
            </a:pPr>
            <a:r>
              <a:rPr lang="en-US" sz="1100" b="1" spc="160" kern="0" dirty="0">
                <a:solidFill>
                  <a:srgbClr val="6B7785"/>
                </a:solidFill>
                <a:latin typeface="Calibri" pitchFamily="34" charset="0"/>
                <a:ea typeface="Calibri" pitchFamily="34" charset="-122"/>
                <a:cs typeface="Calibri" pitchFamily="34" charset="-120"/>
              </a:rPr>
              <a:t>BACKUP B1</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Canonical Huffman: why limit/base/perm works</a:t>
            </a:r>
            <a:endParaRPr lang="en-US" sz="2900" dirty="0"/>
          </a:p>
        </p:txBody>
      </p:sp>
      <p:sp>
        <p:nvSpPr>
          <p:cNvPr id="4" name="Text 2"/>
          <p:cNvSpPr txBox="1"/>
          <p:nvPr/>
        </p:nvSpPr>
        <p:spPr>
          <a:xfrm>
            <a:off x="8897112" y="457200"/>
            <a:ext cx="2743200" cy="237744"/>
          </a:xfrm>
          <a:prstGeom prst="rect">
            <a:avLst/>
          </a:prstGeom>
          <a:noFill/>
          <a:ln/>
        </p:spPr>
        <p:txBody>
          <a:bodyPr wrap="square" lIns="0" tIns="0" rIns="0" bIns="0" rtlCol="0" anchor="ctr"/>
          <a:lstStyle/>
          <a:p>
            <a:pPr algn="r" indent="0" marL="0">
              <a:buNone/>
            </a:pPr>
            <a:r>
              <a:rPr lang="en-US" sz="1000" b="1" dirty="0">
                <a:solidFill>
                  <a:srgbClr val="B3543F"/>
                </a:solidFill>
                <a:latin typeface="Calibri" pitchFamily="34" charset="0"/>
                <a:ea typeface="Calibri" pitchFamily="34" charset="-122"/>
                <a:cs typeface="Calibri" pitchFamily="34" charset="-120"/>
              </a:rPr>
              <a:t>BACKUP — not presented</a:t>
            </a:r>
            <a:endParaRPr lang="en-US" sz="1000" dirty="0"/>
          </a:p>
        </p:txBody>
      </p:sp>
      <p:sp>
        <p:nvSpPr>
          <p:cNvPr id="5" name="Text 3"/>
          <p:cNvSpPr txBox="1"/>
          <p:nvPr/>
        </p:nvSpPr>
        <p:spPr>
          <a:xfrm>
            <a:off x="548640" y="1371600"/>
            <a:ext cx="11091672" cy="502920"/>
          </a:xfrm>
          <a:prstGeom prst="rect">
            <a:avLst/>
          </a:prstGeom>
          <a:noFill/>
          <a:ln/>
        </p:spPr>
        <p:txBody>
          <a:bodyPr wrap="square" lIns="0" tIns="0" rIns="0" bIns="0" rtlCol="0" anchor="ctr"/>
          <a:lstStyle/>
          <a:p>
            <a:pPr indent="0" marL="0">
              <a:lnSpc>
                <a:spcPts val="1800"/>
              </a:lnSpc>
              <a:buNone/>
            </a:pPr>
            <a:r>
              <a:rPr lang="en-US" sz="1300" dirty="0">
                <a:solidFill>
                  <a:srgbClr val="1B2430"/>
                </a:solidFill>
                <a:latin typeface="Calibri" pitchFamily="34" charset="0"/>
                <a:ea typeface="Calibri" pitchFamily="34" charset="-122"/>
                <a:cs typeface="Calibri" pitchFamily="34" charset="-120"/>
              </a:rPr>
              <a:t>populate_huffman_symbols() already assigns canonical MSB-first codes — codes handed out in increasing order, shifted left whenever the length grows. That structure is what the linear scan ignores.</a:t>
            </a:r>
            <a:endParaRPr lang="en-US" sz="1300" dirty="0"/>
          </a:p>
        </p:txBody>
      </p:sp>
      <p:sp>
        <p:nvSpPr>
          <p:cNvPr id="6" name="Shape 4"/>
          <p:cNvSpPr/>
          <p:nvPr/>
        </p:nvSpPr>
        <p:spPr>
          <a:xfrm>
            <a:off x="548640" y="1965960"/>
            <a:ext cx="6035040" cy="1828800"/>
          </a:xfrm>
          <a:prstGeom prst="roundRect">
            <a:avLst>
              <a:gd name="adj" fmla="val 2500"/>
            </a:avLst>
          </a:prstGeom>
          <a:solidFill>
            <a:srgbClr val="1B2430"/>
          </a:solidFill>
          <a:ln w="12700">
            <a:solidFill>
              <a:srgbClr val="1B2430"/>
            </a:solidFill>
            <a:prstDash val="solid"/>
          </a:ln>
        </p:spPr>
      </p:sp>
      <p:sp>
        <p:nvSpPr>
          <p:cNvPr id="7" name="Text 5"/>
          <p:cNvSpPr txBox="1"/>
          <p:nvPr/>
        </p:nvSpPr>
        <p:spPr>
          <a:xfrm>
            <a:off x="777240" y="2103120"/>
            <a:ext cx="5577840" cy="1554480"/>
          </a:xfrm>
          <a:prstGeom prst="rect">
            <a:avLst/>
          </a:prstGeom>
          <a:noFill/>
          <a:ln/>
        </p:spPr>
        <p:txBody>
          <a:bodyPr wrap="square" lIns="0" tIns="0" rIns="0" bIns="0" rtlCol="0" anchor="ctr"/>
          <a:lstStyle/>
          <a:p>
            <a:pPr indent="0" marL="0">
              <a:lnSpc>
                <a:spcPts val="1800"/>
              </a:lnSpc>
              <a:buNone/>
            </a:pPr>
            <a:r>
              <a:rPr lang="en-US" sz="1200" dirty="0">
                <a:solidFill>
                  <a:srgbClr val="8FE3D2"/>
                </a:solidFill>
                <a:latin typeface="Courier New" pitchFamily="34" charset="0"/>
                <a:ea typeface="Courier New" pitchFamily="34" charset="-122"/>
                <a:cs typeface="Courier New" pitchFamily="34" charset="-120"/>
              </a:rPr>
              <a:t>zvec = next min_len bits</a:t>
            </a:r>
            <a:endParaRPr lang="en-US" sz="1200" dirty="0"/>
          </a:p>
          <a:p>
            <a:pPr indent="0" marL="0">
              <a:lnSpc>
                <a:spcPts val="1800"/>
              </a:lnSpc>
              <a:buNone/>
            </a:pPr>
            <a:r>
              <a:rPr lang="en-US" sz="1200" dirty="0">
                <a:solidFill>
                  <a:srgbClr val="8FE3D2"/>
                </a:solidFill>
                <a:latin typeface="Courier New" pitchFamily="34" charset="0"/>
                <a:ea typeface="Courier New" pitchFamily="34" charset="-122"/>
                <a:cs typeface="Courier New" pitchFamily="34" charset="-120"/>
              </a:rPr>
              <a:t>while zvec &gt; limit[zn]:</a:t>
            </a:r>
            <a:endParaRPr lang="en-US" sz="1200" dirty="0"/>
          </a:p>
          <a:p>
            <a:pPr indent="0" marL="0">
              <a:lnSpc>
                <a:spcPts val="1800"/>
              </a:lnSpc>
              <a:buNone/>
            </a:pPr>
            <a:r>
              <a:rPr lang="en-US" sz="1200" dirty="0">
                <a:solidFill>
                  <a:srgbClr val="8FE3D2"/>
                </a:solidFill>
                <a:latin typeface="Courier New" pitchFamily="34" charset="0"/>
                <a:ea typeface="Courier New" pitchFamily="34" charset="-122"/>
                <a:cs typeface="Courier New" pitchFamily="34" charset="-120"/>
              </a:rPr>
              <a:t>    zn += 1</a:t>
            </a:r>
            <a:endParaRPr lang="en-US" sz="1200" dirty="0"/>
          </a:p>
          <a:p>
            <a:pPr indent="0" marL="0">
              <a:lnSpc>
                <a:spcPts val="1800"/>
              </a:lnSpc>
              <a:buNone/>
            </a:pPr>
            <a:r>
              <a:rPr lang="en-US" sz="1200" dirty="0">
                <a:solidFill>
                  <a:srgbClr val="8FE3D2"/>
                </a:solidFill>
                <a:latin typeface="Courier New" pitchFamily="34" charset="0"/>
                <a:ea typeface="Courier New" pitchFamily="34" charset="-122"/>
                <a:cs typeface="Courier New" pitchFamily="34" charset="-120"/>
              </a:rPr>
              <a:t>    zvec = (zvec &lt;&lt; 1) | next_bit</a:t>
            </a:r>
            <a:endParaRPr lang="en-US" sz="1200" dirty="0"/>
          </a:p>
          <a:p>
            <a:pPr indent="0" marL="0">
              <a:lnSpc>
                <a:spcPts val="1800"/>
              </a:lnSpc>
              <a:buNone/>
            </a:pPr>
            <a:r>
              <a:rPr lang="en-US" sz="1200" dirty="0">
                <a:solidFill>
                  <a:srgbClr val="8FE3D2"/>
                </a:solidFill>
                <a:latin typeface="Courier New" pitchFamily="34" charset="0"/>
                <a:ea typeface="Courier New" pitchFamily="34" charset="-122"/>
                <a:cs typeface="Courier New" pitchFamily="34" charset="-120"/>
              </a:rPr>
              <a:t>sym = perm[zvec - base[zn]]</a:t>
            </a:r>
            <a:endParaRPr lang="en-US" sz="1200" dirty="0"/>
          </a:p>
        </p:txBody>
      </p:sp>
      <p:sp>
        <p:nvSpPr>
          <p:cNvPr id="8" name="Shape 6"/>
          <p:cNvSpPr/>
          <p:nvPr/>
        </p:nvSpPr>
        <p:spPr>
          <a:xfrm>
            <a:off x="6766560" y="1965960"/>
            <a:ext cx="4873752" cy="1828800"/>
          </a:xfrm>
          <a:prstGeom prst="roundRect">
            <a:avLst>
              <a:gd name="adj" fmla="val 3000"/>
            </a:avLst>
          </a:prstGeom>
          <a:solidFill>
            <a:srgbClr val="F3F6F8"/>
          </a:solidFill>
          <a:ln w="9525">
            <a:solidFill>
              <a:srgbClr val="DBE2E8"/>
            </a:solidFill>
            <a:prstDash val="solid"/>
          </a:ln>
        </p:spPr>
      </p:sp>
      <p:sp>
        <p:nvSpPr>
          <p:cNvPr id="9" name="Text 7"/>
          <p:cNvSpPr txBox="1"/>
          <p:nvPr/>
        </p:nvSpPr>
        <p:spPr>
          <a:xfrm>
            <a:off x="6995160" y="2103120"/>
            <a:ext cx="4389120" cy="27432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Worked example (6 symbols)</a:t>
            </a:r>
            <a:endParaRPr lang="en-US" sz="1200" dirty="0"/>
          </a:p>
        </p:txBody>
      </p:sp>
      <p:sp>
        <p:nvSpPr>
          <p:cNvPr id="10" name="Text 8"/>
          <p:cNvSpPr txBox="1"/>
          <p:nvPr/>
        </p:nvSpPr>
        <p:spPr>
          <a:xfrm>
            <a:off x="6995160" y="2395728"/>
            <a:ext cx="4389120" cy="1280160"/>
          </a:xfrm>
          <a:prstGeom prst="rect">
            <a:avLst/>
          </a:prstGeom>
          <a:noFill/>
          <a:ln/>
        </p:spPr>
        <p:txBody>
          <a:bodyPr wrap="square" lIns="0" tIns="0" rIns="0" bIns="0" rtlCol="0" anchor="ctr"/>
          <a:lstStyle/>
          <a:p>
            <a:pPr indent="0" marL="0">
              <a:lnSpc>
                <a:spcPts val="1400"/>
              </a:lnSpc>
              <a:buNone/>
            </a:pPr>
            <a:r>
              <a:rPr lang="en-US" sz="1050" dirty="0">
                <a:solidFill>
                  <a:srgbClr val="6B7785"/>
                </a:solidFill>
                <a:latin typeface="Courier New" pitchFamily="34" charset="0"/>
                <a:ea typeface="Courier New" pitchFamily="34" charset="-122"/>
                <a:cs typeface="Courier New" pitchFamily="34" charset="-120"/>
              </a:rPr>
              <a:t>lengths [2,2,2,3,4,4]</a:t>
            </a:r>
            <a:endParaRPr lang="en-US" sz="1050" dirty="0"/>
          </a:p>
          <a:p>
            <a:pPr indent="0" marL="0">
              <a:lnSpc>
                <a:spcPts val="1400"/>
              </a:lnSpc>
              <a:buNone/>
            </a:pPr>
            <a:r>
              <a:rPr lang="en-US" sz="1050" dirty="0">
                <a:solidFill>
                  <a:srgbClr val="6B7785"/>
                </a:solidFill>
                <a:latin typeface="Courier New" pitchFamily="34" charset="0"/>
                <a:ea typeface="Courier New" pitchFamily="34" charset="-122"/>
                <a:cs typeface="Courier New" pitchFamily="34" charset="-120"/>
              </a:rPr>
              <a:t>sym 0→00  1→01  2→10</a:t>
            </a:r>
            <a:endParaRPr lang="en-US" sz="1050" dirty="0"/>
          </a:p>
          <a:p>
            <a:pPr indent="0" marL="0">
              <a:lnSpc>
                <a:spcPts val="1400"/>
              </a:lnSpc>
              <a:buNone/>
            </a:pPr>
            <a:r>
              <a:rPr lang="en-US" sz="1050" dirty="0">
                <a:solidFill>
                  <a:srgbClr val="6B7785"/>
                </a:solidFill>
                <a:latin typeface="Courier New" pitchFamily="34" charset="0"/>
                <a:ea typeface="Courier New" pitchFamily="34" charset="-122"/>
                <a:cs typeface="Courier New" pitchFamily="34" charset="-120"/>
              </a:rPr>
              <a:t>sym 3→110  4→1110  5→1111</a:t>
            </a:r>
            <a:endParaRPr lang="en-US" sz="1050" dirty="0"/>
          </a:p>
          <a:p>
            <a:pPr indent="0" marL="0">
              <a:lnSpc>
                <a:spcPts val="1400"/>
              </a:lnSpc>
              <a:buNone/>
            </a:pPr>
            <a:r>
              <a:rPr lang="en-US" sz="1050" dirty="0">
                <a:solidFill>
                  <a:srgbClr val="6B7785"/>
                </a:solidFill>
                <a:latin typeface="Courier New" pitchFamily="34" charset="0"/>
                <a:ea typeface="Courier New" pitchFamily="34" charset="-122"/>
                <a:cs typeface="Courier New" pitchFamily="34" charset="-120"/>
              </a:rPr>
              <a:t>limit[2]=2 base[2]=0</a:t>
            </a:r>
            <a:endParaRPr lang="en-US" sz="1050" dirty="0"/>
          </a:p>
          <a:p>
            <a:pPr indent="0" marL="0">
              <a:lnSpc>
                <a:spcPts val="1400"/>
              </a:lnSpc>
              <a:buNone/>
            </a:pPr>
            <a:r>
              <a:rPr lang="en-US" sz="1050" dirty="0">
                <a:solidFill>
                  <a:srgbClr val="6B7785"/>
                </a:solidFill>
                <a:latin typeface="Courier New" pitchFamily="34" charset="0"/>
                <a:ea typeface="Courier New" pitchFamily="34" charset="-122"/>
                <a:cs typeface="Courier New" pitchFamily="34" charset="-120"/>
              </a:rPr>
              <a:t>limit[3]=6 base[3]=3</a:t>
            </a:r>
            <a:endParaRPr lang="en-US" sz="1050" dirty="0"/>
          </a:p>
          <a:p>
            <a:pPr indent="0" marL="0">
              <a:lnSpc>
                <a:spcPts val="1400"/>
              </a:lnSpc>
              <a:buNone/>
            </a:pPr>
            <a:r>
              <a:rPr lang="en-US" sz="1050" dirty="0">
                <a:solidFill>
                  <a:srgbClr val="6B7785"/>
                </a:solidFill>
                <a:latin typeface="Courier New" pitchFamily="34" charset="0"/>
                <a:ea typeface="Courier New" pitchFamily="34" charset="-122"/>
                <a:cs typeface="Courier New" pitchFamily="34" charset="-120"/>
              </a:rPr>
              <a:t>limit[4]=15 base[4]=10</a:t>
            </a:r>
            <a:endParaRPr lang="en-US" sz="1050" dirty="0"/>
          </a:p>
        </p:txBody>
      </p:sp>
      <p:sp>
        <p:nvSpPr>
          <p:cNvPr id="11" name="Text 9"/>
          <p:cNvSpPr txBox="1"/>
          <p:nvPr/>
        </p:nvSpPr>
        <p:spPr>
          <a:xfrm>
            <a:off x="548640" y="3977640"/>
            <a:ext cx="11091672" cy="548640"/>
          </a:xfrm>
          <a:prstGeom prst="rect">
            <a:avLst/>
          </a:prstGeom>
          <a:noFill/>
          <a:ln/>
        </p:spPr>
        <p:txBody>
          <a:bodyPr wrap="square" lIns="0" tIns="0" rIns="0" bIns="0" rtlCol="0" anchor="ctr"/>
          <a:lstStyle/>
          <a:p>
            <a:pPr indent="0" marL="0">
              <a:lnSpc>
                <a:spcPts val="1700"/>
              </a:lnSpc>
              <a:buNone/>
            </a:pPr>
            <a:r>
              <a:rPr lang="en-US" sz="1250" dirty="0">
                <a:solidFill>
                  <a:srgbClr val="1B2430"/>
                </a:solidFill>
                <a:latin typeface="Calibri" pitchFamily="34" charset="0"/>
                <a:ea typeface="Calibri" pitchFamily="34" charset="-122"/>
                <a:cs typeface="Calibri" pitchFamily="34" charset="-120"/>
              </a:rPr>
              <a:t>These are the exact vectors in tb_huffman_decoder.v. The testbench checks both the decoded symbol and the number of bits retired — a decoder that returns the right symbol while consuming the wrong number of bits destroys the rest of the stream.</a:t>
            </a:r>
            <a:endParaRPr lang="en-US" sz="1250" dirty="0"/>
          </a:p>
        </p:txBody>
      </p:sp>
      <p:sp>
        <p:nvSpPr>
          <p:cNvPr id="12" name="Text 10"/>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backup</a:t>
            </a:r>
            <a:endParaRPr lang="en-US" sz="1000" dirty="0"/>
          </a:p>
        </p:txBody>
      </p:sp>
      <p:sp>
        <p:nvSpPr>
          <p:cNvPr id="13" name="Text 11"/>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457200"/>
            <a:ext cx="6858000" cy="237744"/>
          </a:xfrm>
          <a:prstGeom prst="rect">
            <a:avLst/>
          </a:prstGeom>
          <a:noFill/>
          <a:ln/>
        </p:spPr>
        <p:txBody>
          <a:bodyPr wrap="square" lIns="0" tIns="0" rIns="0" bIns="0" rtlCol="0" anchor="ctr"/>
          <a:lstStyle/>
          <a:p>
            <a:pPr indent="0" marL="0">
              <a:buNone/>
            </a:pPr>
            <a:r>
              <a:rPr lang="en-US" sz="1100" b="1" spc="160" kern="0" dirty="0">
                <a:solidFill>
                  <a:srgbClr val="6B7785"/>
                </a:solidFill>
                <a:latin typeface="Calibri" pitchFamily="34" charset="0"/>
                <a:ea typeface="Calibri" pitchFamily="34" charset="-122"/>
                <a:cs typeface="Calibri" pitchFamily="34" charset="-120"/>
              </a:rPr>
              <a:t>BACKUP B2</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Host/software interface and the three rules</a:t>
            </a:r>
            <a:endParaRPr lang="en-US" sz="2900" dirty="0"/>
          </a:p>
        </p:txBody>
      </p:sp>
      <p:sp>
        <p:nvSpPr>
          <p:cNvPr id="4" name="Text 2"/>
          <p:cNvSpPr txBox="1"/>
          <p:nvPr/>
        </p:nvSpPr>
        <p:spPr>
          <a:xfrm>
            <a:off x="8897112" y="457200"/>
            <a:ext cx="2743200" cy="237744"/>
          </a:xfrm>
          <a:prstGeom prst="rect">
            <a:avLst/>
          </a:prstGeom>
          <a:noFill/>
          <a:ln/>
        </p:spPr>
        <p:txBody>
          <a:bodyPr wrap="square" lIns="0" tIns="0" rIns="0" bIns="0" rtlCol="0" anchor="ctr"/>
          <a:lstStyle/>
          <a:p>
            <a:pPr algn="r" indent="0" marL="0">
              <a:buNone/>
            </a:pPr>
            <a:r>
              <a:rPr lang="en-US" sz="1000" b="1" dirty="0">
                <a:solidFill>
                  <a:srgbClr val="B3543F"/>
                </a:solidFill>
                <a:latin typeface="Calibri" pitchFamily="34" charset="0"/>
                <a:ea typeface="Calibri" pitchFamily="34" charset="-122"/>
                <a:cs typeface="Calibri" pitchFamily="34" charset="-120"/>
              </a:rPr>
              <a:t>BACKUP — not presented</a:t>
            </a:r>
            <a:endParaRPr lang="en-US" sz="1000" dirty="0"/>
          </a:p>
        </p:txBody>
      </p:sp>
      <p:sp>
        <p:nvSpPr>
          <p:cNvPr id="5" name="Shape 3"/>
          <p:cNvSpPr/>
          <p:nvPr/>
        </p:nvSpPr>
        <p:spPr>
          <a:xfrm>
            <a:off x="548640" y="1371600"/>
            <a:ext cx="11091672" cy="1188720"/>
          </a:xfrm>
          <a:prstGeom prst="roundRect">
            <a:avLst>
              <a:gd name="adj" fmla="val 4615"/>
            </a:avLst>
          </a:prstGeom>
          <a:solidFill>
            <a:srgbClr val="F3F6F8"/>
          </a:solidFill>
          <a:ln w="9525">
            <a:solidFill>
              <a:srgbClr val="DBE2E8"/>
            </a:solidFill>
            <a:prstDash val="solid"/>
          </a:ln>
        </p:spPr>
      </p:sp>
      <p:sp>
        <p:nvSpPr>
          <p:cNvPr id="6" name="Text 4"/>
          <p:cNvSpPr txBox="1"/>
          <p:nvPr/>
        </p:nvSpPr>
        <p:spPr>
          <a:xfrm>
            <a:off x="822960" y="1508760"/>
            <a:ext cx="1097280" cy="274320"/>
          </a:xfrm>
          <a:prstGeom prst="rect">
            <a:avLst/>
          </a:prstGeom>
          <a:noFill/>
          <a:ln/>
        </p:spPr>
        <p:txBody>
          <a:bodyPr wrap="square" lIns="0" tIns="0" rIns="0" bIns="0" rtlCol="0" anchor="ctr"/>
          <a:lstStyle/>
          <a:p>
            <a:pPr indent="0" marL="0">
              <a:buNone/>
            </a:pPr>
            <a:r>
              <a:rPr lang="en-US" sz="1300" b="1" dirty="0">
                <a:solidFill>
                  <a:srgbClr val="E8833A"/>
                </a:solidFill>
                <a:latin typeface="Calibri" pitchFamily="34" charset="0"/>
                <a:ea typeface="Calibri" pitchFamily="34" charset="-122"/>
                <a:cs typeface="Calibri" pitchFamily="34" charset="-120"/>
              </a:rPr>
              <a:t>Rule 1</a:t>
            </a:r>
            <a:endParaRPr lang="en-US" sz="1300" dirty="0"/>
          </a:p>
        </p:txBody>
      </p:sp>
      <p:sp>
        <p:nvSpPr>
          <p:cNvPr id="7" name="Text 5"/>
          <p:cNvSpPr txBox="1"/>
          <p:nvPr/>
        </p:nvSpPr>
        <p:spPr>
          <a:xfrm>
            <a:off x="1965960" y="1508760"/>
            <a:ext cx="9326880" cy="27432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Do not expect users to change their code</a:t>
            </a:r>
            <a:endParaRPr lang="en-US" sz="1350" dirty="0"/>
          </a:p>
        </p:txBody>
      </p:sp>
      <p:sp>
        <p:nvSpPr>
          <p:cNvPr id="8" name="Text 6"/>
          <p:cNvSpPr txBox="1"/>
          <p:nvPr/>
        </p:nvSpPr>
        <p:spPr>
          <a:xfrm>
            <a:off x="1965960" y="1828800"/>
            <a:ext cx="9326880" cy="640080"/>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Python still calls bz2.decompress(). Nothing above the library moves.</a:t>
            </a:r>
            <a:endParaRPr lang="en-US" sz="1200" dirty="0"/>
          </a:p>
        </p:txBody>
      </p:sp>
      <p:sp>
        <p:nvSpPr>
          <p:cNvPr id="9" name="Shape 7"/>
          <p:cNvSpPr/>
          <p:nvPr/>
        </p:nvSpPr>
        <p:spPr>
          <a:xfrm>
            <a:off x="548640" y="2743200"/>
            <a:ext cx="11091672" cy="1188720"/>
          </a:xfrm>
          <a:prstGeom prst="roundRect">
            <a:avLst>
              <a:gd name="adj" fmla="val 4615"/>
            </a:avLst>
          </a:prstGeom>
          <a:solidFill>
            <a:srgbClr val="F3F6F8"/>
          </a:solidFill>
          <a:ln w="9525">
            <a:solidFill>
              <a:srgbClr val="DBE2E8"/>
            </a:solidFill>
            <a:prstDash val="solid"/>
          </a:ln>
        </p:spPr>
      </p:sp>
      <p:sp>
        <p:nvSpPr>
          <p:cNvPr id="10" name="Text 8"/>
          <p:cNvSpPr txBox="1"/>
          <p:nvPr/>
        </p:nvSpPr>
        <p:spPr>
          <a:xfrm>
            <a:off x="822960" y="2880360"/>
            <a:ext cx="1097280" cy="274320"/>
          </a:xfrm>
          <a:prstGeom prst="rect">
            <a:avLst/>
          </a:prstGeom>
          <a:noFill/>
          <a:ln/>
        </p:spPr>
        <p:txBody>
          <a:bodyPr wrap="square" lIns="0" tIns="0" rIns="0" bIns="0" rtlCol="0" anchor="ctr"/>
          <a:lstStyle/>
          <a:p>
            <a:pPr indent="0" marL="0">
              <a:buNone/>
            </a:pPr>
            <a:r>
              <a:rPr lang="en-US" sz="1300" b="1" dirty="0">
                <a:solidFill>
                  <a:srgbClr val="E8833A"/>
                </a:solidFill>
                <a:latin typeface="Calibri" pitchFamily="34" charset="0"/>
                <a:ea typeface="Calibri" pitchFamily="34" charset="-122"/>
                <a:cs typeface="Calibri" pitchFamily="34" charset="-120"/>
              </a:rPr>
              <a:t>Rule 2</a:t>
            </a:r>
            <a:endParaRPr lang="en-US" sz="1300" dirty="0"/>
          </a:p>
        </p:txBody>
      </p:sp>
      <p:sp>
        <p:nvSpPr>
          <p:cNvPr id="11" name="Text 9"/>
          <p:cNvSpPr txBox="1"/>
          <p:nvPr/>
        </p:nvSpPr>
        <p:spPr>
          <a:xfrm>
            <a:off x="1965960" y="2880360"/>
            <a:ext cx="9326880" cy="27432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If software must change, confine it to the library</a:t>
            </a:r>
            <a:endParaRPr lang="en-US" sz="1350" dirty="0"/>
          </a:p>
        </p:txBody>
      </p:sp>
      <p:sp>
        <p:nvSpPr>
          <p:cNvPr id="12" name="Text 10"/>
          <p:cNvSpPr txBox="1"/>
          <p:nvPr/>
        </p:nvSpPr>
        <p:spPr>
          <a:xfrm>
            <a:off x="1965960" y="3200400"/>
            <a:ext cx="9326880" cy="640080"/>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Only the decompressor gains a fast path: map buffers, push the Huffman tables through the CSR window, write CTRL.START, sleep on the interrupt.</a:t>
            </a:r>
            <a:endParaRPr lang="en-US" sz="1200" dirty="0"/>
          </a:p>
        </p:txBody>
      </p:sp>
      <p:sp>
        <p:nvSpPr>
          <p:cNvPr id="13" name="Shape 11"/>
          <p:cNvSpPr/>
          <p:nvPr/>
        </p:nvSpPr>
        <p:spPr>
          <a:xfrm>
            <a:off x="548640" y="4114800"/>
            <a:ext cx="11091672" cy="1188720"/>
          </a:xfrm>
          <a:prstGeom prst="roundRect">
            <a:avLst>
              <a:gd name="adj" fmla="val 4615"/>
            </a:avLst>
          </a:prstGeom>
          <a:solidFill>
            <a:srgbClr val="F3F6F8"/>
          </a:solidFill>
          <a:ln w="9525">
            <a:solidFill>
              <a:srgbClr val="DBE2E8"/>
            </a:solidFill>
            <a:prstDash val="solid"/>
          </a:ln>
        </p:spPr>
      </p:sp>
      <p:sp>
        <p:nvSpPr>
          <p:cNvPr id="14" name="Text 12"/>
          <p:cNvSpPr txBox="1"/>
          <p:nvPr/>
        </p:nvSpPr>
        <p:spPr>
          <a:xfrm>
            <a:off x="822960" y="4251960"/>
            <a:ext cx="1097280" cy="274320"/>
          </a:xfrm>
          <a:prstGeom prst="rect">
            <a:avLst/>
          </a:prstGeom>
          <a:noFill/>
          <a:ln/>
        </p:spPr>
        <p:txBody>
          <a:bodyPr wrap="square" lIns="0" tIns="0" rIns="0" bIns="0" rtlCol="0" anchor="ctr"/>
          <a:lstStyle/>
          <a:p>
            <a:pPr indent="0" marL="0">
              <a:buNone/>
            </a:pPr>
            <a:r>
              <a:rPr lang="en-US" sz="1300" b="1" dirty="0">
                <a:solidFill>
                  <a:srgbClr val="E8833A"/>
                </a:solidFill>
                <a:latin typeface="Calibri" pitchFamily="34" charset="0"/>
                <a:ea typeface="Calibri" pitchFamily="34" charset="-122"/>
                <a:cs typeface="Calibri" pitchFamily="34" charset="-120"/>
              </a:rPr>
              <a:t>Rule 3</a:t>
            </a:r>
            <a:endParaRPr lang="en-US" sz="1300" dirty="0"/>
          </a:p>
        </p:txBody>
      </p:sp>
      <p:sp>
        <p:nvSpPr>
          <p:cNvPr id="15" name="Text 13"/>
          <p:cNvSpPr txBox="1"/>
          <p:nvPr/>
        </p:nvSpPr>
        <p:spPr>
          <a:xfrm>
            <a:off x="1965960" y="4251960"/>
            <a:ext cx="9326880" cy="27432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Never break the user's code</a:t>
            </a:r>
            <a:endParaRPr lang="en-US" sz="1350" dirty="0"/>
          </a:p>
        </p:txBody>
      </p:sp>
      <p:sp>
        <p:nvSpPr>
          <p:cNvPr id="16" name="Text 14"/>
          <p:cNvSpPr txBox="1"/>
          <p:nvPr/>
        </p:nvSpPr>
        <p:spPr>
          <a:xfrm>
            <a:off x="1965960" y="4572000"/>
            <a:ext cx="9326880" cy="640080"/>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START returns UNSUPPORTED for a randomised block or one larger than the on-chip SRAM, and the driver falls back to software. Our optimized Python mirrors this: a gzip input falls back to the baseline decoder.</a:t>
            </a:r>
            <a:endParaRPr lang="en-US" sz="1200" dirty="0"/>
          </a:p>
        </p:txBody>
      </p:sp>
      <p:sp>
        <p:nvSpPr>
          <p:cNvPr id="17" name="Text 15"/>
          <p:cNvSpPr txBox="1"/>
          <p:nvPr/>
        </p:nvSpPr>
        <p:spPr>
          <a:xfrm>
            <a:off x="548640" y="5596128"/>
            <a:ext cx="11091672" cy="475488"/>
          </a:xfrm>
          <a:prstGeom prst="rect">
            <a:avLst/>
          </a:prstGeom>
          <a:noFill/>
          <a:ln/>
        </p:spPr>
        <p:txBody>
          <a:bodyPr wrap="square" lIns="0" tIns="0" rIns="0" bIns="0" rtlCol="0" anchor="ctr"/>
          <a:lstStyle/>
          <a:p>
            <a:pPr indent="0" marL="0">
              <a:buNone/>
            </a:pPr>
            <a:r>
              <a:rPr lang="en-US" sz="1250" i="1" dirty="0">
                <a:solidFill>
                  <a:srgbClr val="2D9B8A"/>
                </a:solidFill>
                <a:latin typeface="Calibri" pitchFamily="34" charset="0"/>
                <a:ea typeface="Calibri" pitchFamily="34" charset="-122"/>
                <a:cs typeface="Calibri" pitchFamily="34" charset="-120"/>
              </a:rPr>
              <a:t>Security: the accelerator is a DMA master behind the IOMMU, with per-device page tables, so it can only touch the buffers the driver mapped for that request.</a:t>
            </a:r>
            <a:endParaRPr lang="en-US" sz="1250" dirty="0"/>
          </a:p>
        </p:txBody>
      </p:sp>
      <p:sp>
        <p:nvSpPr>
          <p:cNvPr id="18" name="Text 16"/>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backup</a:t>
            </a:r>
            <a:endParaRPr lang="en-US" sz="1000" dirty="0"/>
          </a:p>
        </p:txBody>
      </p:sp>
      <p:sp>
        <p:nvSpPr>
          <p:cNvPr id="19" name="Text 17"/>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457200"/>
            <a:ext cx="6858000" cy="237744"/>
          </a:xfrm>
          <a:prstGeom prst="rect">
            <a:avLst/>
          </a:prstGeom>
          <a:noFill/>
          <a:ln/>
        </p:spPr>
        <p:txBody>
          <a:bodyPr wrap="square" lIns="0" tIns="0" rIns="0" bIns="0" rtlCol="0" anchor="ctr"/>
          <a:lstStyle/>
          <a:p>
            <a:pPr indent="0" marL="0">
              <a:buNone/>
            </a:pPr>
            <a:r>
              <a:rPr lang="en-US" sz="1100" b="1" spc="160" kern="0" dirty="0">
                <a:solidFill>
                  <a:srgbClr val="6B7785"/>
                </a:solidFill>
                <a:latin typeface="Calibri" pitchFamily="34" charset="0"/>
                <a:ea typeface="Calibri" pitchFamily="34" charset="-122"/>
                <a:cs typeface="Calibri" pitchFamily="34" charset="-120"/>
              </a:rPr>
              <a:t>BACKUP B3</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Measurement environment</a:t>
            </a:r>
            <a:endParaRPr lang="en-US" sz="2900" dirty="0"/>
          </a:p>
        </p:txBody>
      </p:sp>
      <p:sp>
        <p:nvSpPr>
          <p:cNvPr id="4" name="Text 2"/>
          <p:cNvSpPr txBox="1"/>
          <p:nvPr/>
        </p:nvSpPr>
        <p:spPr>
          <a:xfrm>
            <a:off x="8897112" y="457200"/>
            <a:ext cx="2743200" cy="237744"/>
          </a:xfrm>
          <a:prstGeom prst="rect">
            <a:avLst/>
          </a:prstGeom>
          <a:noFill/>
          <a:ln/>
        </p:spPr>
        <p:txBody>
          <a:bodyPr wrap="square" lIns="0" tIns="0" rIns="0" bIns="0" rtlCol="0" anchor="ctr"/>
          <a:lstStyle/>
          <a:p>
            <a:pPr algn="r" indent="0" marL="0">
              <a:buNone/>
            </a:pPr>
            <a:r>
              <a:rPr lang="en-US" sz="1000" b="1" dirty="0">
                <a:solidFill>
                  <a:srgbClr val="B3543F"/>
                </a:solidFill>
                <a:latin typeface="Calibri" pitchFamily="34" charset="0"/>
                <a:ea typeface="Calibri" pitchFamily="34" charset="-122"/>
                <a:cs typeface="Calibri" pitchFamily="34" charset="-120"/>
              </a:rPr>
              <a:t>BACKUP — not presented</a:t>
            </a:r>
            <a:endParaRPr lang="en-US" sz="1000" dirty="0"/>
          </a:p>
        </p:txBody>
      </p:sp>
      <p:sp>
        <p:nvSpPr>
          <p:cNvPr id="5" name="Text 3"/>
          <p:cNvSpPr txBox="1"/>
          <p:nvPr/>
        </p:nvSpPr>
        <p:spPr>
          <a:xfrm>
            <a:off x="548640" y="1371600"/>
            <a:ext cx="1645920" cy="320040"/>
          </a:xfrm>
          <a:prstGeom prst="rect">
            <a:avLst/>
          </a:prstGeom>
          <a:noFill/>
          <a:ln/>
        </p:spPr>
        <p:txBody>
          <a:bodyPr wrap="square" lIns="0" tIns="0" rIns="0" bIns="0" rtlCol="0" anchor="ctr"/>
          <a:lstStyle/>
          <a:p>
            <a:pPr indent="0" marL="0">
              <a:buNone/>
            </a:pPr>
            <a:r>
              <a:rPr lang="en-US" sz="1200" b="1" dirty="0">
                <a:solidFill>
                  <a:srgbClr val="E8833A"/>
                </a:solidFill>
                <a:latin typeface="Courier New" pitchFamily="34" charset="0"/>
                <a:ea typeface="Courier New" pitchFamily="34" charset="-122"/>
                <a:cs typeface="Courier New" pitchFamily="34" charset="-120"/>
              </a:rPr>
              <a:t>where</a:t>
            </a:r>
            <a:endParaRPr lang="en-US" sz="1200" dirty="0"/>
          </a:p>
        </p:txBody>
      </p:sp>
      <p:sp>
        <p:nvSpPr>
          <p:cNvPr id="6" name="Text 4"/>
          <p:cNvSpPr txBox="1"/>
          <p:nvPr/>
        </p:nvSpPr>
        <p:spPr>
          <a:xfrm>
            <a:off x="2286000" y="1371600"/>
            <a:ext cx="9326880" cy="32004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INSIDE the course QEMU image — systemd-detect-virt = kvm</a:t>
            </a:r>
            <a:endParaRPr lang="en-US" sz="1250" dirty="0"/>
          </a:p>
        </p:txBody>
      </p:sp>
      <p:sp>
        <p:nvSpPr>
          <p:cNvPr id="7" name="Text 5"/>
          <p:cNvSpPr txBox="1"/>
          <p:nvPr/>
        </p:nvSpPr>
        <p:spPr>
          <a:xfrm>
            <a:off x="548640" y="1874520"/>
            <a:ext cx="1645920" cy="320040"/>
          </a:xfrm>
          <a:prstGeom prst="rect">
            <a:avLst/>
          </a:prstGeom>
          <a:noFill/>
          <a:ln/>
        </p:spPr>
        <p:txBody>
          <a:bodyPr wrap="square" lIns="0" tIns="0" rIns="0" bIns="0" rtlCol="0" anchor="ctr"/>
          <a:lstStyle/>
          <a:p>
            <a:pPr indent="0" marL="0">
              <a:buNone/>
            </a:pPr>
            <a:r>
              <a:rPr lang="en-US" sz="1200" b="1" dirty="0">
                <a:solidFill>
                  <a:srgbClr val="E8833A"/>
                </a:solidFill>
                <a:latin typeface="Courier New" pitchFamily="34" charset="0"/>
                <a:ea typeface="Courier New" pitchFamily="34" charset="-122"/>
                <a:cs typeface="Courier New" pitchFamily="34" charset="-120"/>
              </a:rPr>
              <a:t>distro</a:t>
            </a:r>
            <a:endParaRPr lang="en-US" sz="1200" dirty="0"/>
          </a:p>
        </p:txBody>
      </p:sp>
      <p:sp>
        <p:nvSpPr>
          <p:cNvPr id="8" name="Text 6"/>
          <p:cNvSpPr txBox="1"/>
          <p:nvPr/>
        </p:nvSpPr>
        <p:spPr>
          <a:xfrm>
            <a:off x="2286000" y="1874520"/>
            <a:ext cx="9326880" cy="32004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Ubuntu 22.04.5 LTS, kernel 5.15.0-1080-kvm</a:t>
            </a:r>
            <a:endParaRPr lang="en-US" sz="1250" dirty="0"/>
          </a:p>
        </p:txBody>
      </p:sp>
      <p:sp>
        <p:nvSpPr>
          <p:cNvPr id="9" name="Text 7"/>
          <p:cNvSpPr txBox="1"/>
          <p:nvPr/>
        </p:nvSpPr>
        <p:spPr>
          <a:xfrm>
            <a:off x="548640" y="2377440"/>
            <a:ext cx="1645920" cy="320040"/>
          </a:xfrm>
          <a:prstGeom prst="rect">
            <a:avLst/>
          </a:prstGeom>
          <a:noFill/>
          <a:ln/>
        </p:spPr>
        <p:txBody>
          <a:bodyPr wrap="square" lIns="0" tIns="0" rIns="0" bIns="0" rtlCol="0" anchor="ctr"/>
          <a:lstStyle/>
          <a:p>
            <a:pPr indent="0" marL="0">
              <a:buNone/>
            </a:pPr>
            <a:r>
              <a:rPr lang="en-US" sz="1200" b="1" dirty="0">
                <a:solidFill>
                  <a:srgbClr val="E8833A"/>
                </a:solidFill>
                <a:latin typeface="Courier New" pitchFamily="34" charset="0"/>
                <a:ea typeface="Courier New" pitchFamily="34" charset="-122"/>
                <a:cs typeface="Courier New" pitchFamily="34" charset="-120"/>
              </a:rPr>
              <a:t>guest</a:t>
            </a:r>
            <a:endParaRPr lang="en-US" sz="1200" dirty="0"/>
          </a:p>
        </p:txBody>
      </p:sp>
      <p:sp>
        <p:nvSpPr>
          <p:cNvPr id="10" name="Text 8"/>
          <p:cNvSpPr txBox="1"/>
          <p:nvPr/>
        </p:nvSpPr>
        <p:spPr>
          <a:xfrm>
            <a:off x="2286000" y="2377440"/>
            <a:ext cx="9326880" cy="32004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8 vcpus, 3938 MB, Haswell vPMU</a:t>
            </a:r>
            <a:endParaRPr lang="en-US" sz="1250" dirty="0"/>
          </a:p>
        </p:txBody>
      </p:sp>
      <p:sp>
        <p:nvSpPr>
          <p:cNvPr id="11" name="Text 9"/>
          <p:cNvSpPr txBox="1"/>
          <p:nvPr/>
        </p:nvSpPr>
        <p:spPr>
          <a:xfrm>
            <a:off x="548640" y="2880360"/>
            <a:ext cx="1645920" cy="320040"/>
          </a:xfrm>
          <a:prstGeom prst="rect">
            <a:avLst/>
          </a:prstGeom>
          <a:noFill/>
          <a:ln/>
        </p:spPr>
        <p:txBody>
          <a:bodyPr wrap="square" lIns="0" tIns="0" rIns="0" bIns="0" rtlCol="0" anchor="ctr"/>
          <a:lstStyle/>
          <a:p>
            <a:pPr indent="0" marL="0">
              <a:buNone/>
            </a:pPr>
            <a:r>
              <a:rPr lang="en-US" sz="1200" b="1" dirty="0">
                <a:solidFill>
                  <a:srgbClr val="E8833A"/>
                </a:solidFill>
                <a:latin typeface="Courier New" pitchFamily="34" charset="0"/>
                <a:ea typeface="Courier New" pitchFamily="34" charset="-122"/>
                <a:cs typeface="Courier New" pitchFamily="34" charset="-120"/>
              </a:rPr>
              <a:t>python</a:t>
            </a:r>
            <a:endParaRPr lang="en-US" sz="1200" dirty="0"/>
          </a:p>
        </p:txBody>
      </p:sp>
      <p:sp>
        <p:nvSpPr>
          <p:cNvPr id="12" name="Text 10"/>
          <p:cNvSpPr txBox="1"/>
          <p:nvPr/>
        </p:nvSpPr>
        <p:spPr>
          <a:xfrm>
            <a:off x="2286000" y="2880360"/>
            <a:ext cx="9326880" cy="32004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CPython 3.10.12  ·  pyperf 2.10.0  ·  perf 5.15.179</a:t>
            </a:r>
            <a:endParaRPr lang="en-US" sz="1250" dirty="0"/>
          </a:p>
        </p:txBody>
      </p:sp>
      <p:sp>
        <p:nvSpPr>
          <p:cNvPr id="13" name="Text 11"/>
          <p:cNvSpPr txBox="1"/>
          <p:nvPr/>
        </p:nvSpPr>
        <p:spPr>
          <a:xfrm>
            <a:off x="548640" y="3383280"/>
            <a:ext cx="1645920" cy="320040"/>
          </a:xfrm>
          <a:prstGeom prst="rect">
            <a:avLst/>
          </a:prstGeom>
          <a:noFill/>
          <a:ln/>
        </p:spPr>
        <p:txBody>
          <a:bodyPr wrap="square" lIns="0" tIns="0" rIns="0" bIns="0" rtlCol="0" anchor="ctr"/>
          <a:lstStyle/>
          <a:p>
            <a:pPr indent="0" marL="0">
              <a:buNone/>
            </a:pPr>
            <a:r>
              <a:rPr lang="en-US" sz="1200" b="1" dirty="0">
                <a:solidFill>
                  <a:srgbClr val="E8833A"/>
                </a:solidFill>
                <a:latin typeface="Courier New" pitchFamily="34" charset="0"/>
                <a:ea typeface="Courier New" pitchFamily="34" charset="-122"/>
                <a:cs typeface="Courier New" pitchFamily="34" charset="-120"/>
              </a:rPr>
              <a:t>profilers</a:t>
            </a:r>
            <a:endParaRPr lang="en-US" sz="1200" dirty="0"/>
          </a:p>
        </p:txBody>
      </p:sp>
      <p:sp>
        <p:nvSpPr>
          <p:cNvPr id="14" name="Text 12"/>
          <p:cNvSpPr txBox="1"/>
          <p:nvPr/>
        </p:nvSpPr>
        <p:spPr>
          <a:xfrm>
            <a:off x="2286000" y="3383280"/>
            <a:ext cx="9326880" cy="32004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py-spy 0.4.2 (Python frames)  ·  cProfile (call counts)</a:t>
            </a:r>
            <a:endParaRPr lang="en-US" sz="1250" dirty="0"/>
          </a:p>
        </p:txBody>
      </p:sp>
      <p:sp>
        <p:nvSpPr>
          <p:cNvPr id="15" name="Text 13"/>
          <p:cNvSpPr txBox="1"/>
          <p:nvPr/>
        </p:nvSpPr>
        <p:spPr>
          <a:xfrm>
            <a:off x="548640" y="3886200"/>
            <a:ext cx="1645920" cy="320040"/>
          </a:xfrm>
          <a:prstGeom prst="rect">
            <a:avLst/>
          </a:prstGeom>
          <a:noFill/>
          <a:ln/>
        </p:spPr>
        <p:txBody>
          <a:bodyPr wrap="square" lIns="0" tIns="0" rIns="0" bIns="0" rtlCol="0" anchor="ctr"/>
          <a:lstStyle/>
          <a:p>
            <a:pPr indent="0" marL="0">
              <a:buNone/>
            </a:pPr>
            <a:r>
              <a:rPr lang="en-US" sz="1200" b="1" dirty="0">
                <a:solidFill>
                  <a:srgbClr val="E8833A"/>
                </a:solidFill>
                <a:latin typeface="Courier New" pitchFamily="34" charset="0"/>
                <a:ea typeface="Courier New" pitchFamily="34" charset="-122"/>
                <a:cs typeface="Courier New" pitchFamily="34" charset="-120"/>
              </a:rPr>
              <a:t>simulator</a:t>
            </a:r>
            <a:endParaRPr lang="en-US" sz="1200" dirty="0"/>
          </a:p>
        </p:txBody>
      </p:sp>
      <p:sp>
        <p:nvSpPr>
          <p:cNvPr id="16" name="Text 14"/>
          <p:cNvSpPr txBox="1"/>
          <p:nvPr/>
        </p:nvSpPr>
        <p:spPr>
          <a:xfrm>
            <a:off x="2286000" y="3886200"/>
            <a:ext cx="9326880" cy="32004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Icarus Verilog 11.0</a:t>
            </a:r>
            <a:endParaRPr lang="en-US" sz="1250" dirty="0"/>
          </a:p>
        </p:txBody>
      </p:sp>
      <p:sp>
        <p:nvSpPr>
          <p:cNvPr id="17" name="Text 15"/>
          <p:cNvSpPr txBox="1"/>
          <p:nvPr/>
        </p:nvSpPr>
        <p:spPr>
          <a:xfrm>
            <a:off x="548640" y="4389120"/>
            <a:ext cx="1645920" cy="320040"/>
          </a:xfrm>
          <a:prstGeom prst="rect">
            <a:avLst/>
          </a:prstGeom>
          <a:noFill/>
          <a:ln/>
        </p:spPr>
        <p:txBody>
          <a:bodyPr wrap="square" lIns="0" tIns="0" rIns="0" bIns="0" rtlCol="0" anchor="ctr"/>
          <a:lstStyle/>
          <a:p>
            <a:pPr indent="0" marL="0">
              <a:buNone/>
            </a:pPr>
            <a:r>
              <a:rPr lang="en-US" sz="1200" b="1" dirty="0">
                <a:solidFill>
                  <a:srgbClr val="E8833A"/>
                </a:solidFill>
                <a:latin typeface="Courier New" pitchFamily="34" charset="0"/>
                <a:ea typeface="Courier New" pitchFamily="34" charset="-122"/>
                <a:cs typeface="Courier New" pitchFamily="34" charset="-120"/>
              </a:rPr>
              <a:t>launch</a:t>
            </a:r>
            <a:endParaRPr lang="en-US" sz="1200" dirty="0"/>
          </a:p>
        </p:txBody>
      </p:sp>
      <p:sp>
        <p:nvSpPr>
          <p:cNvPr id="18" name="Text 16"/>
          <p:cNvSpPr txBox="1"/>
          <p:nvPr/>
        </p:nvSpPr>
        <p:spPr>
          <a:xfrm>
            <a:off x="2286000" y="4389120"/>
            <a:ext cx="9326880" cy="32004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-cpu host,pmu=on over a qcow2 overlay; image never written</a:t>
            </a:r>
            <a:endParaRPr lang="en-US" sz="1250" dirty="0"/>
          </a:p>
        </p:txBody>
      </p:sp>
      <p:sp>
        <p:nvSpPr>
          <p:cNvPr id="19" name="Text 17"/>
          <p:cNvSpPr txBox="1"/>
          <p:nvPr/>
        </p:nvSpPr>
        <p:spPr>
          <a:xfrm>
            <a:off x="548640" y="4892040"/>
            <a:ext cx="1645920" cy="320040"/>
          </a:xfrm>
          <a:prstGeom prst="rect">
            <a:avLst/>
          </a:prstGeom>
          <a:noFill/>
          <a:ln/>
        </p:spPr>
        <p:txBody>
          <a:bodyPr wrap="square" lIns="0" tIns="0" rIns="0" bIns="0" rtlCol="0" anchor="ctr"/>
          <a:lstStyle/>
          <a:p>
            <a:pPr indent="0" marL="0">
              <a:buNone/>
            </a:pPr>
            <a:r>
              <a:rPr lang="en-US" sz="1200" b="1" dirty="0">
                <a:solidFill>
                  <a:srgbClr val="E8833A"/>
                </a:solidFill>
                <a:latin typeface="Courier New" pitchFamily="34" charset="0"/>
                <a:ea typeface="Courier New" pitchFamily="34" charset="-122"/>
                <a:cs typeface="Courier New" pitchFamily="34" charset="-120"/>
              </a:rPr>
              <a:t>method</a:t>
            </a:r>
            <a:endParaRPr lang="en-US" sz="1200" dirty="0"/>
          </a:p>
        </p:txBody>
      </p:sp>
      <p:sp>
        <p:nvSpPr>
          <p:cNvPr id="20" name="Text 18"/>
          <p:cNvSpPr txBox="1"/>
          <p:nvPr/>
        </p:nvSpPr>
        <p:spPr>
          <a:xfrm>
            <a:off x="2286000" y="4892040"/>
            <a:ext cx="9326880" cy="32004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pyperf --rigorous, taskset -c 2, counters in groups of two</a:t>
            </a:r>
            <a:endParaRPr lang="en-US" sz="1250" dirty="0"/>
          </a:p>
        </p:txBody>
      </p:sp>
      <p:sp>
        <p:nvSpPr>
          <p:cNvPr id="21" name="Text 19"/>
          <p:cNvSpPr txBox="1"/>
          <p:nvPr/>
        </p:nvSpPr>
        <p:spPr>
          <a:xfrm>
            <a:off x="548640" y="5577840"/>
            <a:ext cx="11091672" cy="548640"/>
          </a:xfrm>
          <a:prstGeom prst="rect">
            <a:avLst/>
          </a:prstGeom>
          <a:noFill/>
          <a:ln/>
        </p:spPr>
        <p:txBody>
          <a:bodyPr wrap="square" lIns="0" tIns="0" rIns="0" bIns="0" rtlCol="0" anchor="ctr"/>
          <a:lstStyle/>
          <a:p>
            <a:pPr indent="0" marL="0">
              <a:lnSpc>
                <a:spcPts val="1500"/>
              </a:lnSpc>
              <a:buNone/>
            </a:pPr>
            <a:r>
              <a:rPr lang="en-US" sz="1150" i="1" dirty="0">
                <a:solidFill>
                  <a:srgbClr val="6B7785"/>
                </a:solidFill>
                <a:latin typeface="Calibri" pitchFamily="34" charset="0"/>
                <a:ea typeface="Calibri" pitchFamily="34" charset="-122"/>
                <a:cs typeface="Calibri" pitchFamily="34" charset="-120"/>
              </a:rPr>
              <a:t>pmu=on is what makes hardware counters work at all in the guest; without it perf answers &lt;not supported&gt; for every hardware event. Every table in both reports regenerates with ./script_pyflate.sh and ./script_raytrace.sh, run inside the guest.</a:t>
            </a:r>
            <a:endParaRPr lang="en-US" sz="1150" dirty="0"/>
          </a:p>
        </p:txBody>
      </p:sp>
      <p:sp>
        <p:nvSpPr>
          <p:cNvPr id="22" name="Text 20"/>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backup</a:t>
            </a:r>
            <a:endParaRPr lang="en-US" sz="1000" dirty="0"/>
          </a:p>
        </p:txBody>
      </p:sp>
      <p:sp>
        <p:nvSpPr>
          <p:cNvPr id="23" name="Text 21"/>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457200"/>
            <a:ext cx="6858000" cy="237744"/>
          </a:xfrm>
          <a:prstGeom prst="rect">
            <a:avLst/>
          </a:prstGeom>
          <a:noFill/>
          <a:ln/>
        </p:spPr>
        <p:txBody>
          <a:bodyPr wrap="square" lIns="0" tIns="0" rIns="0" bIns="0" rtlCol="0" anchor="ctr"/>
          <a:lstStyle/>
          <a:p>
            <a:pPr indent="0" marL="0">
              <a:buNone/>
            </a:pPr>
            <a:r>
              <a:rPr lang="en-US" sz="1100" b="1" spc="160" kern="0" dirty="0">
                <a:solidFill>
                  <a:srgbClr val="6B7785"/>
                </a:solidFill>
                <a:latin typeface="Calibri" pitchFamily="34" charset="0"/>
                <a:ea typeface="Calibri" pitchFamily="34" charset="-122"/>
                <a:cs typeface="Calibri" pitchFamily="34" charset="-120"/>
              </a:rPr>
              <a:t>BACKUP B4</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Things we tried and rejected</a:t>
            </a:r>
            <a:endParaRPr lang="en-US" sz="2900" dirty="0"/>
          </a:p>
        </p:txBody>
      </p:sp>
      <p:sp>
        <p:nvSpPr>
          <p:cNvPr id="4" name="Text 2"/>
          <p:cNvSpPr txBox="1"/>
          <p:nvPr/>
        </p:nvSpPr>
        <p:spPr>
          <a:xfrm>
            <a:off x="8897112" y="457200"/>
            <a:ext cx="2743200" cy="237744"/>
          </a:xfrm>
          <a:prstGeom prst="rect">
            <a:avLst/>
          </a:prstGeom>
          <a:noFill/>
          <a:ln/>
        </p:spPr>
        <p:txBody>
          <a:bodyPr wrap="square" lIns="0" tIns="0" rIns="0" bIns="0" rtlCol="0" anchor="ctr"/>
          <a:lstStyle/>
          <a:p>
            <a:pPr algn="r" indent="0" marL="0">
              <a:buNone/>
            </a:pPr>
            <a:r>
              <a:rPr lang="en-US" sz="1000" b="1" dirty="0">
                <a:solidFill>
                  <a:srgbClr val="B3543F"/>
                </a:solidFill>
                <a:latin typeface="Calibri" pitchFamily="34" charset="0"/>
                <a:ea typeface="Calibri" pitchFamily="34" charset="-122"/>
                <a:cs typeface="Calibri" pitchFamily="34" charset="-120"/>
              </a:rPr>
              <a:t>BACKUP — not presented</a:t>
            </a:r>
            <a:endParaRPr lang="en-US" sz="1000" dirty="0"/>
          </a:p>
        </p:txBody>
      </p:sp>
      <p:sp>
        <p:nvSpPr>
          <p:cNvPr id="5" name="Text 3"/>
          <p:cNvSpPr txBox="1"/>
          <p:nvPr/>
        </p:nvSpPr>
        <p:spPr>
          <a:xfrm>
            <a:off x="548640" y="1371600"/>
            <a:ext cx="320040" cy="274320"/>
          </a:xfrm>
          <a:prstGeom prst="rect">
            <a:avLst/>
          </a:prstGeom>
          <a:noFill/>
          <a:ln/>
        </p:spPr>
        <p:txBody>
          <a:bodyPr wrap="square" lIns="0" tIns="0" rIns="0" bIns="0" rtlCol="0" anchor="ctr"/>
          <a:lstStyle/>
          <a:p>
            <a:pPr indent="0" marL="0">
              <a:buNone/>
            </a:pPr>
            <a:r>
              <a:rPr lang="en-US" sz="1500" b="1" dirty="0">
                <a:solidFill>
                  <a:srgbClr val="B3543F"/>
                </a:solidFill>
                <a:latin typeface="Calibri" pitchFamily="34" charset="0"/>
                <a:ea typeface="Calibri" pitchFamily="34" charset="-122"/>
                <a:cs typeface="Calibri" pitchFamily="34" charset="-120"/>
              </a:rPr>
              <a:t>✗</a:t>
            </a:r>
            <a:endParaRPr lang="en-US" sz="1500" dirty="0"/>
          </a:p>
        </p:txBody>
      </p:sp>
      <p:sp>
        <p:nvSpPr>
          <p:cNvPr id="6" name="Text 4"/>
          <p:cNvSpPr txBox="1"/>
          <p:nvPr/>
        </p:nvSpPr>
        <p:spPr>
          <a:xfrm>
            <a:off x="914400" y="1371600"/>
            <a:ext cx="10607040" cy="27432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A full 2^20-entry Huffman LUT</a:t>
            </a:r>
            <a:endParaRPr lang="en-US" sz="1350" dirty="0"/>
          </a:p>
        </p:txBody>
      </p:sp>
      <p:sp>
        <p:nvSpPr>
          <p:cNvPr id="7" name="Text 5"/>
          <p:cNvSpPr txBox="1"/>
          <p:nvPr/>
        </p:nvSpPr>
        <p:spPr>
          <a:xfrm>
            <a:off x="914400" y="1664208"/>
            <a:ext cx="10607040" cy="566928"/>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Would decode in one step, but bzip2 allows 6 tables of length ≤ 20 — about 6M entries to BUILD per block, for a block that decodes 148k symbols. Table construction costs more than it saves.</a:t>
            </a:r>
            <a:endParaRPr lang="en-US" sz="1200" dirty="0"/>
          </a:p>
        </p:txBody>
      </p:sp>
      <p:sp>
        <p:nvSpPr>
          <p:cNvPr id="8" name="Text 6"/>
          <p:cNvSpPr txBox="1"/>
          <p:nvPr/>
        </p:nvSpPr>
        <p:spPr>
          <a:xfrm>
            <a:off x="548640" y="2331720"/>
            <a:ext cx="320040" cy="274320"/>
          </a:xfrm>
          <a:prstGeom prst="rect">
            <a:avLst/>
          </a:prstGeom>
          <a:noFill/>
          <a:ln/>
        </p:spPr>
        <p:txBody>
          <a:bodyPr wrap="square" lIns="0" tIns="0" rIns="0" bIns="0" rtlCol="0" anchor="ctr"/>
          <a:lstStyle/>
          <a:p>
            <a:pPr indent="0" marL="0">
              <a:buNone/>
            </a:pPr>
            <a:r>
              <a:rPr lang="en-US" sz="1500" b="1" dirty="0">
                <a:solidFill>
                  <a:srgbClr val="B3543F"/>
                </a:solidFill>
                <a:latin typeface="Calibri" pitchFamily="34" charset="0"/>
                <a:ea typeface="Calibri" pitchFamily="34" charset="-122"/>
                <a:cs typeface="Calibri" pitchFamily="34" charset="-120"/>
              </a:rPr>
              <a:t>✗</a:t>
            </a:r>
            <a:endParaRPr lang="en-US" sz="1500" dirty="0"/>
          </a:p>
        </p:txBody>
      </p:sp>
      <p:sp>
        <p:nvSpPr>
          <p:cNvPr id="9" name="Text 7"/>
          <p:cNvSpPr txBox="1"/>
          <p:nvPr/>
        </p:nvSpPr>
        <p:spPr>
          <a:xfrm>
            <a:off x="914400" y="2331720"/>
            <a:ext cx="10607040" cy="27432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numpy for the inverse BWT</a:t>
            </a:r>
            <a:endParaRPr lang="en-US" sz="1350" dirty="0"/>
          </a:p>
        </p:txBody>
      </p:sp>
      <p:sp>
        <p:nvSpPr>
          <p:cNvPr id="10" name="Text 8"/>
          <p:cNvSpPr txBox="1"/>
          <p:nvPr/>
        </p:nvSpPr>
        <p:spPr>
          <a:xfrm>
            <a:off x="914400" y="2624328"/>
            <a:ext cx="10607040" cy="566928"/>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An added dependency for a stage the ablation shows is worth ~3%.</a:t>
            </a:r>
            <a:endParaRPr lang="en-US" sz="1200" dirty="0"/>
          </a:p>
        </p:txBody>
      </p:sp>
      <p:sp>
        <p:nvSpPr>
          <p:cNvPr id="11" name="Text 9"/>
          <p:cNvSpPr txBox="1"/>
          <p:nvPr/>
        </p:nvSpPr>
        <p:spPr>
          <a:xfrm>
            <a:off x="548640" y="3291840"/>
            <a:ext cx="320040" cy="274320"/>
          </a:xfrm>
          <a:prstGeom prst="rect">
            <a:avLst/>
          </a:prstGeom>
          <a:noFill/>
          <a:ln/>
        </p:spPr>
        <p:txBody>
          <a:bodyPr wrap="square" lIns="0" tIns="0" rIns="0" bIns="0" rtlCol="0" anchor="ctr"/>
          <a:lstStyle/>
          <a:p>
            <a:pPr indent="0" marL="0">
              <a:buNone/>
            </a:pPr>
            <a:r>
              <a:rPr lang="en-US" sz="1500" b="1" dirty="0">
                <a:solidFill>
                  <a:srgbClr val="B3543F"/>
                </a:solidFill>
                <a:latin typeface="Calibri" pitchFamily="34" charset="0"/>
                <a:ea typeface="Calibri" pitchFamily="34" charset="-122"/>
                <a:cs typeface="Calibri" pitchFamily="34" charset="-120"/>
              </a:rPr>
              <a:t>✗</a:t>
            </a:r>
            <a:endParaRPr lang="en-US" sz="1500" dirty="0"/>
          </a:p>
        </p:txBody>
      </p:sp>
      <p:sp>
        <p:nvSpPr>
          <p:cNvPr id="12" name="Text 10"/>
          <p:cNvSpPr txBox="1"/>
          <p:nvPr/>
        </p:nvSpPr>
        <p:spPr>
          <a:xfrm>
            <a:off x="914400" y="3291840"/>
            <a:ext cx="10607040" cy="27432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A BVH for raytrace</a:t>
            </a:r>
            <a:endParaRPr lang="en-US" sz="1350" dirty="0"/>
          </a:p>
        </p:txBody>
      </p:sp>
      <p:sp>
        <p:nvSpPr>
          <p:cNvPr id="13" name="Text 11"/>
          <p:cNvSpPr txBox="1"/>
          <p:nvPr/>
        </p:nvSpPr>
        <p:spPr>
          <a:xfrm>
            <a:off x="914400" y="3584448"/>
            <a:ext cx="10607040" cy="566928"/>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The first thing a graphics person proposes. With 8 objects, traversal overhead exceeds the 8 intersection tests it would save.</a:t>
            </a:r>
            <a:endParaRPr lang="en-US" sz="1200" dirty="0"/>
          </a:p>
        </p:txBody>
      </p:sp>
      <p:sp>
        <p:nvSpPr>
          <p:cNvPr id="14" name="Text 12"/>
          <p:cNvSpPr txBox="1"/>
          <p:nvPr/>
        </p:nvSpPr>
        <p:spPr>
          <a:xfrm>
            <a:off x="548640" y="4251960"/>
            <a:ext cx="320040" cy="274320"/>
          </a:xfrm>
          <a:prstGeom prst="rect">
            <a:avLst/>
          </a:prstGeom>
          <a:noFill/>
          <a:ln/>
        </p:spPr>
        <p:txBody>
          <a:bodyPr wrap="square" lIns="0" tIns="0" rIns="0" bIns="0" rtlCol="0" anchor="ctr"/>
          <a:lstStyle/>
          <a:p>
            <a:pPr indent="0" marL="0">
              <a:buNone/>
            </a:pPr>
            <a:r>
              <a:rPr lang="en-US" sz="1500" b="1" dirty="0">
                <a:solidFill>
                  <a:srgbClr val="B3543F"/>
                </a:solidFill>
                <a:latin typeface="Calibri" pitchFamily="34" charset="0"/>
                <a:ea typeface="Calibri" pitchFamily="34" charset="-122"/>
                <a:cs typeface="Calibri" pitchFamily="34" charset="-120"/>
              </a:rPr>
              <a:t>✗</a:t>
            </a:r>
            <a:endParaRPr lang="en-US" sz="1500" dirty="0"/>
          </a:p>
        </p:txBody>
      </p:sp>
      <p:sp>
        <p:nvSpPr>
          <p:cNvPr id="15" name="Text 13"/>
          <p:cNvSpPr txBox="1"/>
          <p:nvPr/>
        </p:nvSpPr>
        <p:spPr>
          <a:xfrm>
            <a:off x="914400" y="4251960"/>
            <a:ext cx="10607040" cy="27432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bfloat16 in the raytrace datapath</a:t>
            </a:r>
            <a:endParaRPr lang="en-US" sz="1350" dirty="0"/>
          </a:p>
        </p:txBody>
      </p:sp>
      <p:sp>
        <p:nvSpPr>
          <p:cNvPr id="16" name="Text 14"/>
          <p:cNvSpPr txBox="1"/>
          <p:nvPr/>
        </p:nvSpPr>
        <p:spPr>
          <a:xfrm>
            <a:off x="914400" y="4544568"/>
            <a:ext cx="10607040" cy="566928"/>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Halves multiplier area, but 8 mantissa bits cannot survive the catastrophic cancellation in (cc − v·v).</a:t>
            </a:r>
            <a:endParaRPr lang="en-US" sz="1200" dirty="0"/>
          </a:p>
        </p:txBody>
      </p:sp>
      <p:sp>
        <p:nvSpPr>
          <p:cNvPr id="17" name="Text 15"/>
          <p:cNvSpPr txBox="1"/>
          <p:nvPr/>
        </p:nvSpPr>
        <p:spPr>
          <a:xfrm>
            <a:off x="548640" y="5212080"/>
            <a:ext cx="320040" cy="274320"/>
          </a:xfrm>
          <a:prstGeom prst="rect">
            <a:avLst/>
          </a:prstGeom>
          <a:noFill/>
          <a:ln/>
        </p:spPr>
        <p:txBody>
          <a:bodyPr wrap="square" lIns="0" tIns="0" rIns="0" bIns="0" rtlCol="0" anchor="ctr"/>
          <a:lstStyle/>
          <a:p>
            <a:pPr indent="0" marL="0">
              <a:buNone/>
            </a:pPr>
            <a:r>
              <a:rPr lang="en-US" sz="1500" b="1" dirty="0">
                <a:solidFill>
                  <a:srgbClr val="B3543F"/>
                </a:solidFill>
                <a:latin typeface="Calibri" pitchFamily="34" charset="0"/>
                <a:ea typeface="Calibri" pitchFamily="34" charset="-122"/>
                <a:cs typeface="Calibri" pitchFamily="34" charset="-120"/>
              </a:rPr>
              <a:t>✗</a:t>
            </a:r>
            <a:endParaRPr lang="en-US" sz="1500" dirty="0"/>
          </a:p>
        </p:txBody>
      </p:sp>
      <p:sp>
        <p:nvSpPr>
          <p:cNvPr id="18" name="Text 16"/>
          <p:cNvSpPr txBox="1"/>
          <p:nvPr/>
        </p:nvSpPr>
        <p:spPr>
          <a:xfrm>
            <a:off x="914400" y="5212080"/>
            <a:ext cx="10607040" cy="27432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Swapping in libbz2 / a C extension</a:t>
            </a:r>
            <a:endParaRPr lang="en-US" sz="1350" dirty="0"/>
          </a:p>
        </p:txBody>
      </p:sp>
      <p:sp>
        <p:nvSpPr>
          <p:cNvPr id="19" name="Text 17"/>
          <p:cNvSpPr txBox="1"/>
          <p:nvPr/>
        </p:nvSpPr>
        <p:spPr>
          <a:xfrm>
            <a:off x="914400" y="5504688"/>
            <a:ext cx="10607040" cy="566928"/>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Would post a huge speedup while measuring nothing. The benchmark exists to measure the interpreter.</a:t>
            </a:r>
            <a:endParaRPr lang="en-US" sz="1200" dirty="0"/>
          </a:p>
        </p:txBody>
      </p:sp>
      <p:sp>
        <p:nvSpPr>
          <p:cNvPr id="20" name="Text 18"/>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backup</a:t>
            </a:r>
            <a:endParaRPr lang="en-US" sz="1000" dirty="0"/>
          </a:p>
        </p:txBody>
      </p:sp>
      <p:sp>
        <p:nvSpPr>
          <p:cNvPr id="21" name="Text 19"/>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457200"/>
            <a:ext cx="6858000" cy="237744"/>
          </a:xfrm>
          <a:prstGeom prst="rect">
            <a:avLst/>
          </a:prstGeom>
          <a:noFill/>
          <a:ln/>
        </p:spPr>
        <p:txBody>
          <a:bodyPr wrap="square" lIns="0" tIns="0" rIns="0" bIns="0" rtlCol="0" anchor="ctr"/>
          <a:lstStyle/>
          <a:p>
            <a:pPr indent="0" marL="0">
              <a:buNone/>
            </a:pPr>
            <a:r>
              <a:rPr lang="en-US" sz="1100" b="1" spc="160" kern="0" dirty="0">
                <a:solidFill>
                  <a:srgbClr val="6B7785"/>
                </a:solidFill>
                <a:latin typeface="Calibri" pitchFamily="34" charset="0"/>
                <a:ea typeface="Calibri" pitchFamily="34" charset="-122"/>
                <a:cs typeface="Calibri" pitchFamily="34" charset="-120"/>
              </a:rPr>
              <a:t>BACKUP B5</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How we tested beyond the benchmark</a:t>
            </a:r>
            <a:endParaRPr lang="en-US" sz="2900" dirty="0"/>
          </a:p>
        </p:txBody>
      </p:sp>
      <p:sp>
        <p:nvSpPr>
          <p:cNvPr id="4" name="Text 2"/>
          <p:cNvSpPr txBox="1"/>
          <p:nvPr/>
        </p:nvSpPr>
        <p:spPr>
          <a:xfrm>
            <a:off x="8897112" y="457200"/>
            <a:ext cx="2743200" cy="237744"/>
          </a:xfrm>
          <a:prstGeom prst="rect">
            <a:avLst/>
          </a:prstGeom>
          <a:noFill/>
          <a:ln/>
        </p:spPr>
        <p:txBody>
          <a:bodyPr wrap="square" lIns="0" tIns="0" rIns="0" bIns="0" rtlCol="0" anchor="ctr"/>
          <a:lstStyle/>
          <a:p>
            <a:pPr algn="r" indent="0" marL="0">
              <a:buNone/>
            </a:pPr>
            <a:r>
              <a:rPr lang="en-US" sz="1000" b="1" dirty="0">
                <a:solidFill>
                  <a:srgbClr val="B3543F"/>
                </a:solidFill>
                <a:latin typeface="Calibri" pitchFamily="34" charset="0"/>
                <a:ea typeface="Calibri" pitchFamily="34" charset="-122"/>
                <a:cs typeface="Calibri" pitchFamily="34" charset="-120"/>
              </a:rPr>
              <a:t>BACKUP — not presented</a:t>
            </a:r>
            <a:endParaRPr lang="en-US" sz="1000" dirty="0"/>
          </a:p>
        </p:txBody>
      </p:sp>
      <p:sp>
        <p:nvSpPr>
          <p:cNvPr id="5" name="Shape 3"/>
          <p:cNvSpPr/>
          <p:nvPr/>
        </p:nvSpPr>
        <p:spPr>
          <a:xfrm>
            <a:off x="548640" y="1371600"/>
            <a:ext cx="5394960" cy="2194560"/>
          </a:xfrm>
          <a:prstGeom prst="roundRect">
            <a:avLst>
              <a:gd name="adj" fmla="val 2500"/>
            </a:avLst>
          </a:prstGeom>
          <a:solidFill>
            <a:srgbClr val="F3F6F8"/>
          </a:solidFill>
          <a:ln w="9525">
            <a:solidFill>
              <a:srgbClr val="DBE2E8"/>
            </a:solidFill>
            <a:prstDash val="solid"/>
          </a:ln>
        </p:spPr>
      </p:sp>
      <p:sp>
        <p:nvSpPr>
          <p:cNvPr id="6" name="Text 4"/>
          <p:cNvSpPr txBox="1"/>
          <p:nvPr/>
        </p:nvSpPr>
        <p:spPr>
          <a:xfrm>
            <a:off x="822960" y="1536192"/>
            <a:ext cx="4846320" cy="27432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pyflate — 16 streams vs libbz2</a:t>
            </a:r>
            <a:endParaRPr lang="en-US" sz="1400" dirty="0"/>
          </a:p>
        </p:txBody>
      </p:sp>
      <p:sp>
        <p:nvSpPr>
          <p:cNvPr id="7" name="Text 5"/>
          <p:cNvSpPr txBox="1"/>
          <p:nvPr/>
        </p:nvSpPr>
        <p:spPr>
          <a:xfrm>
            <a:off x="822960" y="1874520"/>
            <a:ext cx="4846320" cy="1554480"/>
          </a:xfrm>
          <a:prstGeom prst="rect">
            <a:avLst/>
          </a:prstGeom>
          <a:noFill/>
          <a:ln/>
        </p:spPr>
        <p:txBody>
          <a:bodyPr wrap="square" lIns="0" tIns="0" rIns="0" bIns="0" rtlCol="0" anchor="ctr"/>
          <a:lstStyle/>
          <a:p>
            <a:pPr marL="342900" indent="-342900">
              <a:lnSpc>
                <a:spcPts val="1900"/>
              </a:lnSpc>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empty, 1 byte, 1 KB of zeros, RLE runs</a:t>
            </a:r>
            <a:endParaRPr lang="en-US" sz="1200" dirty="0"/>
          </a:p>
          <a:p>
            <a:pPr marL="342900" indent="-342900">
              <a:lnSpc>
                <a:spcPts val="1900"/>
              </a:lnSpc>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highly repetitive, text, 64 KB random</a:t>
            </a:r>
            <a:endParaRPr lang="en-US" sz="1200" dirty="0"/>
          </a:p>
          <a:p>
            <a:pPr marL="342900" indent="-342900">
              <a:lnSpc>
                <a:spcPts val="1900"/>
              </a:lnSpc>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a 900 KB MULTI-BLOCK file</a:t>
            </a:r>
            <a:endParaRPr lang="en-US" sz="1200" dirty="0"/>
          </a:p>
          <a:p>
            <a:pPr marL="342900" indent="-342900">
              <a:lnSpc>
                <a:spcPts val="1900"/>
              </a:lnSpc>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levels 1 and 9, both round-tripping</a:t>
            </a:r>
            <a:endParaRPr lang="en-US" sz="1200" dirty="0"/>
          </a:p>
          <a:p>
            <a:pPr marL="342900" indent="-342900">
              <a:lnSpc>
                <a:spcPts val="1900"/>
              </a:lnSpc>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checked against libbz2, not our own baseline</a:t>
            </a:r>
            <a:endParaRPr lang="en-US" sz="1200" dirty="0"/>
          </a:p>
        </p:txBody>
      </p:sp>
      <p:sp>
        <p:nvSpPr>
          <p:cNvPr id="8" name="Shape 6"/>
          <p:cNvSpPr/>
          <p:nvPr/>
        </p:nvSpPr>
        <p:spPr>
          <a:xfrm>
            <a:off x="6245352" y="1371600"/>
            <a:ext cx="5394960" cy="2194560"/>
          </a:xfrm>
          <a:prstGeom prst="roundRect">
            <a:avLst>
              <a:gd name="adj" fmla="val 2500"/>
            </a:avLst>
          </a:prstGeom>
          <a:solidFill>
            <a:srgbClr val="F3F6F8"/>
          </a:solidFill>
          <a:ln w="9525">
            <a:solidFill>
              <a:srgbClr val="DBE2E8"/>
            </a:solidFill>
            <a:prstDash val="solid"/>
          </a:ln>
        </p:spPr>
      </p:sp>
      <p:sp>
        <p:nvSpPr>
          <p:cNvPr id="9" name="Text 7"/>
          <p:cNvSpPr txBox="1"/>
          <p:nvPr/>
        </p:nvSpPr>
        <p:spPr>
          <a:xfrm>
            <a:off x="6519672" y="1536192"/>
            <a:ext cx="4846320" cy="27432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raytrace — 7 resolutions</a:t>
            </a:r>
            <a:endParaRPr lang="en-US" sz="1400" dirty="0"/>
          </a:p>
        </p:txBody>
      </p:sp>
      <p:sp>
        <p:nvSpPr>
          <p:cNvPr id="10" name="Text 8"/>
          <p:cNvSpPr txBox="1"/>
          <p:nvPr/>
        </p:nvSpPr>
        <p:spPr>
          <a:xfrm>
            <a:off x="6519672" y="1874520"/>
            <a:ext cx="4846320" cy="1554480"/>
          </a:xfrm>
          <a:prstGeom prst="rect">
            <a:avLst/>
          </a:prstGeom>
          <a:noFill/>
          <a:ln/>
        </p:spPr>
        <p:txBody>
          <a:bodyPr wrap="square" lIns="0" tIns="0" rIns="0" bIns="0" rtlCol="0" anchor="ctr"/>
          <a:lstStyle/>
          <a:p>
            <a:pPr marL="342900" indent="-342900">
              <a:lnSpc>
                <a:spcPts val="1900"/>
              </a:lnSpc>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2×2, 3×7, 16×16, 50×50</a:t>
            </a:r>
            <a:endParaRPr lang="en-US" sz="1200" dirty="0"/>
          </a:p>
          <a:p>
            <a:pPr marL="342900" indent="-342900">
              <a:lnSpc>
                <a:spcPts val="1900"/>
              </a:lnSpc>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100×100, 101×37, 128×96</a:t>
            </a:r>
            <a:endParaRPr lang="en-US" sz="1200" dirty="0"/>
          </a:p>
          <a:p>
            <a:pPr marL="342900" indent="-342900">
              <a:lnSpc>
                <a:spcPts val="1900"/>
              </a:lnSpc>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bit-identical at every one</a:t>
            </a:r>
            <a:endParaRPr lang="en-US" sz="1200" dirty="0"/>
          </a:p>
          <a:p>
            <a:pPr marL="342900" indent="-342900">
              <a:lnSpc>
                <a:spcPts val="1900"/>
              </a:lnSpc>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the default is not a special case</a:t>
            </a:r>
            <a:endParaRPr lang="en-US" sz="1200" dirty="0"/>
          </a:p>
        </p:txBody>
      </p:sp>
      <p:sp>
        <p:nvSpPr>
          <p:cNvPr id="11" name="Text 9"/>
          <p:cNvSpPr txBox="1"/>
          <p:nvPr/>
        </p:nvSpPr>
        <p:spPr>
          <a:xfrm>
            <a:off x="548640" y="3794760"/>
            <a:ext cx="11091672" cy="29260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Two API divergences we found and disclosed</a:t>
            </a:r>
            <a:endParaRPr lang="en-US" sz="1400" dirty="0"/>
          </a:p>
        </p:txBody>
      </p:sp>
      <p:sp>
        <p:nvSpPr>
          <p:cNvPr id="12" name="Text 10"/>
          <p:cNvSpPr txBox="1"/>
          <p:nvPr/>
        </p:nvSpPr>
        <p:spPr>
          <a:xfrm>
            <a:off x="548640" y="4114800"/>
            <a:ext cx="11091672" cy="640080"/>
          </a:xfrm>
          <a:prstGeom prst="rect">
            <a:avLst/>
          </a:prstGeom>
          <a:noFill/>
          <a:ln/>
        </p:spPr>
        <p:txBody>
          <a:bodyPr wrap="square" lIns="0" tIns="0" rIns="0" bIns="0" rtlCol="0" anchor="ctr"/>
          <a:lstStyle/>
          <a:p>
            <a:pPr indent="0" marL="0">
              <a:lnSpc>
                <a:spcPts val="1700"/>
              </a:lnSpc>
              <a:buNone/>
            </a:pPr>
            <a:r>
              <a:rPr lang="en-US" sz="1250" dirty="0">
                <a:solidFill>
                  <a:srgbClr val="6B7785"/>
                </a:solidFill>
                <a:latin typeface="Calibri" pitchFamily="34" charset="0"/>
                <a:ea typeface="Calibri" pitchFamily="34" charset="-122"/>
                <a:cs typeface="Calibri" pitchFamily="34" charset="-120"/>
              </a:rPr>
              <a:t>Removing the type assertions (O3) means Vector − Point and Vector.dot(Point) now compute silently where the baseline raised TypeError. Both are invalid usage the renderer never produces — but they are a behaviour change, so we documented them rather than leaving them to be discovered.</a:t>
            </a:r>
            <a:endParaRPr lang="en-US" sz="1250" dirty="0"/>
          </a:p>
        </p:txBody>
      </p:sp>
      <p:sp>
        <p:nvSpPr>
          <p:cNvPr id="13" name="Text 11"/>
          <p:cNvSpPr txBox="1"/>
          <p:nvPr/>
        </p:nvSpPr>
        <p:spPr>
          <a:xfrm>
            <a:off x="548640" y="4892040"/>
            <a:ext cx="11091672" cy="457200"/>
          </a:xfrm>
          <a:prstGeom prst="rect">
            <a:avLst/>
          </a:prstGeom>
          <a:noFill/>
          <a:ln/>
        </p:spPr>
        <p:txBody>
          <a:bodyPr wrap="square" lIns="0" tIns="0" rIns="0" bIns="0" rtlCol="0" anchor="ctr"/>
          <a:lstStyle/>
          <a:p>
            <a:pPr indent="0" marL="0">
              <a:lnSpc>
                <a:spcPts val="1700"/>
              </a:lnSpc>
              <a:buNone/>
            </a:pPr>
            <a:r>
              <a:rPr lang="en-US" sz="1250" i="1" dirty="0">
                <a:solidFill>
                  <a:srgbClr val="2D9B8A"/>
                </a:solidFill>
                <a:latin typeface="Calibri" pitchFamily="34" charset="0"/>
                <a:ea typeface="Calibri" pitchFamily="34" charset="-122"/>
                <a:cs typeface="Calibri" pitchFamily="34" charset="-120"/>
              </a:rPr>
              <a:t>The correctness gate runs before any timing is reported. tools/verify.py compares all 399,360 decompressed bytes and the full 30,000-byte framebuffer.</a:t>
            </a:r>
            <a:endParaRPr lang="en-US" sz="1250" dirty="0"/>
          </a:p>
        </p:txBody>
      </p:sp>
      <p:sp>
        <p:nvSpPr>
          <p:cNvPr id="14" name="Text 12"/>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backup</a:t>
            </a:r>
            <a:endParaRPr lang="en-US" sz="1000" dirty="0"/>
          </a:p>
        </p:txBody>
      </p:sp>
      <p:sp>
        <p:nvSpPr>
          <p:cNvPr id="15" name="Text 13"/>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457200"/>
            <a:ext cx="6858000" cy="237744"/>
          </a:xfrm>
          <a:prstGeom prst="rect">
            <a:avLst/>
          </a:prstGeom>
          <a:noFill/>
          <a:ln/>
        </p:spPr>
        <p:txBody>
          <a:bodyPr wrap="square" lIns="0" tIns="0" rIns="0" bIns="0" rtlCol="0" anchor="ctr"/>
          <a:lstStyle/>
          <a:p>
            <a:pPr indent="0" marL="0">
              <a:buNone/>
            </a:pPr>
            <a:r>
              <a:rPr lang="en-US" sz="1100" b="1" spc="160" kern="0" dirty="0">
                <a:solidFill>
                  <a:srgbClr val="6B7785"/>
                </a:solidFill>
                <a:latin typeface="Calibri" pitchFamily="34" charset="0"/>
                <a:ea typeface="Calibri" pitchFamily="34" charset="-122"/>
                <a:cs typeface="Calibri" pitchFamily="34" charset="-120"/>
              </a:rPr>
              <a:t>BACKUP B6</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What perf can and cannot do inside the guest</a:t>
            </a:r>
            <a:endParaRPr lang="en-US" sz="2900" dirty="0"/>
          </a:p>
        </p:txBody>
      </p:sp>
      <p:sp>
        <p:nvSpPr>
          <p:cNvPr id="4" name="Text 2"/>
          <p:cNvSpPr txBox="1"/>
          <p:nvPr/>
        </p:nvSpPr>
        <p:spPr>
          <a:xfrm>
            <a:off x="8897112" y="457200"/>
            <a:ext cx="2743200" cy="237744"/>
          </a:xfrm>
          <a:prstGeom prst="rect">
            <a:avLst/>
          </a:prstGeom>
          <a:noFill/>
          <a:ln/>
        </p:spPr>
        <p:txBody>
          <a:bodyPr wrap="square" lIns="0" tIns="0" rIns="0" bIns="0" rtlCol="0" anchor="ctr"/>
          <a:lstStyle/>
          <a:p>
            <a:pPr algn="r" indent="0" marL="0">
              <a:buNone/>
            </a:pPr>
            <a:r>
              <a:rPr lang="en-US" sz="1000" b="1" dirty="0">
                <a:solidFill>
                  <a:srgbClr val="B3543F"/>
                </a:solidFill>
                <a:latin typeface="Calibri" pitchFamily="34" charset="0"/>
                <a:ea typeface="Calibri" pitchFamily="34" charset="-122"/>
                <a:cs typeface="Calibri" pitchFamily="34" charset="-120"/>
              </a:rPr>
              <a:t>BACKUP — not presented</a:t>
            </a:r>
            <a:endParaRPr lang="en-US" sz="1000" dirty="0"/>
          </a:p>
        </p:txBody>
      </p:sp>
      <p:sp>
        <p:nvSpPr>
          <p:cNvPr id="5" name="Text 3"/>
          <p:cNvSpPr txBox="1"/>
          <p:nvPr/>
        </p:nvSpPr>
        <p:spPr>
          <a:xfrm>
            <a:off x="548640" y="1298448"/>
            <a:ext cx="11091672" cy="420624"/>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All of our work runs inside the course QEMU image. That constrains the tooling in ways we had to establish by testing, not by assuming:</a:t>
            </a:r>
            <a:endParaRPr lang="en-US" sz="1300" dirty="0"/>
          </a:p>
        </p:txBody>
      </p:sp>
      <p:sp>
        <p:nvSpPr>
          <p:cNvPr id="6" name="Shape 4"/>
          <p:cNvSpPr/>
          <p:nvPr/>
        </p:nvSpPr>
        <p:spPr>
          <a:xfrm>
            <a:off x="548640" y="1691640"/>
            <a:ext cx="11091672" cy="457200"/>
          </a:xfrm>
          <a:prstGeom prst="roundRect">
            <a:avLst>
              <a:gd name="adj" fmla="val 10000"/>
            </a:avLst>
          </a:prstGeom>
          <a:solidFill>
            <a:srgbClr val="1B2430"/>
          </a:solidFill>
          <a:ln w="12700">
            <a:solidFill>
              <a:srgbClr val="1B2430"/>
            </a:solidFill>
            <a:prstDash val="solid"/>
          </a:ln>
        </p:spPr>
      </p:sp>
      <p:sp>
        <p:nvSpPr>
          <p:cNvPr id="7" name="Text 5"/>
          <p:cNvSpPr txBox="1"/>
          <p:nvPr/>
        </p:nvSpPr>
        <p:spPr>
          <a:xfrm>
            <a:off x="777240" y="1783080"/>
            <a:ext cx="10634472" cy="292608"/>
          </a:xfrm>
          <a:prstGeom prst="rect">
            <a:avLst/>
          </a:prstGeom>
          <a:noFill/>
          <a:ln/>
        </p:spPr>
        <p:txBody>
          <a:bodyPr wrap="square" lIns="0" tIns="0" rIns="0" bIns="0" rtlCol="0" anchor="ctr"/>
          <a:lstStyle/>
          <a:p>
            <a:pPr indent="0" marL="0">
              <a:buNone/>
            </a:pPr>
            <a:r>
              <a:rPr lang="en-US" sz="1400" dirty="0">
                <a:solidFill>
                  <a:srgbClr val="8FE3D2"/>
                </a:solidFill>
                <a:latin typeface="Courier New" pitchFamily="34" charset="0"/>
                <a:ea typeface="Courier New" pitchFamily="34" charset="-122"/>
                <a:cs typeface="Courier New" pitchFamily="34" charset="-120"/>
              </a:rPr>
              <a:t>qemu-system-x86_64 -m 4096 -smp 8 -cpu host,pmu=on -accel kvm ...</a:t>
            </a:r>
            <a:endParaRPr lang="en-US" sz="1400" dirty="0"/>
          </a:p>
        </p:txBody>
      </p:sp>
      <p:sp>
        <p:nvSpPr>
          <p:cNvPr id="8" name="Shape 6"/>
          <p:cNvSpPr/>
          <p:nvPr/>
        </p:nvSpPr>
        <p:spPr>
          <a:xfrm>
            <a:off x="548640" y="2377440"/>
            <a:ext cx="5394960" cy="2148840"/>
          </a:xfrm>
          <a:prstGeom prst="roundRect">
            <a:avLst>
              <a:gd name="adj" fmla="val 2553"/>
            </a:avLst>
          </a:prstGeom>
          <a:solidFill>
            <a:srgbClr val="F3F6F8"/>
          </a:solidFill>
          <a:ln w="9525">
            <a:solidFill>
              <a:srgbClr val="DBE2E8"/>
            </a:solidFill>
            <a:prstDash val="solid"/>
          </a:ln>
        </p:spPr>
      </p:sp>
      <p:sp>
        <p:nvSpPr>
          <p:cNvPr id="9" name="Text 7"/>
          <p:cNvSpPr txBox="1"/>
          <p:nvPr/>
        </p:nvSpPr>
        <p:spPr>
          <a:xfrm>
            <a:off x="822960" y="2532888"/>
            <a:ext cx="4846320" cy="292608"/>
          </a:xfrm>
          <a:prstGeom prst="rect">
            <a:avLst/>
          </a:prstGeom>
          <a:noFill/>
          <a:ln/>
        </p:spPr>
        <p:txBody>
          <a:bodyPr wrap="square" lIns="0" tIns="0" rIns="0" bIns="0" rtlCol="0" anchor="ctr"/>
          <a:lstStyle/>
          <a:p>
            <a:pPr indent="0" marL="0">
              <a:buNone/>
            </a:pPr>
            <a:r>
              <a:rPr lang="en-US" sz="1400" b="1" dirty="0">
                <a:solidFill>
                  <a:srgbClr val="2D9B8A"/>
                </a:solidFill>
                <a:latin typeface="Calibri" pitchFamily="34" charset="0"/>
                <a:ea typeface="Calibri" pitchFamily="34" charset="-122"/>
                <a:cs typeface="Calibri" pitchFamily="34" charset="-120"/>
              </a:rPr>
              <a:t>Counting works — only because of pmu=on</a:t>
            </a:r>
            <a:endParaRPr lang="en-US" sz="1400" dirty="0"/>
          </a:p>
        </p:txBody>
      </p:sp>
      <p:sp>
        <p:nvSpPr>
          <p:cNvPr id="10" name="Text 8"/>
          <p:cNvSpPr txBox="1"/>
          <p:nvPr/>
        </p:nvSpPr>
        <p:spPr>
          <a:xfrm>
            <a:off x="822960" y="2880360"/>
            <a:ext cx="4846320" cy="914400"/>
          </a:xfrm>
          <a:prstGeom prst="rect">
            <a:avLst/>
          </a:prstGeom>
          <a:noFill/>
          <a:ln/>
        </p:spPr>
        <p:txBody>
          <a:bodyPr wrap="square" lIns="0" tIns="0" rIns="0" bIns="0" rtlCol="0" anchor="ctr"/>
          <a:lstStyle/>
          <a:p>
            <a:pPr indent="0" marL="0">
              <a:lnSpc>
                <a:spcPts val="1600"/>
              </a:lnSpc>
              <a:buNone/>
            </a:pPr>
            <a:r>
              <a:rPr lang="en-US" sz="1200" dirty="0">
                <a:solidFill>
                  <a:srgbClr val="1B2430"/>
                </a:solidFill>
                <a:latin typeface="Calibri" pitchFamily="34" charset="0"/>
                <a:ea typeface="Calibri" pitchFamily="34" charset="-122"/>
                <a:cs typeface="Calibri" pitchFamily="34" charset="-120"/>
              </a:rPr>
              <a:t>Without that flag the guest has NO virtual PMU and perf answers &lt;not supported&gt; for every hardware event. With it we get a Haswell vPMU: cycles, instructions, cache and branch counters all count.</a:t>
            </a:r>
            <a:endParaRPr lang="en-US" sz="1200" dirty="0"/>
          </a:p>
        </p:txBody>
      </p:sp>
      <p:sp>
        <p:nvSpPr>
          <p:cNvPr id="11" name="Text 9"/>
          <p:cNvSpPr txBox="1"/>
          <p:nvPr/>
        </p:nvSpPr>
        <p:spPr>
          <a:xfrm>
            <a:off x="822960" y="3977640"/>
            <a:ext cx="4846320" cy="411480"/>
          </a:xfrm>
          <a:prstGeom prst="rect">
            <a:avLst/>
          </a:prstGeom>
          <a:noFill/>
          <a:ln/>
        </p:spPr>
        <p:txBody>
          <a:bodyPr wrap="square" lIns="0" tIns="0" rIns="0" bIns="0" rtlCol="0" anchor="ctr"/>
          <a:lstStyle/>
          <a:p>
            <a:pPr indent="0" marL="0">
              <a:buNone/>
            </a:pPr>
            <a:r>
              <a:rPr lang="en-US" sz="1200" b="1" dirty="0">
                <a:solidFill>
                  <a:srgbClr val="2D9B8A"/>
                </a:solidFill>
                <a:latin typeface="Calibri" pitchFamily="34" charset="0"/>
                <a:ea typeface="Calibri" pitchFamily="34" charset="-122"/>
                <a:cs typeface="Calibri" pitchFamily="34" charset="-120"/>
              </a:rPr>
              <a:t>This is the only reason we have counter data at all.</a:t>
            </a:r>
            <a:endParaRPr lang="en-US" sz="1200" dirty="0"/>
          </a:p>
        </p:txBody>
      </p:sp>
      <p:sp>
        <p:nvSpPr>
          <p:cNvPr id="12" name="Shape 10"/>
          <p:cNvSpPr/>
          <p:nvPr/>
        </p:nvSpPr>
        <p:spPr>
          <a:xfrm>
            <a:off x="6245352" y="2377440"/>
            <a:ext cx="5394960" cy="2148840"/>
          </a:xfrm>
          <a:prstGeom prst="roundRect">
            <a:avLst>
              <a:gd name="adj" fmla="val 2553"/>
            </a:avLst>
          </a:prstGeom>
          <a:solidFill>
            <a:srgbClr val="F3F6F8"/>
          </a:solidFill>
          <a:ln w="9525">
            <a:solidFill>
              <a:srgbClr val="DBE2E8"/>
            </a:solidFill>
            <a:prstDash val="solid"/>
          </a:ln>
        </p:spPr>
      </p:sp>
      <p:sp>
        <p:nvSpPr>
          <p:cNvPr id="13" name="Text 11"/>
          <p:cNvSpPr txBox="1"/>
          <p:nvPr/>
        </p:nvSpPr>
        <p:spPr>
          <a:xfrm>
            <a:off x="6519672" y="2532888"/>
            <a:ext cx="4846320" cy="292608"/>
          </a:xfrm>
          <a:prstGeom prst="rect">
            <a:avLst/>
          </a:prstGeom>
          <a:noFill/>
          <a:ln/>
        </p:spPr>
        <p:txBody>
          <a:bodyPr wrap="square" lIns="0" tIns="0" rIns="0" bIns="0" rtlCol="0" anchor="ctr"/>
          <a:lstStyle/>
          <a:p>
            <a:pPr indent="0" marL="0">
              <a:buNone/>
            </a:pPr>
            <a:r>
              <a:rPr lang="en-US" sz="1400" b="1" dirty="0">
                <a:solidFill>
                  <a:srgbClr val="B3543F"/>
                </a:solidFill>
                <a:latin typeface="Calibri" pitchFamily="34" charset="0"/>
                <a:ea typeface="Calibri" pitchFamily="34" charset="-122"/>
                <a:cs typeface="Calibri" pitchFamily="34" charset="-120"/>
              </a:rPr>
              <a:t>Sampling does NOT work</a:t>
            </a:r>
            <a:endParaRPr lang="en-US" sz="1400" dirty="0"/>
          </a:p>
        </p:txBody>
      </p:sp>
      <p:sp>
        <p:nvSpPr>
          <p:cNvPr id="14" name="Text 12"/>
          <p:cNvSpPr txBox="1"/>
          <p:nvPr/>
        </p:nvSpPr>
        <p:spPr>
          <a:xfrm>
            <a:off x="6519672" y="2880360"/>
            <a:ext cx="4846320" cy="914400"/>
          </a:xfrm>
          <a:prstGeom prst="rect">
            <a:avLst/>
          </a:prstGeom>
          <a:noFill/>
          <a:ln/>
        </p:spPr>
        <p:txBody>
          <a:bodyPr wrap="square" lIns="0" tIns="0" rIns="0" bIns="0" rtlCol="0" anchor="ctr"/>
          <a:lstStyle/>
          <a:p>
            <a:pPr indent="0" marL="0">
              <a:lnSpc>
                <a:spcPts val="1600"/>
              </a:lnSpc>
              <a:buNone/>
            </a:pPr>
            <a:r>
              <a:rPr lang="en-US" sz="1200" dirty="0">
                <a:solidFill>
                  <a:srgbClr val="1B2430"/>
                </a:solidFill>
                <a:latin typeface="Calibri" pitchFamily="34" charset="0"/>
                <a:ea typeface="Calibri" pitchFamily="34" charset="-122"/>
                <a:cs typeface="Calibri" pitchFamily="34" charset="-120"/>
              </a:rPr>
              <a:t>perf record on a hardware event captures ZERO samples here, even though perf stat counts that same event fine. Counting and sampling are different paths and only counting is virtualized.</a:t>
            </a:r>
            <a:endParaRPr lang="en-US" sz="1200" dirty="0"/>
          </a:p>
        </p:txBody>
      </p:sp>
      <p:sp>
        <p:nvSpPr>
          <p:cNvPr id="15" name="Text 13"/>
          <p:cNvSpPr txBox="1"/>
          <p:nvPr/>
        </p:nvSpPr>
        <p:spPr>
          <a:xfrm>
            <a:off x="6519672" y="3977640"/>
            <a:ext cx="4846320" cy="411480"/>
          </a:xfrm>
          <a:prstGeom prst="rect">
            <a:avLst/>
          </a:prstGeom>
          <a:noFill/>
          <a:ln/>
        </p:spPr>
        <p:txBody>
          <a:bodyPr wrap="square" lIns="0" tIns="0" rIns="0" bIns="0" rtlCol="0" anchor="ctr"/>
          <a:lstStyle/>
          <a:p>
            <a:pPr indent="0" marL="0">
              <a:buNone/>
            </a:pPr>
            <a:r>
              <a:rPr lang="en-US" sz="1200" b="1" dirty="0">
                <a:solidFill>
                  <a:srgbClr val="2D9B8A"/>
                </a:solidFill>
                <a:latin typeface="Calibri" pitchFamily="34" charset="0"/>
                <a:ea typeface="Calibri" pitchFamily="34" charset="-122"/>
                <a:cs typeface="Calibri" pitchFamily="34" charset="-120"/>
              </a:rPr>
              <a:t>Fix: flame graphs use -e cpu-clock, which is timer-based.</a:t>
            </a:r>
            <a:endParaRPr lang="en-US" sz="1200" dirty="0"/>
          </a:p>
        </p:txBody>
      </p:sp>
      <p:sp>
        <p:nvSpPr>
          <p:cNvPr id="16" name="Shape 14"/>
          <p:cNvSpPr/>
          <p:nvPr/>
        </p:nvSpPr>
        <p:spPr>
          <a:xfrm>
            <a:off x="548640" y="4709160"/>
            <a:ext cx="11091672" cy="1280160"/>
          </a:xfrm>
          <a:prstGeom prst="roundRect">
            <a:avLst>
              <a:gd name="adj" fmla="val 4286"/>
            </a:avLst>
          </a:prstGeom>
          <a:solidFill>
            <a:srgbClr val="FDF3EC"/>
          </a:solidFill>
          <a:ln w="9525">
            <a:solidFill>
              <a:srgbClr val="DBE2E8"/>
            </a:solidFill>
            <a:prstDash val="solid"/>
          </a:ln>
        </p:spPr>
      </p:sp>
      <p:sp>
        <p:nvSpPr>
          <p:cNvPr id="17" name="Text 15"/>
          <p:cNvSpPr txBox="1"/>
          <p:nvPr/>
        </p:nvSpPr>
        <p:spPr>
          <a:xfrm>
            <a:off x="822960" y="4837176"/>
            <a:ext cx="10543032" cy="274320"/>
          </a:xfrm>
          <a:prstGeom prst="rect">
            <a:avLst/>
          </a:prstGeom>
          <a:noFill/>
          <a:ln/>
        </p:spPr>
        <p:txBody>
          <a:bodyPr wrap="square" lIns="0" tIns="0" rIns="0" bIns="0"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The trap that nearly went into the report as a fact</a:t>
            </a:r>
            <a:endParaRPr lang="en-US" sz="1300" dirty="0"/>
          </a:p>
        </p:txBody>
      </p:sp>
      <p:sp>
        <p:nvSpPr>
          <p:cNvPr id="18" name="Text 16"/>
          <p:cNvSpPr txBox="1"/>
          <p:nvPr/>
        </p:nvSpPr>
        <p:spPr>
          <a:xfrm>
            <a:off x="822960" y="5120640"/>
            <a:ext cx="10543032" cy="777240"/>
          </a:xfrm>
          <a:prstGeom prst="rect">
            <a:avLst/>
          </a:prstGeom>
          <a:noFill/>
          <a:ln/>
        </p:spPr>
        <p:txBody>
          <a:bodyPr wrap="square" lIns="0" tIns="0" rIns="0" bIns="0" rtlCol="0" anchor="ctr"/>
          <a:lstStyle/>
          <a:p>
            <a:pPr indent="0" marL="0">
              <a:lnSpc>
                <a:spcPts val="1700"/>
              </a:lnSpc>
              <a:buNone/>
            </a:pPr>
            <a:r>
              <a:rPr lang="en-US" sz="1200" dirty="0">
                <a:solidFill>
                  <a:srgbClr val="1B2430"/>
                </a:solidFill>
                <a:latin typeface="Calibri" pitchFamily="34" charset="0"/>
                <a:ea typeface="Calibri" pitchFamily="34" charset="-122"/>
                <a:cs typeface="Calibri" pitchFamily="34" charset="-120"/>
              </a:rPr>
              <a:t>Our first pass asked perf stat for six events at once. cycles came back as exactly 0, and we almost wrote "cycles is unsupported in the guest". It is counter multiplexing: the guest has fewer usable counters than a bare machine. In groups of two, cycles reads fine. Also: CPython 3.10 predates -X perf, so perf cannot name Python functions here — py-spy does that instead.</a:t>
            </a:r>
            <a:endParaRPr lang="en-US" sz="1200" dirty="0"/>
          </a:p>
        </p:txBody>
      </p:sp>
      <p:sp>
        <p:nvSpPr>
          <p:cNvPr id="19" name="Text 17"/>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backup</a:t>
            </a:r>
            <a:endParaRPr lang="en-US" sz="1000" dirty="0"/>
          </a:p>
        </p:txBody>
      </p:sp>
      <p:sp>
        <p:nvSpPr>
          <p:cNvPr id="20" name="Text 18"/>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HW/SW Co-design - Final Project</dc:title>
  <dc:subject>PptxGenJS Presentation</dc:subject>
  <dc:creator>Taha Taha, Lana Bakre</dc:creator>
  <cp:lastModifiedBy>Taha Taha, Lana Bakre</cp:lastModifiedBy>
  <cp:revision>1</cp:revision>
  <dcterms:created xsi:type="dcterms:W3CDTF">2026-09-21T09:17:36Z</dcterms:created>
  <dcterms:modified xsi:type="dcterms:W3CDTF">2026-09-21T09:17:36Z</dcterms:modified>
</cp:coreProperties>
</file>