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Taha. 0:20. Introduce both presenters and the one-line result. Do not explain anything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Taha. 1:20. The key move: the two benchmarks were chosen for contrast, not convenience. End on the bottom strip - it sets up both hardware sections.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Taha. 1:10. This is a teaching slide. The disagreement between the two profilers is the point - do not rush the bottom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Taha. 1:10. Staff wrote that command, so be matter-of-fact, not smug. Frame it as something we hit and fixed.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Taha. 0:50. Keep it short - this is orientation. The last line pre-empts an obvious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Taha. 1:10. Read the top three. Flag that move_to_front is second - that is the perf-vs-cProfile disagreement showing up. End on the call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Taha. 1:30. THE most important slide in the pyflate half. Pause after '2.3, not 250'. If short on time elsewhere, protect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Taha. 1:10. Do not read all five. Spend the time on O1 and O2 and say the rest are bookkeeping. The honesty note at the bottom matters - say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Taha. 1:20. Land the IPC row. This is the strongest single piece of evidence in the whole project - instructions fell in near-exact proportion to the runtime.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Taha. 1:20. The one idea: a serial loop becomes 20 parallel comparators. Say WHY the priority encoder is exact - prefix-free codes. Then hand over to Lana.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Lana. 0:50. Your opening - re-establish yourself. The 18-per-pixel number is the hook; it justifies the hardware choice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Lana. 1:10. Point at the orange bars as a group - that is the 47%. The dynamic type checks cost more than the arithmetic they guard.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Lana. 1:20. Your strongest slide. Let the before/after sit for a beat before saying 49%. Protect this slide if running 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Lana. 1:20. Explain ablation in one sentence. The 7% allocation result is the teaching moment - intuition was measurably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Lana. 1:20. Tie it explicitly to tutorial 2 - row vs column major. Staff will recognize their own example and it shows we connected the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Lana. 1:20. Two things to land: weight-stationary = the TPU pattern, and the Amdahl bound. The honesty about 1.56x will earn more credit than a big number would.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Lana. 1:00. The brief asks for performance/area/power trade-offs - this slide IS that requirement. If late, state the shared-vs-replicated trade and skip the ulp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Lana. 1:00. Do not hide this - a found bug is evidence the verification works. Say plainly: we wrote it carefully, reviewed it, and it was wrong on vector two.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Both. 0:40. Taha reads the pyflate column, Lana the raytrace column, then one of you reads the bottom strip. Rehearse the handoff.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Taha. 0:25. Move briskly - do not dwell. Volunteering limitations pre-empts the question and reads as confidence, not weakness.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Lana. 0:15. Short. Then: 'Happy to take questions, and we have the code running if you would like to see anything.'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how canonical decoding works, or how the hardware table is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about the HW/SW interface, the driver, or security.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where the numbers came from, or about measurement noise.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'did you consider X'. Most likely question of the whole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whether the optimization generalizes, or only works on the one benchmark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HW/SW CO-DESIGN  ·  00460882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Making Python Fast,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Making It Hardware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576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AF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Profiling two pyperformance benchmarks, optimizing them without changing a single output byte, and proposing an accelerator for each.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663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Taha Taha   ·   Lana Bakre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983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 ·  Technion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686800" y="1783080"/>
            <a:ext cx="2971800" cy="3200400"/>
          </a:xfrm>
          <a:prstGeom prst="roundRect">
            <a:avLst>
              <a:gd name="adj" fmla="val 1846"/>
            </a:avLst>
          </a:prstGeom>
          <a:solidFill>
            <a:srgbClr val="2B3A4A"/>
          </a:solidFill>
          <a:ln w="9525">
            <a:solidFill>
              <a:srgbClr val="3C4E6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15400" y="196596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915400" y="228600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pyflate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52374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D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2.38×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15400" y="324612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raytrace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915400" y="348386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D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2.55×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2062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byte-identical.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was 7%.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benchmarks, chosen to disagree with each other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 asked for 2 of 13 approved pyperformance benchmarks, ≥7% faster each. We picked a pair that stress opposite parts of the machine — because that is what lets one project motivate both accelerator paradigms from the course.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94960" cy="3017520"/>
          </a:xfrm>
          <a:prstGeom prst="roundRect">
            <a:avLst>
              <a:gd name="adj" fmla="val 1818"/>
            </a:avLst>
          </a:prstGeom>
          <a:solidFill>
            <a:srgbClr val="F3F6F8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2860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pyflate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3347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pure-Python bzip2 decompressor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0175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integer, control-flow, irregular memory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variable-length Huffman codes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 consumed per symbol: 1 to 20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data-dependent rate → DATAFLOW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5352" y="2103120"/>
            <a:ext cx="5394960" cy="3017520"/>
          </a:xfrm>
          <a:prstGeom prst="roundRect">
            <a:avLst>
              <a:gd name="adj" fmla="val 1818"/>
            </a:avLst>
          </a:prstGeom>
          <a:solidFill>
            <a:srgbClr val="F3F6F8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19672" y="22860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raytrace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19672" y="263347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pure-Python recursive ray tracer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19672" y="301752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floating point, allocation bound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test the same fixed shape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operand count, fixed latency</a:t>
            </a:r>
            <a:endParaRPr lang="en-US" sz="13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fixed cadence → SYSTOLIC ARRAY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5349240"/>
            <a:ext cx="11091672" cy="658368"/>
          </a:xfrm>
          <a:prstGeom prst="roundRect">
            <a:avLst>
              <a:gd name="adj" fmla="val 8333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5458968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systolic array has no control circuitry — it consumes one input every cycle whether or not one is ready. That is exactly why it cannot decode Huffman codes, and exactly why it suits ray–sphere intersection.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336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Taha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725912" y="6336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tool answers both questions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4 makes the point directly: a flame graph shows you WHERE, performance counters show you WHY. We used three views, because each one lies in a different direction.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474720" cy="2286000"/>
          </a:xfrm>
          <a:prstGeom prst="roundRect">
            <a:avLst>
              <a:gd name="adj" fmla="val 2400"/>
            </a:avLst>
          </a:prstGeom>
          <a:solidFill>
            <a:srgbClr val="F3F6F8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240280"/>
            <a:ext cx="384048" cy="384048"/>
          </a:xfrm>
          <a:prstGeom prst="ellipse">
            <a:avLst/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22585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 record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7889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1546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cycle-weighted, per Python function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(needs CPython's -X perf trampoline)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52544" y="2011680"/>
            <a:ext cx="3474720" cy="2286000"/>
          </a:xfrm>
          <a:prstGeom prst="roundRect">
            <a:avLst>
              <a:gd name="adj" fmla="val 2400"/>
            </a:avLst>
          </a:prstGeom>
          <a:solidFill>
            <a:srgbClr val="F3F6F8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26864" y="2240280"/>
            <a:ext cx="384048" cy="384048"/>
          </a:xfrm>
          <a:prstGeom prst="ellipse">
            <a:avLst/>
          </a:prstGeom>
          <a:solidFill>
            <a:srgbClr val="7A6FA8"/>
          </a:solidFill>
          <a:ln w="12700">
            <a:solidFill>
              <a:srgbClr val="7A6FA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26864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129784" y="22585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cProfile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26864" y="27889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6F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MANY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4626864" y="31546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counts, which perf cannot give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but it charges per call, not per cycle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56448" y="2011680"/>
            <a:ext cx="3474720" cy="2286000"/>
          </a:xfrm>
          <a:prstGeom prst="roundRect">
            <a:avLst>
              <a:gd name="adj" fmla="val 2400"/>
            </a:avLst>
          </a:prstGeom>
          <a:solidFill>
            <a:srgbClr val="F3F6F8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30768" y="2240280"/>
            <a:ext cx="384048" cy="384048"/>
          </a:xfrm>
          <a:prstGeom prst="ellipse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30768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933688" y="225856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 stat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430768" y="27889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D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8430768" y="31546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IPC, cache misses, branch misses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mechanism behind the speedup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572000"/>
            <a:ext cx="11091672" cy="1417320"/>
          </a:xfrm>
          <a:prstGeom prst="roundRect">
            <a:avLst>
              <a:gd name="adj" fmla="val 3871"/>
            </a:avLst>
          </a:prstGeom>
          <a:solidFill>
            <a:srgbClr val="FDF3EC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470916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profilers disagreed — and that was the useful part.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5010912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cProfile ranks move_to_front at about 8%. perf puts it at 19.28% — second overall. Instrumentation charges per CALL; sampling charges per CYCLE. move_to_front is a function that is simply slow inside, so the call-count profiler under-reports it. We rewrote our analysis around perf.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336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Taha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10725912" y="6336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B35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command in the brief does not do what it looks like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533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Project.pdf suggests: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27632"/>
            <a:ext cx="11091672" cy="457200"/>
          </a:xfrm>
          <a:prstGeom prst="roundRect">
            <a:avLst>
              <a:gd name="adj" fmla="val 10000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19072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E3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 record -F 999 -g -- python3-dbg -m pyperformance run --bench &lt;name&gt;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331720"/>
            <a:ext cx="5394960" cy="2148840"/>
          </a:xfrm>
          <a:prstGeom prst="roundRect">
            <a:avLst>
              <a:gd name="adj" fmla="val 2553"/>
            </a:avLst>
          </a:prstGeom>
          <a:solidFill>
            <a:srgbClr val="F3F6F8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4871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5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 1  ·  you profile the wrong process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8346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pyperformance builds a virtualenv and re-execs the benchmark in a CHILD process, using an interpreter that is not python3-dbg unless you pass --python. perf then samples process machinery.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tools/profile_target.py runs the workload in-process.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45352" y="2331720"/>
            <a:ext cx="5394960" cy="2148840"/>
          </a:xfrm>
          <a:prstGeom prst="roundRect">
            <a:avLst>
              <a:gd name="adj" fmla="val 2553"/>
            </a:avLst>
          </a:prstGeom>
          <a:solidFill>
            <a:srgbClr val="F3F6F8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19672" y="24871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5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 2  ·  no Python names in the graph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19672" y="283464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function names need CPython's perf trampoline, -X perf, which exists only in 3.12+. naranja7 runs 3.12.3 so it works; the course QEMU guest runs 3.10, where perf shows only _PyEval_EvalFrameDefault.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detect the version; always emit cProfile as a fallback.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663440"/>
            <a:ext cx="11091672" cy="1280160"/>
          </a:xfrm>
          <a:prstGeom prst="roundRect">
            <a:avLst>
              <a:gd name="adj" fmla="val 4286"/>
            </a:avLst>
          </a:prstGeom>
          <a:solidFill>
            <a:srgbClr val="FDF3EC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791456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one that cost us an afternoon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07492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trampoline writes /tmp/perf-&lt;pid&gt;.map, and perf script needs that file to resolve py:: frames. A diagnostic of ours deleted /tmp between record and script — the flame graph still rendered, it had just silently become interpreter soup. Record and collapse in one pass.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336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Taha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0725912" y="6336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1  ·  PYFLATE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bzip2 decompressor written entirely in Python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67,562 compressed bytes in, 399,360 bytes out. The benchmark carries its own MD5, and we used it as the correctness oracle for the whole project.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3F6F8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317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Huffman</a:t>
            </a:r>
            <a:endParaRPr lang="en-US" sz="17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decode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7180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variable-length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codes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108960" y="2926080"/>
            <a:ext cx="237744" cy="0"/>
          </a:xfrm>
          <a:prstGeom prst="line">
            <a:avLst/>
          </a:prstGeom>
          <a:noFill/>
          <a:ln w="2222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401568" y="214884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3F6F8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84448" y="23317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Move-to-</a:t>
            </a:r>
            <a:endParaRPr lang="en-US" sz="17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584448" y="297180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alphabet reordered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every symbol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61888" y="2926080"/>
            <a:ext cx="237744" cy="0"/>
          </a:xfrm>
          <a:prstGeom prst="line">
            <a:avLst/>
          </a:prstGeom>
          <a:noFill/>
          <a:ln w="2222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54496" y="214884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3F6F8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23317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7A6F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Inverse</a:t>
            </a:r>
            <a:endParaRPr lang="en-US" sz="17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7A6F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BWT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437376" y="297180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pointer chase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= T[end]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814816" y="2926080"/>
            <a:ext cx="237744" cy="0"/>
          </a:xfrm>
          <a:prstGeom prst="line">
            <a:avLst/>
          </a:prstGeom>
          <a:noFill/>
          <a:ln w="2222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107424" y="2148840"/>
            <a:ext cx="2514600" cy="1600200"/>
          </a:xfrm>
          <a:prstGeom prst="roundRect">
            <a:avLst>
              <a:gd name="adj" fmla="val 3429"/>
            </a:avLst>
          </a:prstGeom>
          <a:solidFill>
            <a:srgbClr val="F3F6F8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90304" y="233172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RLE</a:t>
            </a:r>
            <a:endParaRPr lang="en-US" sz="17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expand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290304" y="297180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of ≥ 4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bytes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0690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benchmark would implement bzip2 in Python at all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38912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deliberate. Calling libbz2 would measure C, not the interpreter. Every import is stdlib — hashlib, struct, os. So this benchmark measures Python executing bit manipulation and table lookups, which is precisely what makes it interesting to optimize and to accelerate.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212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also rules out an easy cheat: swapping in libbz2 would have scored a huge speedup while measuring nothing and teaching nothing. We did not do it.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336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Taha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0725912" y="6336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1  ·  ANALYSIS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time actually goes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perf, cycle-weighted, with Python function names resolved. Measured on naranja7.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decode_huffman_block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06240" y="1847088"/>
            <a:ext cx="3444586" cy="182880"/>
          </a:xfrm>
          <a:prstGeom prst="rect">
            <a:avLst/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82128" y="178308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21.25%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20370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move_to_front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06240" y="2267712"/>
            <a:ext cx="3125253" cy="182880"/>
          </a:xfrm>
          <a:prstGeom prst="rect">
            <a:avLst/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82128" y="2203704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19.28%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62432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HuffmanTable.find_next_symbol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06240" y="2688336"/>
            <a:ext cx="2142938" cy="182880"/>
          </a:xfrm>
          <a:prstGeom prst="rect">
            <a:avLst/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82128" y="262432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13.22%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04495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RBitfield.readbits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06240" y="3108960"/>
            <a:ext cx="1376214" cy="182880"/>
          </a:xfrm>
          <a:prstGeom prst="rect">
            <a:avLst/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82128" y="304495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8.49%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46557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bwt_transform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206240" y="3529584"/>
            <a:ext cx="1369730" cy="182880"/>
          </a:xfrm>
          <a:prstGeom prst="rect">
            <a:avLst/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82128" y="3465576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8.45%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88620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RBitfield.snoopbits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06240" y="3950208"/>
            <a:ext cx="1324342" cy="182880"/>
          </a:xfrm>
          <a:prstGeom prst="rect">
            <a:avLst/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82128" y="388620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8.17%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30682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bwt_reverse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06240" y="4370832"/>
            <a:ext cx="893161" cy="182880"/>
          </a:xfrm>
          <a:prstGeom prst="rect">
            <a:avLst/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82128" y="4306824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5.51%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72744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BitfieldBase._mask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206240" y="4791456"/>
            <a:ext cx="889919" cy="182880"/>
          </a:xfrm>
          <a:prstGeom prst="rect">
            <a:avLst/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82128" y="47274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5.49%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869680" y="1783080"/>
            <a:ext cx="2770632" cy="3383280"/>
          </a:xfrm>
          <a:prstGeom prst="roundRect">
            <a:avLst>
              <a:gd name="adj" fmla="val 1980"/>
            </a:avLst>
          </a:prstGeom>
          <a:solidFill>
            <a:srgbClr val="F3F6F8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098280" y="193852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GROUPED BY STAGE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098280" y="228600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37.4%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9098280" y="265176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Huffman decode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098280" y="297180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19.3%</a:t>
            </a:r>
            <a:endParaRPr lang="en-US" sz="2200" dirty="0"/>
          </a:p>
        </p:txBody>
      </p:sp>
      <p:sp>
        <p:nvSpPr>
          <p:cNvPr id="34" name="Text 32"/>
          <p:cNvSpPr txBox="1"/>
          <p:nvPr/>
        </p:nvSpPr>
        <p:spPr>
          <a:xfrm>
            <a:off x="9098280" y="333756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Move-to-front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9098280" y="365760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14.0%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9098280" y="402336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BWT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9098280" y="434340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21.3%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9098280" y="4709160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loop body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3492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3,185,453 Python function calls to decompress 400 KB.  That is the number to keep in your head for the next slide.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6336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Taha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10725912" y="6336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1  ·  THE TURNING POINT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obvious diagnosis was wrong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44752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AF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find_next_symbol() walks a sorted table linearly, so everyone's first conclusion is "the scan is too deep". We almost optimized the wrong thing.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520440" cy="1691640"/>
          </a:xfrm>
          <a:prstGeom prst="roundRect">
            <a:avLst>
              <a:gd name="adj" fmla="val 3243"/>
            </a:avLst>
          </a:prstGeom>
          <a:solidFill>
            <a:srgbClr val="2B3A4A"/>
          </a:solidFill>
          <a:ln w="9525">
            <a:solidFill>
              <a:srgbClr val="3C4E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7744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148,271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718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to find_next_symbol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2148840"/>
            <a:ext cx="3520440" cy="1691640"/>
          </a:xfrm>
          <a:prstGeom prst="roundRect">
            <a:avLst>
              <a:gd name="adj" fmla="val 3243"/>
            </a:avLst>
          </a:prstGeom>
          <a:solidFill>
            <a:srgbClr val="2B3A4A"/>
          </a:solidFill>
          <a:ln w="9525">
            <a:solidFill>
              <a:srgbClr val="3C4E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237744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341,601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9718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F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to snoopbits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38160" y="2148840"/>
            <a:ext cx="3502152" cy="1691640"/>
          </a:xfrm>
          <a:prstGeom prst="roundRect">
            <a:avLst>
              <a:gd name="adj" fmla="val 3243"/>
            </a:avLst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66760" y="233172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</a:t>
            </a:r>
            <a:endParaRPr lang="en-US" sz="42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301752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2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probes per symbol — not ~250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069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move-to-front keeps the hot symbols on short codes, so the scan almost always exits after two probes.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617720"/>
            <a:ext cx="11091672" cy="1325880"/>
          </a:xfrm>
          <a:prstGeom prst="roundRect">
            <a:avLst>
              <a:gd name="adj" fmla="val 4138"/>
            </a:avLst>
          </a:prstGeom>
          <a:solidFill>
            <a:srgbClr val="2B3A4A"/>
          </a:solidFill>
          <a:ln w="19050">
            <a:solidFill>
              <a:srgbClr val="2D9B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773168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cost was never scan depth. Decoding ONE symbol cost about seven Python function calls: find_next_symbol, ~2.3 snoopbits, a readbits, and several _mask. The fix had to remove CALLS, not iterations — the opposite of what the benchmark's own source comment suggests.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336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Taha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0725912" y="6336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1  ·  OPTIMIZATION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changes, all removing interpreter work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one of these changes the algorithm. bzip2 is still bzip2; the decoded bytes are identical.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01368"/>
            <a:ext cx="475488" cy="274320"/>
          </a:xfrm>
          <a:prstGeom prst="roundRect">
            <a:avLst>
              <a:gd name="adj" fmla="val 166667"/>
            </a:avLst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8013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7556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 Huffman decode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02996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codes were already canonical, so limit/base/perm tables decode a symbol arithmetically — no table walk, no per-candidate object access.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624328"/>
            <a:ext cx="475488" cy="274320"/>
          </a:xfrm>
          <a:prstGeom prst="roundRect">
            <a:avLst>
              <a:gd name="adj" fmla="val 166667"/>
            </a:avLst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62432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257860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Inlined bit reader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85292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file read once; the bit cursor lives in local variables inside the hot loop. Decoding a symbol now makes zero function calls.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447288"/>
            <a:ext cx="475488" cy="274320"/>
          </a:xfrm>
          <a:prstGeom prst="roundRect">
            <a:avLst>
              <a:gd name="adj" fmla="val 166667"/>
            </a:avLst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44728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34015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Inverse BWT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67588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256-bin histogram + prefix sum replaces sorted(L) and 256 find() scans; output written into a preallocated bytearray.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70248"/>
            <a:ext cx="475488" cy="274320"/>
          </a:xfrm>
          <a:prstGeom prst="roundRect">
            <a:avLst>
              <a:gd name="adj" fmla="val 166667"/>
            </a:avLst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427024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207008" y="422452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Move-to-front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207008" y="449884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list.pop + list.insert is one C-level memmove, replacing three slices and two concatenations per symbol.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093208"/>
            <a:ext cx="475488" cy="274320"/>
          </a:xfrm>
          <a:prstGeom prst="roundRect">
            <a:avLst>
              <a:gd name="adj" fmla="val 166667"/>
            </a:avLst>
          </a:prstGeom>
          <a:solidFill>
            <a:srgbClr val="6B7785"/>
          </a:solidFill>
          <a:ln w="12700">
            <a:solidFill>
              <a:srgbClr val="6B778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509320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504748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assembly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207008" y="53218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bytearray instead of ~767,000 one-byte bytes objects joined at the end.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870448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 and O2 cannot be separated in measurement: the canonical decoder is what makes inlining possible, and the inlining is what turns it into wall-clock time.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336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Taha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10725912" y="6336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1  ·  RESULT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2.38× faster — and the counters say why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733 ms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29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063240" y="1691640"/>
            <a:ext cx="502920" cy="0"/>
          </a:xfrm>
          <a:prstGeom prst="line">
            <a:avLst/>
          </a:prstGeom>
          <a:noFill/>
          <a:ln w="2222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3657600" y="137160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309 ms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2029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0" y="1325880"/>
            <a:ext cx="2377440" cy="960120"/>
          </a:xfrm>
          <a:prstGeom prst="roundRect">
            <a:avLst>
              <a:gd name="adj" fmla="val 5714"/>
            </a:avLst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38988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2.38×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6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57.9% cut  ·  t = 620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098280" y="13716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pyperf --rigorous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±1–2% error bars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idle, pinned machine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697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852160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138160" y="2697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017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instructions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30175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24.81 G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852160" y="30175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10.74 G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138160" y="30175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2.31× fewer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364992"/>
            <a:ext cx="10149840" cy="365760"/>
          </a:xfrm>
          <a:prstGeom prst="rect">
            <a:avLst/>
          </a:prstGeom>
          <a:solidFill>
            <a:srgbClr val="FDF3EC"/>
          </a:solidFill>
          <a:ln w="12700">
            <a:solidFill>
              <a:srgbClr val="FDF3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3401568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IPC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566160" y="34015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2.73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852160" y="34015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138160" y="34015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unchanged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78561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cache-misses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566160" y="378561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1.95 M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852160" y="378561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 K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138160" y="378561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10.4× fewer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169664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branch-misses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566160" y="416966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19.4 M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852160" y="416966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3.58 M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138160" y="41696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5.4× fewer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4800600"/>
            <a:ext cx="11091672" cy="1188720"/>
          </a:xfrm>
          <a:prstGeom prst="roundRect">
            <a:avLst>
              <a:gd name="adj" fmla="val 4615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2960" y="4937760"/>
            <a:ext cx="10543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 barely moved. The machine did not get smarter — it was asked to do less.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" y="525780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retired fell 2.31× against a 2.38× speedup. Those two numbers matching is the hardware-level proof that the win came from deleting interpreter work — frames, argument tuples, temporary objects — exactly as the call-count analysis predicted. Nothing here was won by being clever with the microarchitecture.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6336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Taha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10725912" y="6336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1  ·  HARDWARE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dataflow decoder: 20 comparators, one encoder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6537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software, canonical decoding is a short serial loop — one iteration per extra code length. In hardware all 20 candidate lengths are evaluated at once: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01952"/>
            <a:ext cx="6537960" cy="1371600"/>
          </a:xfrm>
          <a:prstGeom prst="roundRect">
            <a:avLst>
              <a:gd name="adj" fmla="val 3333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6080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8FE3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L in 1..20  (in parallel):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8FE3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code_L = window[19 -: L]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8FE3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hit_L  = code_L &lt;= limit[L]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8FE3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 = lowest L with hit_L      // priority encoder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8FE3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 = perm[code_sel - base[sel]]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01568"/>
            <a:ext cx="6537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Huffman codes are prefix-free, so the SHORTEST accepting length is the unique correct one. That is what makes a priority encoder exact — no backtracking. One symbol per cycle, independent of code length.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498080" y="1371600"/>
            <a:ext cx="4142232" cy="804672"/>
          </a:xfrm>
          <a:prstGeom prst="roundRect">
            <a:avLst>
              <a:gd name="adj" fmla="val 6818"/>
            </a:avLst>
          </a:prstGeom>
          <a:solidFill>
            <a:srgbClr val="F3F6F8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26680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bit_window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26680" y="17556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64-bit, variable retire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555480" y="2176272"/>
            <a:ext cx="0" cy="182880"/>
          </a:xfrm>
          <a:prstGeom prst="line">
            <a:avLst/>
          </a:prstGeom>
          <a:noFill/>
          <a:ln w="2222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498080" y="2359152"/>
            <a:ext cx="4142232" cy="804672"/>
          </a:xfrm>
          <a:prstGeom prst="roundRect">
            <a:avLst>
              <a:gd name="adj" fmla="val 6818"/>
            </a:avLst>
          </a:prstGeom>
          <a:solidFill>
            <a:srgbClr val="F3F6F8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26680" y="2450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huffman_decoder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726680" y="2743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symbol / cycle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555480" y="3163824"/>
            <a:ext cx="0" cy="182880"/>
          </a:xfrm>
          <a:prstGeom prst="line">
            <a:avLst/>
          </a:prstGeom>
          <a:noFill/>
          <a:ln w="2222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498080" y="3346704"/>
            <a:ext cx="4142232" cy="804672"/>
          </a:xfrm>
          <a:prstGeom prst="roundRect">
            <a:avLst>
              <a:gd name="adj" fmla="val 6818"/>
            </a:avLst>
          </a:prstGeom>
          <a:solidFill>
            <a:srgbClr val="F3F6F8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34381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mtf_unit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7307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256-entry 1-cycle shift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555480" y="4151376"/>
            <a:ext cx="0" cy="182880"/>
          </a:xfrm>
          <a:prstGeom prst="line">
            <a:avLst/>
          </a:prstGeom>
          <a:noFill/>
          <a:ln w="2222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498080" y="4334256"/>
            <a:ext cx="4142232" cy="804672"/>
          </a:xfrm>
          <a:prstGeom prst="roundRect">
            <a:avLst>
              <a:gd name="adj" fmla="val 6818"/>
            </a:avLst>
          </a:prstGeom>
          <a:solidFill>
            <a:srgbClr val="F3F6F8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26680" y="44256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bwt_reverse_engine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726680" y="47183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on-chip SRAM chase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297680"/>
            <a:ext cx="6537960" cy="1691640"/>
          </a:xfrm>
          <a:prstGeom prst="roundRect">
            <a:avLst>
              <a:gd name="adj" fmla="val 3243"/>
            </a:avLst>
          </a:prstGeom>
          <a:solidFill>
            <a:srgbClr val="F3F6F8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04672" y="44348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Verified, not asserted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04672" y="4736592"/>
            <a:ext cx="6035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model: the RTL decision function, reimplemented in Python, decoded all 148,271 real symbols — MD5 matches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tb_huffman_decoder checks the symbol AND the retired bit count</a:t>
            </a:r>
            <a:endParaRPr lang="en-US" sz="115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under Icarus Verilog 12.0 on naranja7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336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Taha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10725912" y="6336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2  ·  RAYTRACE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recursive ray tracer, 100×100, eight objects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large sphere, six small spheres, a checkerboard plane, two point lights. Lambert diffuse plus a specular reflection, recursing to depth 3.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6675120" cy="2377440"/>
          </a:xfrm>
          <a:prstGeom prst="roundRect">
            <a:avLst>
              <a:gd name="adj" fmla="val 1923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 pixel: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50592"/>
            <a:ext cx="6126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E3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primary ray          → normalized()  [sqrt]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E3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against all 8 objects → nearest hit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E3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shade it: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E3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1 reflection ray       → recurse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E3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2 lights × shadow rays → 8 objects each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0" y="2011680"/>
            <a:ext cx="4325112" cy="2377440"/>
          </a:xfrm>
          <a:prstGeom prst="roundRect">
            <a:avLst>
              <a:gd name="adj" fmla="val 2308"/>
            </a:avLst>
          </a:prstGeom>
          <a:solidFill>
            <a:srgbClr val="F3F6F8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43800" y="2176272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7543800" y="29626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 tests per pixel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543800" y="3291840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8. The extra ones are shadow rays and reflection rays — 179,457 calls for 10,000 pixels. Intersection is THE kernel, and that is what we later put in hardware.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66344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one, next to a decompressor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9834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pyflate is integer and control-flow bound. This is floating point and allocation bound. Same interpreter, opposite bottleneck — and, as we will show, opposite accelerator.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336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Lana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725912" y="6336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2  ·  ANALYSIS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Half the runtime is in three-float wrappers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Point.__sub__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206240" y="1481328"/>
            <a:ext cx="3154680" cy="182880"/>
          </a:xfrm>
          <a:prstGeom prst="rect">
            <a:avLst/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07808" y="141732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17.25%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83794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Vector.dot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06240" y="1901952"/>
            <a:ext cx="2867558" cy="182880"/>
          </a:xfrm>
          <a:prstGeom prst="rect">
            <a:avLst/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607808" y="1837944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15.68%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5856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Sphere.intersectionTime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06240" y="2322576"/>
            <a:ext cx="2150669" cy="182880"/>
          </a:xfrm>
          <a:prstGeom prst="rect">
            <a:avLst/>
          </a:prstGeom>
          <a:solidFill>
            <a:srgbClr val="C3CBD3"/>
          </a:solidFill>
          <a:ln w="12700">
            <a:solidFill>
              <a:srgbClr val="C3CB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607808" y="225856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11.76%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6791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Scene._lightIsVisible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06240" y="2743200"/>
            <a:ext cx="1426464" cy="182880"/>
          </a:xfrm>
          <a:prstGeom prst="rect">
            <a:avLst/>
          </a:prstGeom>
          <a:solidFill>
            <a:srgbClr val="C3CBD3"/>
          </a:solidFill>
          <a:ln w="12700">
            <a:solidFill>
              <a:srgbClr val="C3CBD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07808" y="267919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7.80%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09981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Vector.scale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06240" y="3163824"/>
            <a:ext cx="1205179" cy="182880"/>
          </a:xfrm>
          <a:prstGeom prst="rect">
            <a:avLst/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07808" y="3099816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6.59%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5204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Scene.rayColour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06240" y="3584448"/>
            <a:ext cx="905256" cy="182880"/>
          </a:xfrm>
          <a:prstGeom prst="rect">
            <a:avLst/>
          </a:prstGeom>
          <a:solidFill>
            <a:srgbClr val="C3CBD3"/>
          </a:solidFill>
          <a:ln w="12700">
            <a:solidFill>
              <a:srgbClr val="C3CBD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607808" y="352044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4.95%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94106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Vector.__init__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206240" y="4005072"/>
            <a:ext cx="863194" cy="182880"/>
          </a:xfrm>
          <a:prstGeom prst="rect">
            <a:avLst/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607808" y="3941064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4.72%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36168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Vector.normalized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206240" y="4425696"/>
            <a:ext cx="587045" cy="182880"/>
          </a:xfrm>
          <a:prstGeom prst="rect">
            <a:avLst/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607808" y="436168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3.21%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686800" y="1417320"/>
            <a:ext cx="2953512" cy="2011680"/>
          </a:xfrm>
          <a:prstGeom prst="roundRect">
            <a:avLst>
              <a:gd name="adj" fmla="val 2727"/>
            </a:avLst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915400" y="164592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47.45%</a:t>
            </a:r>
            <a:endParaRPr lang="en-US" sz="3600" dirty="0"/>
          </a:p>
        </p:txBody>
      </p:sp>
      <p:sp>
        <p:nvSpPr>
          <p:cNvPr id="30" name="Text 28"/>
          <p:cNvSpPr txBox="1"/>
          <p:nvPr/>
        </p:nvSpPr>
        <p:spPr>
          <a:xfrm>
            <a:off x="8915400" y="2331720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A2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runtime is in Vector/Point operator wrappers (orange bars), not in the ray tracing algorithm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686800" y="3611880"/>
            <a:ext cx="2953512" cy="1554480"/>
          </a:xfrm>
          <a:prstGeom prst="roundRect">
            <a:avLst>
              <a:gd name="adj" fmla="val 3529"/>
            </a:avLst>
          </a:prstGeom>
          <a:solidFill>
            <a:srgbClr val="F3F6F8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915400" y="37490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509,871</a:t>
            </a:r>
            <a:endParaRPr lang="en-US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8915400" y="420624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to Vector.dot — every one of them starts with a mustBeVector() type assertion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376672"/>
            <a:ext cx="11091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leaves of this flame graph are type checks and operator dispatch — not floating-point work. 307 function calls per pixel.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336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Lana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10725912" y="6336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2  ·  THE FINDING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line, in the wrong place, cost 49%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719072"/>
            <a:ext cx="5349240" cy="1371600"/>
          </a:xfrm>
          <a:prstGeom prst="roundRect">
            <a:avLst>
              <a:gd name="adj" fmla="val 3333"/>
            </a:avLst>
          </a:prstGeom>
          <a:solidFill>
            <a:srgbClr val="2B3A4A"/>
          </a:solidFill>
          <a:ln w="15875">
            <a:solidFill>
              <a:srgbClr val="E883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47088"/>
            <a:ext cx="4892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FFD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(o, s) in self.objects: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FFD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= o.intersectionTime(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FFD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Ray(p, l - p))   ← inside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4630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09360" y="1719072"/>
            <a:ext cx="5330952" cy="1371600"/>
          </a:xfrm>
          <a:prstGeom prst="roundRect">
            <a:avLst>
              <a:gd name="adj" fmla="val 3333"/>
            </a:avLst>
          </a:prstGeom>
          <a:solidFill>
            <a:srgbClr val="2B3A4A"/>
          </a:solidFill>
          <a:ln w="15875">
            <a:solidFill>
              <a:srgbClr val="2D9B8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37960" y="1847088"/>
            <a:ext cx="48737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9ED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shadowRay = Ray(p, l - p)   ← hoisted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9ED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(o, s) in self.objects: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A9ED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= o.intersectionTime(shadowRay)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2918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Ray(p, l - p) does not depend on o. Its constructor calls normalized() → magnitude() → sqrt(). So the same shadow ray, square root included, was rebuilt 8 times per light per shading point.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5349240" cy="1828800"/>
          </a:xfrm>
          <a:prstGeom prst="roundRect">
            <a:avLst>
              <a:gd name="adj" fmla="val 3000"/>
            </a:avLst>
          </a:prstGeom>
          <a:solidFill>
            <a:srgbClr val="2B3A4A"/>
          </a:solidFill>
          <a:ln w="9525">
            <a:solidFill>
              <a:srgbClr val="3C4E6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4206240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+49%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84632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F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when we revert just this one hoist. A three-line change, with no cleverness in it at all.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09360" y="4023360"/>
            <a:ext cx="5330952" cy="1828800"/>
          </a:xfrm>
          <a:prstGeom prst="roundRect">
            <a:avLst>
              <a:gd name="adj" fmla="val 3000"/>
            </a:avLst>
          </a:prstGeom>
          <a:solidFill>
            <a:srgbClr val="2B3A4A"/>
          </a:solidFill>
          <a:ln w="19050">
            <a:solidFill>
              <a:srgbClr val="2D9B8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0" y="418795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lesson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4498848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plain bug, not a subtle trade-off — and reading the code at normal speed does not reveal it. Profiling did. That is the whole argument for measuring before optimizing.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336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Lana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0725912" y="6336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2  ·  OPTIMIZATION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changed — and what each change was worth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measured each one by ABLATION: take the finished build and revert exactly one optimization. Marginal costs do not sum to the total, because the optimizations interact — so this is a ranking, not a decomposition.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7406640" cy="731520"/>
          </a:xfrm>
          <a:prstGeom prst="roundRect">
            <a:avLst>
              <a:gd name="adj" fmla="val 7500"/>
            </a:avLst>
          </a:prstGeom>
          <a:solidFill>
            <a:srgbClr val="F3F6F8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0756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O3 / O5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874520" y="207568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Inlined intersection, cached radius²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897880" y="2221992"/>
            <a:ext cx="1271847" cy="219456"/>
          </a:xfrm>
          <a:prstGeom prst="rect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0" y="2075688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+51%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7406640" cy="731520"/>
          </a:xfrm>
          <a:prstGeom prst="roundRect">
            <a:avLst>
              <a:gd name="adj" fmla="val 7500"/>
            </a:avLst>
          </a:prstGeom>
          <a:solidFill>
            <a:srgbClr val="F3F6F8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944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874520" y="294436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Shadow-ray hoist (previous slide)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97880" y="3090672"/>
            <a:ext cx="1221971" cy="219456"/>
          </a:xfrm>
          <a:prstGeom prst="rect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0" y="2944368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+49%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703320"/>
            <a:ext cx="7406640" cy="731520"/>
          </a:xfrm>
          <a:prstGeom prst="roundRect">
            <a:avLst>
              <a:gd name="adj" fmla="val 7500"/>
            </a:avLst>
          </a:prstGeom>
          <a:solidFill>
            <a:srgbClr val="F3F6F8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8130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874520" y="381304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minimum, no per-ray list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897880" y="3959352"/>
            <a:ext cx="174567" cy="219456"/>
          </a:xfrm>
          <a:prstGeom prst="rect">
            <a:avLst/>
          </a:prstGeom>
          <a:solidFill>
            <a:srgbClr val="C3CBD3"/>
          </a:solidFill>
          <a:ln w="12700">
            <a:solidFill>
              <a:srgbClr val="C3CBD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0" y="3813048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+7%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229600" y="1965960"/>
            <a:ext cx="3410712" cy="2514600"/>
          </a:xfrm>
          <a:prstGeom prst="roundRect">
            <a:avLst>
              <a:gd name="adj" fmla="val 2182"/>
            </a:avLst>
          </a:prstGeom>
          <a:solidFill>
            <a:srgbClr val="FDF3EC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58200" y="212140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counter-intuitive one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458200" y="2450592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~200,000 allocations per frame — the thing you instinctively reach for — was worth only 7%.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type-check and call overhead cost seven times more than the garbage did.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8006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preserves the baseline's floating-point operand ORDER and GROUPING — FP addition is not associative, and that is what keeps the image bit-identical.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25780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deliberately NOT fixed: CheckerboardSurface.baseColourAt() calls v.scale() and discards the result, so checkSize never takes effect. It is a real bug in the original — but fixing it would change the image, and the brief requires identical output. We flagged it in the report instead of silently preserving it.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336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Lana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725912" y="6336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2  ·  RESULT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2.55× faster — and a trap in reading counters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554 ms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84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063240" y="1645920"/>
            <a:ext cx="502920" cy="0"/>
          </a:xfrm>
          <a:prstGeom prst="line">
            <a:avLst/>
          </a:prstGeom>
          <a:noFill/>
          <a:ln w="2222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3657600" y="132588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217 ms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1984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0" y="1280160"/>
            <a:ext cx="2377440" cy="960120"/>
          </a:xfrm>
          <a:prstGeom prst="roundRect">
            <a:avLst>
              <a:gd name="adj" fmla="val 5714"/>
            </a:avLst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0" y="13441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2.55×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874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6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60.8% cut  ·  t = 671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098280" y="13258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 2.44 → 2.52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2.57× fewer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story as pyflate.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514600"/>
            <a:ext cx="11091672" cy="3291840"/>
          </a:xfrm>
          <a:prstGeom prst="roundRect">
            <a:avLst>
              <a:gd name="adj" fmla="val 1667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26974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looks like a regression — and is not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2004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cache-miss RATE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069080" y="3200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1.20%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3200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1.40%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200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WORSE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36393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 REFERENCES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069080" y="363931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10.7 M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363931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3.48 M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458200" y="36393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3.08× fewer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407822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 MISSES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4069080" y="407822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 K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263640" y="407822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48.6 K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458200" y="407822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2.65× fewer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68680" y="457200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AF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optimized code makes 3.08× fewer cache REFERENCES, because it no longer allocates and chases a swarm of short-lived Vector objects. The references that remain are the genuinely cold ones — so the ratio of misses to references rises even though the machine stalls far less often.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868680" y="5285232"/>
            <a:ext cx="10424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same trap the course's own perf tutorial sets with row-major vs column-major traversal. A rate is not a performance metric; misses per unit of work is.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336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Lana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10725912" y="6336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2  ·  HARDWARE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weight-stationary systolic array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intersection test is the same fixed shape — 3 subtractions, 6 multiplies, 4 adds, one square root. Fixed operand count, fixed latency, no data-dependent control. That is exactly what a systolic array wants.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298448" cy="1051560"/>
          </a:xfrm>
          <a:prstGeom prst="roundRect">
            <a:avLst>
              <a:gd name="adj" fmla="val 4348"/>
            </a:avLst>
          </a:prstGeom>
          <a:solidFill>
            <a:srgbClr val="2B3A4A"/>
          </a:solidFill>
          <a:ln w="9525">
            <a:solidFill>
              <a:srgbClr val="3C4E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121408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PE0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95728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F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 cy</a:t>
            </a:r>
            <a:endParaRPr lang="en-US" sz="10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F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 r²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029968" y="2011680"/>
            <a:ext cx="1298448" cy="1051560"/>
          </a:xfrm>
          <a:prstGeom prst="roundRect">
            <a:avLst>
              <a:gd name="adj" fmla="val 4348"/>
            </a:avLst>
          </a:prstGeom>
          <a:solidFill>
            <a:srgbClr val="2B3A4A"/>
          </a:solidFill>
          <a:ln w="9525">
            <a:solidFill>
              <a:srgbClr val="3C4E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029968" y="2121408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029968" y="2395728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F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 cy</a:t>
            </a:r>
            <a:endParaRPr lang="en-US" sz="10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F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 r²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511296" y="2011680"/>
            <a:ext cx="1298448" cy="1051560"/>
          </a:xfrm>
          <a:prstGeom prst="roundRect">
            <a:avLst>
              <a:gd name="adj" fmla="val 4348"/>
            </a:avLst>
          </a:prstGeom>
          <a:solidFill>
            <a:srgbClr val="2B3A4A"/>
          </a:solidFill>
          <a:ln w="9525">
            <a:solidFill>
              <a:srgbClr val="3C4E6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11296" y="2121408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511296" y="2395728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F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 cy</a:t>
            </a:r>
            <a:endParaRPr lang="en-US" sz="10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AF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cz r²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92624" y="2011680"/>
            <a:ext cx="1298448" cy="1051560"/>
          </a:xfrm>
          <a:prstGeom prst="roundRect">
            <a:avLst>
              <a:gd name="adj" fmla="val 4348"/>
            </a:avLst>
          </a:prstGeom>
          <a:solidFill>
            <a:srgbClr val="C3CBD3"/>
          </a:solidFill>
          <a:ln w="9525">
            <a:solidFill>
              <a:srgbClr val="3C4E6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92624" y="2121408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PE7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992624" y="2395728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···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1272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 parameters preloaded once per frame  ·  rays stream through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09360" y="2514600"/>
            <a:ext cx="411480" cy="0"/>
          </a:xfrm>
          <a:prstGeom prst="line">
            <a:avLst/>
          </a:prstGeom>
          <a:noFill/>
          <a:ln w="2222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812280" y="2011680"/>
            <a:ext cx="2194560" cy="1051560"/>
          </a:xfrm>
          <a:prstGeom prst="roundRect">
            <a:avLst>
              <a:gd name="adj" fmla="val 4348"/>
            </a:avLst>
          </a:prstGeom>
          <a:solidFill>
            <a:srgbClr val="E8833A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12280" y="22128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fp32_sqrt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812280" y="25054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24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stages · SHARED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98280" y="2514600"/>
            <a:ext cx="365760" cy="0"/>
          </a:xfrm>
          <a:prstGeom prst="line">
            <a:avLst/>
          </a:prstGeom>
          <a:noFill/>
          <a:ln w="22225">
            <a:solidFill>
              <a:srgbClr val="6B7785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555480" y="2011680"/>
            <a:ext cx="2084832" cy="1051560"/>
          </a:xfrm>
          <a:prstGeom prst="roundRect">
            <a:avLst>
              <a:gd name="adj" fmla="val 4348"/>
            </a:avLst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55480" y="2212848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nearest hit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555480" y="2505456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6F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tie-break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3611880"/>
            <a:ext cx="5394960" cy="2286000"/>
          </a:xfrm>
          <a:prstGeom prst="roundRect">
            <a:avLst>
              <a:gd name="adj" fmla="val 2400"/>
            </a:avLst>
          </a:prstGeom>
          <a:solidFill>
            <a:srgbClr val="F3F6F8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" y="37673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TPU trick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04672" y="4096512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 parameters are weight-stationary: preloaded into the PEs once per frame while rays stream past — structurally the same as the TPU preloading weights and streaming activations. We took the pattern straight from the Accelerator Design Patterns lecture.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245352" y="3611880"/>
            <a:ext cx="5394960" cy="2286000"/>
          </a:xfrm>
          <a:prstGeom prst="roundRect">
            <a:avLst>
              <a:gd name="adj" fmla="val 2400"/>
            </a:avLst>
          </a:prstGeom>
          <a:solidFill>
            <a:srgbClr val="FDF3EC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501384" y="37673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Amdahl, stated honestly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501384" y="4096512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 is 36.02% of the OPTIMIZED runtime. So even an infinitely fast intersection unit caps the whole-frame speedup at 1.56×. We report that instead of the ~10,000× kernel ratio, which would be meaningless. A real product would have to move shading onto the accelerator too — which is the path GPUs actually took.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6336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Lana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0725912" y="6336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2  ·  HARDWARE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square root is the real design decision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multipliers. fp32_sqrt is 24 pipeline stages — by far the largest block — so whether it is shared or replicated sets both the throughput and roughly half the array area.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94960" cy="1965960"/>
          </a:xfrm>
          <a:prstGeom prst="roundRect">
            <a:avLst>
              <a:gd name="adj" fmla="val 2791"/>
            </a:avLst>
          </a:prstGeom>
          <a:solidFill>
            <a:srgbClr val="F3F6F8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2140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 (what we built)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688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sqrt unit  ·  1 ray / 8 cycles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8892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area. The sqrt sets the throughput: 8 spheres must drain through one pipeline before the next ray enters.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45352" y="1965960"/>
            <a:ext cx="5394960" cy="1965960"/>
          </a:xfrm>
          <a:prstGeom prst="roundRect">
            <a:avLst>
              <a:gd name="adj" fmla="val 2791"/>
            </a:avLst>
          </a:prstGeom>
          <a:solidFill>
            <a:srgbClr val="F3F6F8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19672" y="212140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Replicated  (also buildable)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519672" y="24688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sqrt units  ·  1 ray / 1 cycle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19672" y="278892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8× the throughput for roughly double the total array area. The design is parameterized, so both points on the curve are real.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1148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knob: accuracy against area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4348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root truncates rather than rounds. Measured against math.sqrt over 6,008 samples: 1.16 ulp worst case. A 25th stage plus a rounding incrementer brings that to 0.69 ulp. We kept truncation, because 1 ulp of a distance cannot move an 8-bit colour channel — but it does mean this accelerator is NOT bit-exact, unlike the pyflate one.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one place where precision is not negotiable: bfloat16 would halve the multiplier area, but 8 mantissa bits cannot survive the cancellation in (cc − v·v). We rejected it.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336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Lana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0725912" y="6336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B35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simulated the RTL — and it was wrong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1091672" cy="1691640"/>
          </a:xfrm>
          <a:prstGeom prst="roundRect">
            <a:avLst>
              <a:gd name="adj" fmla="val 3243"/>
            </a:avLst>
          </a:prstGeom>
          <a:solidFill>
            <a:srgbClr val="1B2430"/>
          </a:solidFill>
          <a:ln w="19050">
            <a:solidFill>
              <a:srgbClr val="B354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48132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tb_ray_sphere failed on its second test vector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8288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+ 3  →  6.5          9 − 4  →  2.5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212848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fp32_add had two coupled off-by-one errors: the carry path normalized the leading one to bit 26 while the leading-zero path normalized it to bit 27 — and the mantissa slice matched neither convention. The module had been written carefully and reviewed. It was still flatly wrong.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546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hand-picked vectors were enough to MISS it, so we added 400 randomized ones — a quarter of them near-cancelling subtractions, the case that exercises the long normalize path where the bug lived.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803904"/>
            <a:ext cx="182880" cy="182880"/>
          </a:xfrm>
          <a:prstGeom prst="ellipse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74904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gate — both benchmarks byte / bit-identical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26480" y="3803904"/>
            <a:ext cx="182880" cy="182880"/>
          </a:xfrm>
          <a:prstGeom prst="ellipse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374904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model — all 148,271 real Huffman symbols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4187952"/>
            <a:ext cx="182880" cy="182880"/>
          </a:xfrm>
          <a:prstGeom prst="ellipse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133088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sqrt model — 6,008 samples, 1.16 ulp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26480" y="4187952"/>
            <a:ext cx="182880" cy="182880"/>
          </a:xfrm>
          <a:prstGeom prst="ellipse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0" y="4133088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tb_huffman_decoder — symbol and retired bit count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572000"/>
            <a:ext cx="182880" cy="182880"/>
          </a:xfrm>
          <a:prstGeom prst="ellipse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51713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tb_bit_window — 12 irregular retires, 1 to 20 bits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26480" y="4572000"/>
            <a:ext cx="182880" cy="182880"/>
          </a:xfrm>
          <a:prstGeom prst="ellipse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0" y="451713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bzip2_accel_top — elaborates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4956048"/>
            <a:ext cx="182880" cy="182880"/>
          </a:xfrm>
          <a:prstGeom prst="ellipse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90118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tb_ray_sphere — single PE, bit-exact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26480" y="4956048"/>
            <a:ext cx="182880" cy="182880"/>
          </a:xfrm>
          <a:prstGeom prst="ellipse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0" y="490118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tb_ray_array — nearest hit across 8 spheres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5340096"/>
            <a:ext cx="182880" cy="182880"/>
          </a:xfrm>
          <a:prstGeom prst="ellipse">
            <a:avLst/>
          </a:prstGeom>
          <a:solidFill>
            <a:srgbClr val="2D9B8A"/>
          </a:solidFill>
          <a:ln w="12700">
            <a:solidFill>
              <a:srgbClr val="2D9B8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" y="528523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tb_fp_random — 400 vectors, bit-exact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126480" y="5669280"/>
            <a:ext cx="5513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9 green  ·  ./tools/regress.sh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336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Lana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0725912" y="6336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benchmarks, two paradigms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AF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we chose the pair we did. The same project motivates both of the dominant accelerator patterns from the course — and, more importantly, shows why each one is wrong for the other workload.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926080" y="20574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pyflate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32320" y="205740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raytrace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64261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by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64261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integer, control flow, memory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132320" y="264261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floating point, allocation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2278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rate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32278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— 1 to 20 bits/symbol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322783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— same shape every test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8130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2926080" y="38130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DATAFLOW, valid/ready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132320" y="381304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SYSTOLIC, weight-stationary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39826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926080" y="43982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comparators + priority encoder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132320" y="439826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preload spheres, stream rays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9834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Bit-exact?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2926080" y="49834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132320" y="49834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— truncating sqrt, 1.16 ulp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349240"/>
            <a:ext cx="11091672" cy="777240"/>
          </a:xfrm>
          <a:prstGeom prst="roundRect">
            <a:avLst>
              <a:gd name="adj" fmla="val 7059"/>
            </a:avLst>
          </a:prstGeom>
          <a:solidFill>
            <a:srgbClr val="2B3A4A"/>
          </a:solidFill>
          <a:ln w="19050">
            <a:solidFill>
              <a:srgbClr val="E8833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5486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systolic array has no control circuitry. Feed it a variable-rate bitstream and it mis-aligns immediately — garbage in, garbage out. That single sentence is why these are two different machines.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336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Taha + Lana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725912" y="6336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B35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did not finish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Stating this plainly is deliberate. Every claim in our reports is one we can defend; these are the ones we cannot.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10512"/>
            <a:ext cx="256032" cy="256032"/>
          </a:xfrm>
          <a:prstGeom prst="ellipse">
            <a:avLst/>
          </a:prstGeom>
          <a:solidFill>
            <a:srgbClr val="B3543F"/>
          </a:solidFill>
          <a:ln w="12700">
            <a:solidFill>
              <a:srgbClr val="B354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8105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1783080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bzip2_accel_top is an integration sketch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10312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T[] counting-sort engine that bwt_reverse_engine depends on is specified in the source but NOT implemented, so t_we is tied low. The individual blocks are simulated and correct; the assembled top elaborates but would not decompress a file. What is missing is about n + 512 cycles of work: a 256-counter histogram, a prefix sum, and a second pass over L[].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227832"/>
            <a:ext cx="256032" cy="256032"/>
          </a:xfrm>
          <a:prstGeom prst="ellipse">
            <a:avLst/>
          </a:prstGeom>
          <a:solidFill>
            <a:srgbClr val="B3543F"/>
          </a:solidFill>
          <a:ln w="12700">
            <a:solidFill>
              <a:srgbClr val="B354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2278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0120" y="3200400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Amdahl caps both accelerators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52044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raytrace intersection is 36% of the optimized runtime → 1.56× ceiling on a whole frame. For pyflate, a 67 KB input behind PCIe would be dominated by the round trip — which is why this belongs on-die, not on a discrete card.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645152"/>
            <a:ext cx="256032" cy="256032"/>
          </a:xfrm>
          <a:prstGeom prst="ellipse">
            <a:avLst/>
          </a:prstGeom>
          <a:solidFill>
            <a:srgbClr val="B3543F"/>
          </a:solidFill>
          <a:ln w="12700">
            <a:solidFill>
              <a:srgbClr val="B3543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6451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4617720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latent divergence we left alone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493776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build_decode_tables does not skip zero-length symbols while the baseline does. We instrumented the real workload: all 6 Huffman tables have minimum length 2, so it never triggers. Latent, not active.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336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Taha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0725912" y="6336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 was 7% on two benchmarks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1672" cy="868680"/>
          </a:xfrm>
          <a:prstGeom prst="roundRect">
            <a:avLst>
              <a:gd name="adj" fmla="val 6316"/>
            </a:avLst>
          </a:prstGeom>
          <a:solidFill>
            <a:srgbClr val="2B3A4A"/>
          </a:solidFill>
          <a:ln w="9525">
            <a:solidFill>
              <a:srgbClr val="3C4E6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299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pyflate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2651760" y="20299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733.3 ms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89120" y="202996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308.7 ms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2029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57.9%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680960" y="20299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2.38×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9235440" y="202996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620.51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11091672" cy="868680"/>
          </a:xfrm>
          <a:prstGeom prst="roundRect">
            <a:avLst>
              <a:gd name="adj" fmla="val 6316"/>
            </a:avLst>
          </a:prstGeom>
          <a:solidFill>
            <a:srgbClr val="2B3A4A"/>
          </a:solidFill>
          <a:ln w="9525">
            <a:solidFill>
              <a:srgbClr val="3C4E6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0815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D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raytrace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30815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554.5 ms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389120" y="30815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217.1 ms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308152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60.8%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0" y="308152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2.55×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30815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670.87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0690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AF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clear the bar by roughly 8×, both statistically significant, and both with output identical to the original — byte for byte for pyflate, pixel for pixel for raytrace.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709160"/>
            <a:ext cx="11091672" cy="1234440"/>
          </a:xfrm>
          <a:prstGeom prst="roundRect">
            <a:avLst>
              <a:gd name="adj" fmla="val 4444"/>
            </a:avLst>
          </a:prstGeom>
          <a:solidFill>
            <a:srgbClr val="2B3A4A"/>
          </a:solidFill>
          <a:ln w="19050">
            <a:solidFill>
              <a:srgbClr val="2D9B8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8680" y="48463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would want you to take away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5138928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both benchmarks the obvious diagnosis was wrong, and the counters — not intuition — settled it. IPC stayed flat while instructions retired fell in proportion to the runtime. We did not make the machine faster; we stopped asking it to do work that was never needed.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336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Lana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725912" y="6336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Canonical Huffman: why limit/base/perm works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4572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35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— not presented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716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populate_huffman_symbols() already assigns canonical MSB-first codes — codes handed out in increasing order, shifted left whenever the length grows. That structure is what the linear scan ignores.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6035040" cy="1828800"/>
          </a:xfrm>
          <a:prstGeom prst="roundRect">
            <a:avLst>
              <a:gd name="adj" fmla="val 2500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103120"/>
            <a:ext cx="5577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8FE3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zvec = next min_len bits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8FE3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zvec &gt; limit[zn]: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8FE3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zn += 1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8FE3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zvec = (zvec &lt;&lt; 1) | next_bit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8FE3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 = perm[zvec - base[zn]]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766560" y="1965960"/>
            <a:ext cx="4873752" cy="1828800"/>
          </a:xfrm>
          <a:prstGeom prst="roundRect">
            <a:avLst>
              <a:gd name="adj" fmla="val 3000"/>
            </a:avLst>
          </a:prstGeom>
          <a:solidFill>
            <a:srgbClr val="F3F6F8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95160" y="21031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(6 symbols)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995160" y="2395728"/>
            <a:ext cx="4389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7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lengths [2,2,2,3,4,4]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7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 0→00  1→01  2→10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7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 3→110  4→1110  5→1111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7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limit[2]=2 base[2]=0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7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limit[3]=6 base[3]=3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77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limit[4]=15 base[4]=10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776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exact vectors in tb_huffman_decoder.v. The testbench checks both the decoded symbol and the number of bits retired — a decoder that returns the right symbol while consuming the wrong number of bits destroys the rest of the stream.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336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0725912" y="6336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Host/software interface and the three rules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4572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35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— not presented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91672" cy="1188720"/>
          </a:xfrm>
          <a:prstGeom prst="roundRect">
            <a:avLst>
              <a:gd name="adj" fmla="val 4615"/>
            </a:avLst>
          </a:prstGeom>
          <a:solidFill>
            <a:srgbClr val="F3F6F8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508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965960" y="150876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expect users to change their code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1828800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still calls bz2.decompress(). Nothing above the library moves.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11091672" cy="1188720"/>
          </a:xfrm>
          <a:prstGeom prst="roundRect">
            <a:avLst>
              <a:gd name="adj" fmla="val 4615"/>
            </a:avLst>
          </a:prstGeom>
          <a:solidFill>
            <a:srgbClr val="F3F6F8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880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65960" y="288036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software must change, confine it to the library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1965960" y="3200400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decompressor gains a fast path: map buffers, push the Huffman tables through the CSR window, write CTRL.START, sleep on the interrupt.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114800"/>
            <a:ext cx="11091672" cy="1188720"/>
          </a:xfrm>
          <a:prstGeom prst="roundRect">
            <a:avLst>
              <a:gd name="adj" fmla="val 4615"/>
            </a:avLst>
          </a:prstGeom>
          <a:solidFill>
            <a:srgbClr val="F3F6F8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251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8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965960" y="425196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break the user's code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965960" y="4572000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returns UNSUPPORTED for a randomised block or one larger than the on-chip SRAM, and the driver falls back to software. Our optimized Python mirrors this: a gzip input falls back to the baseline decoder.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596128"/>
            <a:ext cx="110916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Security: the accelerator is a DMA master behind the IOMMU, with per-device page tables, so it can only touch the buffers the driver mapped for that request.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336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0725912" y="6336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Measurement environment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4572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35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— not presented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1417320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naranja7.cslcs.technion.ac.il — the server assigned to ece882-031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9842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cpu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198424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× Intel Xeon E5-2630 v3 @ 2.40 GHz, 32 threads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551176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2551176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24.04.4 LTS, kernel 6.8.0-124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11810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3118104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CPython 3.12.3  ·  pyperf 2.10.0  ·  perf 6.8.12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68503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simulator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3685032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Icarus Verilog 12.0 (installed without root via dpkg -x)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2519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286000" y="4251960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pyperf --rigorous, taskset -c 8, load average 0.16 before the run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81888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83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counters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286000" y="4818888"/>
            <a:ext cx="9326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perf_event_paranoid = -1 — full hardware counter access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32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bars of 1–2% come from the machine being genuinely idle and the process pinned. Every table in both reports regenerates with ./script_pyflate.sh and ./script_raytrace.sh.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336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725912" y="6336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Things we tried and rejected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4572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35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— not presented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7160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5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37160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2^20-entry Huffman LUT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66420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decode in one step, but bzip2 allows 6 tables of length ≤ 20 — about 6M entries to BUILD per block, for a block that decodes 148k symbols. Table construction costs more than it saves.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3172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5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33172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for the inverse BWT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2432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added dependency for a stage the ablation shows is worth ~2%.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2918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5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2918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BVH for raytrace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358444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thing a graphics person proposes. With 8 objects, traversal overhead exceeds the 8 intersection tests it would save.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25196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5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2519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bfloat16 in the raytrace datapath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54456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Halves multiplier area, but 8 mantissa bits cannot survive the catastrophic cancellation in (cc − v·v).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2120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5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5212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Swapping in libbz2 / a C extension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5504688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post a huge speedup while measuring nothing. The benchmark exists to measure the interpreter.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336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0725912" y="6336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94944"/>
            <a:ext cx="110916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tested beyond the benchmark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4572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35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— not presented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394960" cy="2194560"/>
          </a:xfrm>
          <a:prstGeom prst="roundRect">
            <a:avLst>
              <a:gd name="adj" fmla="val 2500"/>
            </a:avLst>
          </a:prstGeom>
          <a:solidFill>
            <a:srgbClr val="F3F6F8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53619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pyflate — 14 extra streams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87452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empty, 1 byte, 1 KB of zeros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repetitive, 64 KB random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text, and a 900 KB MULTI-BLOCK file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compression levels 1 and 9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round-trip correctly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394960" cy="2194560"/>
          </a:xfrm>
          <a:prstGeom prst="roundRect">
            <a:avLst>
              <a:gd name="adj" fmla="val 2500"/>
            </a:avLst>
          </a:prstGeom>
          <a:solidFill>
            <a:srgbClr val="F3F6F8"/>
          </a:solidFill>
          <a:ln w="9525">
            <a:solidFill>
              <a:srgbClr val="DBE2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9672" y="153619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raytrace — 7 resolutions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19672" y="187452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2×2, 3×7, 16×16, 50×50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100×100, 101×37, 128×96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bit-identical at every one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is not a special case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79476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API divergences we found and disclosed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1148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the type assertions (O3) means Vector − Point and Vector.dot(Point) now compute silently where the baseline raised TypeError. Both are invalid usage the renderer never produces — but they are a behaviour change, so we documented them rather than leaving them to be discovered.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8920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2D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correctness gate runs before any timing is reported. tools/verify.py compares all 399,360 decompressed bytes and the full 30,000-byte framebuffer.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336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725912" y="63367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HW/SW Co-design - Final Project</dc:title>
  <dc:subject>PptxGenJS Presentation</dc:subject>
  <dc:creator>Taha Taha, Lana Bakre</dc:creator>
  <cp:lastModifiedBy>Taha Taha, Lana Bakre</cp:lastModifiedBy>
  <cp:revision>1</cp:revision>
  <dcterms:created xsi:type="dcterms:W3CDTF">2026-09-13T15:05:10Z</dcterms:created>
  <dcterms:modified xsi:type="dcterms:W3CDTF">2026-09-13T15:05:10Z</dcterms:modified>
</cp:coreProperties>
</file>