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0:20. Introduce both presenters and the one-line result. Do not explain anything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1:20. The key move: the two benchmarks were chosen for contrast, not convenience. End on the bottom strip - it sets up both hardware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1:10. This is a teaching slide. The disagreement between the two profilers is the point - do not rush the bottom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1:10. The point: we established these by testing, not assuming. The cycles=0 story is the strongest bit - we nearly published a wrong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0:50. Keep it short - this is orientation. The last line pre-empts an obvious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1:10. Read the top three. Flag that move_to_front is second - that is the perf-vs-cProfile disagreement showing up. End on the call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1:30. THE most important slide in the pyflate half. Pause after '2.3, not 250'. If short on time elsewhere, protect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1:10. Do not read all five. Spend the time on O1 and O2 and say the rest are bookkeeping. The honesty note at the bottom matters -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1:20. Land the IPC row. This is the strongest single piece of evidence in the whole project - instructions fell in near-exact proportion to the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1:20. The one idea: a serial loop becomes 20 parallel comparators. Say WHY the priority encoder is exact - prefix-free codes. Then hand over to Lana.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0:50. Your opening - re-establish yourself. The 18-per-pixel number is the hook; it justifies the hardware choice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1:10. Point at the orange bars as a group - that is the 47%. The dynamic type checks cost more than the arithmetic they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1:20. Your strongest slide. Let the before/after sit for a beat before saying 49%. Protect this slide if running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1:20. Explain ablation in one sentence. The 7% allocation result is the teaching moment - intuition was measurably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1:20. Tie it explicitly to tutorial 2 - row vs column major. Staff will recognize their own example and it shows we connected the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1:20. Two things to land: weight-stationary = the TPU pattern, and the Amdahl bound. The honesty about 1.56x will earn more credit than a big number would.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1:00. The brief asks for performance/area/power trade-offs - this slide IS that requirement. If late, state the shared-vs-replicated trade and skip the ulp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1:00. Do not hide this - a found bug is evidence the verification works. Say plainly: we wrote it carefully, reviewed it, and it was wrong on vector two. If asked what tb_top_block covers: the assembled accelerator is programmed through its CSRs like a driver would, fed one compressed block, and checked byte for byte - plus both Rule 3 refusals (randomised block, block bigger than the on-chip index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0:40. Taha reads the pyflate column, Lana the raytrace column, then one of you reads the bottom strip. Rehearse the handoff.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0:25. Move briskly - do not dwell. Volunteering limitations pre-empts the question and reads as confidence, not weakness.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0:15. Short. Then: 'Happy to take questions, and we have the code running if you would like to see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canonical decoding works, or how the hardware table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HW/SW interface, the driver, or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the numbers came from, or about measurement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'did you consider X'. Most likely question of the whole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the optimization generalizes, or only works on the one benchmark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1371600"/>
            <a:ext cx="11091672" cy="274320"/>
          </a:xfrm>
          <a:prstGeom prst="rect">
            <a:avLst/>
          </a:prstGeom>
          <a:noFill/>
          <a:ln/>
        </p:spPr>
        <p:txBody>
          <a:bodyPr wrap="square" lIns="0" tIns="0" rIns="0" bIns="0" rtlCol="0" anchor="ctr"/>
          <a:lstStyle/>
          <a:p>
            <a:pPr indent="0" marL="0">
              <a:buNone/>
            </a:pPr>
            <a:r>
              <a:rPr lang="en-US" sz="1300" b="1" spc="200" kern="0" dirty="0">
                <a:solidFill>
                  <a:srgbClr val="E8833A"/>
                </a:solidFill>
                <a:latin typeface="Calibri" pitchFamily="34" charset="0"/>
                <a:ea typeface="Calibri" pitchFamily="34" charset="-122"/>
                <a:cs typeface="Calibri" pitchFamily="34" charset="-120"/>
              </a:rPr>
              <a:t>HW/SW CO-DESIGN  ·  00460882</a:t>
            </a:r>
            <a:endParaRPr lang="en-US" sz="1300" dirty="0"/>
          </a:p>
        </p:txBody>
      </p:sp>
      <p:sp>
        <p:nvSpPr>
          <p:cNvPr id="3" name="Text 1"/>
          <p:cNvSpPr txBox="1"/>
          <p:nvPr/>
        </p:nvSpPr>
        <p:spPr>
          <a:xfrm>
            <a:off x="548640" y="1783080"/>
            <a:ext cx="7863840" cy="1737360"/>
          </a:xfrm>
          <a:prstGeom prst="rect">
            <a:avLst/>
          </a:prstGeom>
          <a:noFill/>
          <a:ln/>
        </p:spPr>
        <p:txBody>
          <a:bodyPr wrap="square" lIns="0" tIns="0" rIns="0" bIns="0" rtlCol="0" anchor="ctr"/>
          <a:lstStyle/>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Making Python Fast,</a:t>
            </a:r>
            <a:endParaRPr lang="en-US" sz="4200" dirty="0"/>
          </a:p>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Then Making It Hardware</a:t>
            </a:r>
            <a:endParaRPr lang="en-US" sz="4200" dirty="0"/>
          </a:p>
        </p:txBody>
      </p:sp>
      <p:sp>
        <p:nvSpPr>
          <p:cNvPr id="4" name="Text 2"/>
          <p:cNvSpPr txBox="1"/>
          <p:nvPr/>
        </p:nvSpPr>
        <p:spPr>
          <a:xfrm>
            <a:off x="548640" y="3657600"/>
            <a:ext cx="7680960" cy="640080"/>
          </a:xfrm>
          <a:prstGeom prst="rect">
            <a:avLst/>
          </a:prstGeom>
          <a:noFill/>
          <a:ln/>
        </p:spPr>
        <p:txBody>
          <a:bodyPr wrap="square" lIns="0" tIns="0" rIns="0" bIns="0" rtlCol="0" anchor="ctr"/>
          <a:lstStyle/>
          <a:p>
            <a:pPr indent="0" marL="0">
              <a:lnSpc>
                <a:spcPts val="2000"/>
              </a:lnSpc>
              <a:buNone/>
            </a:pPr>
            <a:r>
              <a:rPr lang="en-US" sz="1400" dirty="0">
                <a:solidFill>
                  <a:srgbClr val="AFBECD"/>
                </a:solidFill>
                <a:latin typeface="Calibri" pitchFamily="34" charset="0"/>
                <a:ea typeface="Calibri" pitchFamily="34" charset="-122"/>
                <a:cs typeface="Calibri" pitchFamily="34" charset="-120"/>
              </a:rPr>
              <a:t>Profiling two pyperformance benchmarks, optimizing them without changing a single output byte, and proposing an accelerator for each.</a:t>
            </a:r>
            <a:endParaRPr lang="en-US" sz="1400" dirty="0"/>
          </a:p>
        </p:txBody>
      </p:sp>
      <p:sp>
        <p:nvSpPr>
          <p:cNvPr id="5" name="Text 3"/>
          <p:cNvSpPr txBox="1"/>
          <p:nvPr/>
        </p:nvSpPr>
        <p:spPr>
          <a:xfrm>
            <a:off x="548640" y="4663440"/>
            <a:ext cx="731520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Taha Taha   ·   Lana Bakre</a:t>
            </a:r>
            <a:endParaRPr lang="en-US" sz="1600" dirty="0"/>
          </a:p>
        </p:txBody>
      </p:sp>
      <p:sp>
        <p:nvSpPr>
          <p:cNvPr id="6" name="Text 4"/>
          <p:cNvSpPr txBox="1"/>
          <p:nvPr/>
        </p:nvSpPr>
        <p:spPr>
          <a:xfrm>
            <a:off x="548640" y="4983480"/>
            <a:ext cx="7315200" cy="274320"/>
          </a:xfrm>
          <a:prstGeom prst="rect">
            <a:avLst/>
          </a:prstGeom>
          <a:noFill/>
          <a:ln/>
        </p:spPr>
        <p:txBody>
          <a:bodyPr wrap="square" lIns="0" tIns="0" rIns="0" bIns="0" rtlCol="0" anchor="ctr"/>
          <a:lstStyle/>
          <a:p>
            <a:pPr indent="0" marL="0">
              <a:buNone/>
            </a:pPr>
            <a:r>
              <a:rPr lang="en-US" sz="1200" dirty="0">
                <a:solidFill>
                  <a:srgbClr val="8A97A6"/>
                </a:solidFill>
                <a:latin typeface="Calibri" pitchFamily="34" charset="0"/>
                <a:ea typeface="Calibri" pitchFamily="34" charset="-122"/>
                <a:cs typeface="Calibri" pitchFamily="34" charset="-120"/>
              </a:rPr>
              <a:t>Final project  ·  Technion</a:t>
            </a:r>
            <a:endParaRPr lang="en-US" sz="1200" dirty="0"/>
          </a:p>
        </p:txBody>
      </p:sp>
      <p:sp>
        <p:nvSpPr>
          <p:cNvPr id="7" name="Shape 5"/>
          <p:cNvSpPr/>
          <p:nvPr/>
        </p:nvSpPr>
        <p:spPr>
          <a:xfrm>
            <a:off x="8686800" y="1783080"/>
            <a:ext cx="2971800" cy="3200400"/>
          </a:xfrm>
          <a:prstGeom prst="roundRect">
            <a:avLst>
              <a:gd name="adj" fmla="val 1846"/>
            </a:avLst>
          </a:prstGeom>
          <a:solidFill>
            <a:srgbClr val="2B3A4A"/>
          </a:solidFill>
          <a:ln w="9525">
            <a:solidFill>
              <a:srgbClr val="3C4E61"/>
            </a:solidFill>
            <a:prstDash val="solid"/>
          </a:ln>
        </p:spPr>
      </p:sp>
      <p:sp>
        <p:nvSpPr>
          <p:cNvPr id="8" name="Text 6"/>
          <p:cNvSpPr txBox="1"/>
          <p:nvPr/>
        </p:nvSpPr>
        <p:spPr>
          <a:xfrm>
            <a:off x="8915400" y="1965960"/>
            <a:ext cx="2514600" cy="228600"/>
          </a:xfrm>
          <a:prstGeom prst="rect">
            <a:avLst/>
          </a:prstGeom>
          <a:noFill/>
          <a:ln/>
        </p:spPr>
        <p:txBody>
          <a:bodyPr wrap="square" lIns="0" tIns="0" rIns="0" bIns="0" rtlCol="0" anchor="ctr"/>
          <a:lstStyle/>
          <a:p>
            <a:pPr indent="0" marL="0">
              <a:buNone/>
            </a:pPr>
            <a:r>
              <a:rPr lang="en-US" sz="1000" b="1" spc="150" kern="0" dirty="0">
                <a:solidFill>
                  <a:srgbClr val="8A97A6"/>
                </a:solidFill>
                <a:latin typeface="Calibri" pitchFamily="34" charset="0"/>
                <a:ea typeface="Calibri" pitchFamily="34" charset="-122"/>
                <a:cs typeface="Calibri" pitchFamily="34" charset="-120"/>
              </a:rPr>
              <a:t>RESULTS</a:t>
            </a:r>
            <a:endParaRPr lang="en-US" sz="1000" dirty="0"/>
          </a:p>
        </p:txBody>
      </p:sp>
      <p:sp>
        <p:nvSpPr>
          <p:cNvPr id="9" name="Text 7"/>
          <p:cNvSpPr txBox="1"/>
          <p:nvPr/>
        </p:nvSpPr>
        <p:spPr>
          <a:xfrm>
            <a:off x="8915400" y="2286000"/>
            <a:ext cx="2514600" cy="256032"/>
          </a:xfrm>
          <a:prstGeom prst="rect">
            <a:avLst/>
          </a:prstGeom>
          <a:noFill/>
          <a:ln/>
        </p:spPr>
        <p:txBody>
          <a:bodyPr wrap="square" lIns="0" tIns="0" rIns="0" bIns="0" rtlCol="0" anchor="ctr"/>
          <a:lstStyle/>
          <a:p>
            <a:pPr indent="0" marL="0">
              <a:buNone/>
            </a:pPr>
            <a:r>
              <a:rPr lang="en-US" sz="1300" dirty="0">
                <a:solidFill>
                  <a:srgbClr val="AFBECD"/>
                </a:solidFill>
                <a:latin typeface="Calibri" pitchFamily="34" charset="0"/>
                <a:ea typeface="Calibri" pitchFamily="34" charset="-122"/>
                <a:cs typeface="Calibri" pitchFamily="34" charset="-120"/>
              </a:rPr>
              <a:t>pyflate</a:t>
            </a:r>
            <a:endParaRPr lang="en-US" sz="1300" dirty="0"/>
          </a:p>
        </p:txBody>
      </p:sp>
      <p:sp>
        <p:nvSpPr>
          <p:cNvPr id="10" name="Text 8"/>
          <p:cNvSpPr txBox="1"/>
          <p:nvPr/>
        </p:nvSpPr>
        <p:spPr>
          <a:xfrm>
            <a:off x="8915400" y="2523744"/>
            <a:ext cx="2514600" cy="548640"/>
          </a:xfrm>
          <a:prstGeom prst="rect">
            <a:avLst/>
          </a:prstGeom>
          <a:noFill/>
          <a:ln/>
        </p:spPr>
        <p:txBody>
          <a:bodyPr wrap="square" lIns="0" tIns="0" rIns="0" bIns="0" rtlCol="0" anchor="ctr"/>
          <a:lstStyle/>
          <a:p>
            <a:pPr indent="0" marL="0">
              <a:buNone/>
            </a:pPr>
            <a:r>
              <a:rPr lang="en-US" sz="3400" b="1" dirty="0">
                <a:solidFill>
                  <a:srgbClr val="2D9B8A"/>
                </a:solidFill>
                <a:latin typeface="Cambria" pitchFamily="34" charset="0"/>
                <a:ea typeface="Cambria" pitchFamily="34" charset="-122"/>
                <a:cs typeface="Cambria" pitchFamily="34" charset="-120"/>
              </a:rPr>
              <a:t>2.51×</a:t>
            </a:r>
            <a:endParaRPr lang="en-US" sz="3400" dirty="0"/>
          </a:p>
        </p:txBody>
      </p:sp>
      <p:sp>
        <p:nvSpPr>
          <p:cNvPr id="11" name="Text 9"/>
          <p:cNvSpPr txBox="1"/>
          <p:nvPr/>
        </p:nvSpPr>
        <p:spPr>
          <a:xfrm>
            <a:off x="8915400" y="3246120"/>
            <a:ext cx="2514600" cy="256032"/>
          </a:xfrm>
          <a:prstGeom prst="rect">
            <a:avLst/>
          </a:prstGeom>
          <a:noFill/>
          <a:ln/>
        </p:spPr>
        <p:txBody>
          <a:bodyPr wrap="square" lIns="0" tIns="0" rIns="0" bIns="0" rtlCol="0" anchor="ctr"/>
          <a:lstStyle/>
          <a:p>
            <a:pPr indent="0" marL="0">
              <a:buNone/>
            </a:pPr>
            <a:r>
              <a:rPr lang="en-US" sz="1300" dirty="0">
                <a:solidFill>
                  <a:srgbClr val="AFBECD"/>
                </a:solidFill>
                <a:latin typeface="Calibri" pitchFamily="34" charset="0"/>
                <a:ea typeface="Calibri" pitchFamily="34" charset="-122"/>
                <a:cs typeface="Calibri" pitchFamily="34" charset="-120"/>
              </a:rPr>
              <a:t>raytrace</a:t>
            </a:r>
            <a:endParaRPr lang="en-US" sz="1300" dirty="0"/>
          </a:p>
        </p:txBody>
      </p:sp>
      <p:sp>
        <p:nvSpPr>
          <p:cNvPr id="12" name="Text 10"/>
          <p:cNvSpPr txBox="1"/>
          <p:nvPr/>
        </p:nvSpPr>
        <p:spPr>
          <a:xfrm>
            <a:off x="8915400" y="3483864"/>
            <a:ext cx="2514600" cy="548640"/>
          </a:xfrm>
          <a:prstGeom prst="rect">
            <a:avLst/>
          </a:prstGeom>
          <a:noFill/>
          <a:ln/>
        </p:spPr>
        <p:txBody>
          <a:bodyPr wrap="square" lIns="0" tIns="0" rIns="0" bIns="0" rtlCol="0" anchor="ctr"/>
          <a:lstStyle/>
          <a:p>
            <a:pPr indent="0" marL="0">
              <a:buNone/>
            </a:pPr>
            <a:r>
              <a:rPr lang="en-US" sz="3400" b="1" dirty="0">
                <a:solidFill>
                  <a:srgbClr val="2D9B8A"/>
                </a:solidFill>
                <a:latin typeface="Cambria" pitchFamily="34" charset="0"/>
                <a:ea typeface="Cambria" pitchFamily="34" charset="-122"/>
                <a:cs typeface="Cambria" pitchFamily="34" charset="-120"/>
              </a:rPr>
              <a:t>2.87×</a:t>
            </a:r>
            <a:endParaRPr lang="en-US" sz="3400" dirty="0"/>
          </a:p>
        </p:txBody>
      </p:sp>
      <p:sp>
        <p:nvSpPr>
          <p:cNvPr id="13" name="Text 11"/>
          <p:cNvSpPr txBox="1"/>
          <p:nvPr/>
        </p:nvSpPr>
        <p:spPr>
          <a:xfrm>
            <a:off x="8915400" y="4114800"/>
            <a:ext cx="2514600" cy="960120"/>
          </a:xfrm>
          <a:prstGeom prst="rect">
            <a:avLst/>
          </a:prstGeom>
          <a:noFill/>
          <a:ln/>
        </p:spPr>
        <p:txBody>
          <a:bodyPr wrap="square" lIns="0" tIns="0" rIns="0" bIns="0" rtlCol="0" anchor="ctr"/>
          <a:lstStyle/>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Output byte-identical.</a:t>
            </a:r>
            <a:endParaRPr lang="en-US" sz="1100" dirty="0"/>
          </a:p>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Requirement was 7%.</a:t>
            </a:r>
            <a:endParaRPr lang="en-US" sz="1100" dirty="0"/>
          </a:p>
          <a:p>
            <a:pPr indent="0" marL="0">
              <a:lnSpc>
                <a:spcPts val="1500"/>
              </a:lnSpc>
              <a:buNone/>
            </a:pPr>
            <a:endParaRPr lang="en-US" sz="1100" dirty="0"/>
          </a:p>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Measured inside the</a:t>
            </a:r>
            <a:endParaRPr lang="en-US" sz="1100" dirty="0"/>
          </a:p>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course QEMU image.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THE TASK</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Two benchmarks, chosen to disagree with each other</a:t>
            </a:r>
            <a:endParaRPr lang="en-US" sz="2900" dirty="0"/>
          </a:p>
        </p:txBody>
      </p:sp>
      <p:sp>
        <p:nvSpPr>
          <p:cNvPr id="4" name="Text 2"/>
          <p:cNvSpPr txBox="1"/>
          <p:nvPr/>
        </p:nvSpPr>
        <p:spPr>
          <a:xfrm>
            <a:off x="548640" y="1371600"/>
            <a:ext cx="11091672" cy="54864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The brief asked for 2 of 13 approved pyperformance benchmarks, ≥7% faster each. We picked a pair that stress opposite parts of the machine — because that is what lets one project motivate both accelerator paradigms from the course.</a:t>
            </a:r>
            <a:endParaRPr lang="en-US" sz="1400" dirty="0"/>
          </a:p>
        </p:txBody>
      </p:sp>
      <p:sp>
        <p:nvSpPr>
          <p:cNvPr id="5" name="Shape 3"/>
          <p:cNvSpPr/>
          <p:nvPr/>
        </p:nvSpPr>
        <p:spPr>
          <a:xfrm>
            <a:off x="548640" y="2103120"/>
            <a:ext cx="5394960" cy="3017520"/>
          </a:xfrm>
          <a:prstGeom prst="roundRect">
            <a:avLst>
              <a:gd name="adj" fmla="val 1818"/>
            </a:avLst>
          </a:prstGeom>
          <a:solidFill>
            <a:srgbClr val="F3F6F8"/>
          </a:solidFill>
          <a:ln w="9525">
            <a:solidFill>
              <a:srgbClr val="DBE2E8"/>
            </a:solidFill>
            <a:prstDash val="solid"/>
          </a:ln>
        </p:spPr>
      </p:sp>
      <p:sp>
        <p:nvSpPr>
          <p:cNvPr id="6" name="Text 4"/>
          <p:cNvSpPr txBox="1"/>
          <p:nvPr/>
        </p:nvSpPr>
        <p:spPr>
          <a:xfrm>
            <a:off x="822960" y="2286000"/>
            <a:ext cx="4846320" cy="365760"/>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pyflate</a:t>
            </a:r>
            <a:endParaRPr lang="en-US" sz="2200" dirty="0"/>
          </a:p>
        </p:txBody>
      </p:sp>
      <p:sp>
        <p:nvSpPr>
          <p:cNvPr id="7" name="Text 5"/>
          <p:cNvSpPr txBox="1"/>
          <p:nvPr/>
        </p:nvSpPr>
        <p:spPr>
          <a:xfrm>
            <a:off x="822960" y="2633472"/>
            <a:ext cx="4846320" cy="256032"/>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pure-Python bzip2 decompressor</a:t>
            </a:r>
            <a:endParaRPr lang="en-US" sz="1200" dirty="0"/>
          </a:p>
        </p:txBody>
      </p:sp>
      <p:sp>
        <p:nvSpPr>
          <p:cNvPr id="8" name="Text 6"/>
          <p:cNvSpPr txBox="1"/>
          <p:nvPr/>
        </p:nvSpPr>
        <p:spPr>
          <a:xfrm>
            <a:off x="822960" y="3017520"/>
            <a:ext cx="4846320" cy="173736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integer, control-flow, irregular memory</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variable-length Huffman codes</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bits consumed per symbol: 1 to 20</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 data-dependent rate → DATAFLOW</a:t>
            </a:r>
            <a:endParaRPr lang="en-US" sz="1300" dirty="0"/>
          </a:p>
        </p:txBody>
      </p:sp>
      <p:sp>
        <p:nvSpPr>
          <p:cNvPr id="9" name="Shape 7"/>
          <p:cNvSpPr/>
          <p:nvPr/>
        </p:nvSpPr>
        <p:spPr>
          <a:xfrm>
            <a:off x="6245352" y="2103120"/>
            <a:ext cx="5394960" cy="3017520"/>
          </a:xfrm>
          <a:prstGeom prst="roundRect">
            <a:avLst>
              <a:gd name="adj" fmla="val 1818"/>
            </a:avLst>
          </a:prstGeom>
          <a:solidFill>
            <a:srgbClr val="F3F6F8"/>
          </a:solidFill>
          <a:ln w="9525">
            <a:solidFill>
              <a:srgbClr val="DBE2E8"/>
            </a:solidFill>
            <a:prstDash val="solid"/>
          </a:ln>
        </p:spPr>
      </p:sp>
      <p:sp>
        <p:nvSpPr>
          <p:cNvPr id="10" name="Text 8"/>
          <p:cNvSpPr txBox="1"/>
          <p:nvPr/>
        </p:nvSpPr>
        <p:spPr>
          <a:xfrm>
            <a:off x="6519672" y="2286000"/>
            <a:ext cx="4846320" cy="365760"/>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raytrace</a:t>
            </a:r>
            <a:endParaRPr lang="en-US" sz="2200" dirty="0"/>
          </a:p>
        </p:txBody>
      </p:sp>
      <p:sp>
        <p:nvSpPr>
          <p:cNvPr id="11" name="Text 9"/>
          <p:cNvSpPr txBox="1"/>
          <p:nvPr/>
        </p:nvSpPr>
        <p:spPr>
          <a:xfrm>
            <a:off x="6519672" y="2633472"/>
            <a:ext cx="4846320" cy="256032"/>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pure-Python recursive ray tracer</a:t>
            </a:r>
            <a:endParaRPr lang="en-US" sz="1200" dirty="0"/>
          </a:p>
        </p:txBody>
      </p:sp>
      <p:sp>
        <p:nvSpPr>
          <p:cNvPr id="12" name="Text 10"/>
          <p:cNvSpPr txBox="1"/>
          <p:nvPr/>
        </p:nvSpPr>
        <p:spPr>
          <a:xfrm>
            <a:off x="6519672" y="3017520"/>
            <a:ext cx="4846320" cy="173736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floating point, allocation bound</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every test the same fixed shape</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fixed operand count, fixed latency</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 fixed cadence → SYSTOLIC ARRAY</a:t>
            </a:r>
            <a:endParaRPr lang="en-US" sz="1300" dirty="0"/>
          </a:p>
        </p:txBody>
      </p:sp>
      <p:sp>
        <p:nvSpPr>
          <p:cNvPr id="13" name="Shape 11"/>
          <p:cNvSpPr/>
          <p:nvPr/>
        </p:nvSpPr>
        <p:spPr>
          <a:xfrm>
            <a:off x="548640" y="5349240"/>
            <a:ext cx="11091672" cy="658368"/>
          </a:xfrm>
          <a:prstGeom prst="roundRect">
            <a:avLst>
              <a:gd name="adj" fmla="val 8333"/>
            </a:avLst>
          </a:prstGeom>
          <a:solidFill>
            <a:srgbClr val="1B2430"/>
          </a:solidFill>
          <a:ln w="12700">
            <a:solidFill>
              <a:srgbClr val="1B2430"/>
            </a:solidFill>
            <a:prstDash val="solid"/>
          </a:ln>
        </p:spPr>
      </p:sp>
      <p:sp>
        <p:nvSpPr>
          <p:cNvPr id="14" name="Text 12"/>
          <p:cNvSpPr txBox="1"/>
          <p:nvPr/>
        </p:nvSpPr>
        <p:spPr>
          <a:xfrm>
            <a:off x="822960" y="5458968"/>
            <a:ext cx="10543032" cy="457200"/>
          </a:xfrm>
          <a:prstGeom prst="rect">
            <a:avLst/>
          </a:prstGeom>
          <a:noFill/>
          <a:ln/>
        </p:spPr>
        <p:txBody>
          <a:bodyPr wrap="square" lIns="0" tIns="0" rIns="0" bIns="0" rtlCol="0" anchor="ctr"/>
          <a:lstStyle/>
          <a:p>
            <a:pPr indent="0" marL="0">
              <a:buNone/>
            </a:pPr>
            <a:r>
              <a:rPr lang="en-US" sz="1300" i="1" dirty="0">
                <a:solidFill>
                  <a:srgbClr val="E8EDF2"/>
                </a:solidFill>
                <a:latin typeface="Calibri" pitchFamily="34" charset="0"/>
                <a:ea typeface="Calibri" pitchFamily="34" charset="-122"/>
                <a:cs typeface="Calibri" pitchFamily="34" charset="-120"/>
              </a:rPr>
              <a:t>A systolic array has no control circuitry — it consumes one input every cycle whether or not one is ready. That is exactly why it cannot decode Huffman codes, and exactly why it suits ray–sphere intersection.</a:t>
            </a:r>
            <a:endParaRPr lang="en-US" sz="1300" dirty="0"/>
          </a:p>
        </p:txBody>
      </p:sp>
      <p:sp>
        <p:nvSpPr>
          <p:cNvPr id="15" name="Text 1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16" name="Text 1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2D9B8A"/>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No single tool answers both questions</a:t>
            </a:r>
            <a:endParaRPr lang="en-US" sz="2900" dirty="0"/>
          </a:p>
        </p:txBody>
      </p:sp>
      <p:sp>
        <p:nvSpPr>
          <p:cNvPr id="4" name="Text 2"/>
          <p:cNvSpPr txBox="1"/>
          <p:nvPr/>
        </p:nvSpPr>
        <p:spPr>
          <a:xfrm>
            <a:off x="548640" y="1371600"/>
            <a:ext cx="11091672" cy="45720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Lecture 4 makes the point directly: a flame graph shows you WHERE, performance counters show you WHY. We used three views, because each one lies in a different direction.</a:t>
            </a:r>
            <a:endParaRPr lang="en-US" sz="1400" dirty="0"/>
          </a:p>
        </p:txBody>
      </p:sp>
      <p:sp>
        <p:nvSpPr>
          <p:cNvPr id="5" name="Shape 3"/>
          <p:cNvSpPr/>
          <p:nvPr/>
        </p:nvSpPr>
        <p:spPr>
          <a:xfrm>
            <a:off x="548640" y="2011680"/>
            <a:ext cx="3474720" cy="2286000"/>
          </a:xfrm>
          <a:prstGeom prst="roundRect">
            <a:avLst>
              <a:gd name="adj" fmla="val 2400"/>
            </a:avLst>
          </a:prstGeom>
          <a:solidFill>
            <a:srgbClr val="F3F6F8"/>
          </a:solidFill>
          <a:ln w="9525">
            <a:solidFill>
              <a:srgbClr val="DBE2E8"/>
            </a:solidFill>
            <a:prstDash val="solid"/>
          </a:ln>
        </p:spPr>
      </p:sp>
      <p:sp>
        <p:nvSpPr>
          <p:cNvPr id="6" name="Shape 4"/>
          <p:cNvSpPr/>
          <p:nvPr/>
        </p:nvSpPr>
        <p:spPr>
          <a:xfrm>
            <a:off x="822960" y="2240280"/>
            <a:ext cx="384048" cy="384048"/>
          </a:xfrm>
          <a:prstGeom prst="ellipse">
            <a:avLst/>
          </a:prstGeom>
          <a:solidFill>
            <a:srgbClr val="E8833A"/>
          </a:solidFill>
          <a:ln w="12700">
            <a:solidFill>
              <a:srgbClr val="E8833A"/>
            </a:solidFill>
            <a:prstDash val="solid"/>
          </a:ln>
        </p:spPr>
      </p:sp>
      <p:sp>
        <p:nvSpPr>
          <p:cNvPr id="7" name="Text 5"/>
          <p:cNvSpPr txBox="1"/>
          <p:nvPr/>
        </p:nvSpPr>
        <p:spPr>
          <a:xfrm>
            <a:off x="822960" y="2240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325880" y="2258568"/>
            <a:ext cx="2560320" cy="274320"/>
          </a:xfrm>
          <a:prstGeom prst="rect">
            <a:avLst/>
          </a:prstGeom>
          <a:noFill/>
          <a:ln/>
        </p:spPr>
        <p:txBody>
          <a:bodyPr wrap="square" lIns="0" tIns="0" rIns="0" bIns="0" rtlCol="0" anchor="ctr"/>
          <a:lstStyle/>
          <a:p>
            <a:pPr indent="0" marL="0">
              <a:buNone/>
            </a:pPr>
            <a:r>
              <a:rPr lang="en-US" sz="1400" b="1" dirty="0">
                <a:solidFill>
                  <a:srgbClr val="1B2430"/>
                </a:solidFill>
                <a:latin typeface="Courier New" pitchFamily="34" charset="0"/>
                <a:ea typeface="Courier New" pitchFamily="34" charset="-122"/>
                <a:cs typeface="Courier New" pitchFamily="34" charset="-120"/>
              </a:rPr>
              <a:t>py-spy</a:t>
            </a:r>
            <a:endParaRPr lang="en-US" sz="1400" dirty="0"/>
          </a:p>
        </p:txBody>
      </p:sp>
      <p:sp>
        <p:nvSpPr>
          <p:cNvPr id="9" name="Text 7"/>
          <p:cNvSpPr txBox="1"/>
          <p:nvPr/>
        </p:nvSpPr>
        <p:spPr>
          <a:xfrm>
            <a:off x="822960" y="2788920"/>
            <a:ext cx="2926080" cy="310896"/>
          </a:xfrm>
          <a:prstGeom prst="rect">
            <a:avLst/>
          </a:prstGeom>
          <a:noFill/>
          <a:ln/>
        </p:spPr>
        <p:txBody>
          <a:bodyPr wrap="square" lIns="0" tIns="0" rIns="0" bIns="0" rtlCol="0" anchor="ctr"/>
          <a:lstStyle/>
          <a:p>
            <a:pPr indent="0" marL="0">
              <a:buNone/>
            </a:pPr>
            <a:r>
              <a:rPr lang="en-US" sz="1900" b="1" dirty="0">
                <a:solidFill>
                  <a:srgbClr val="E8833A"/>
                </a:solidFill>
                <a:latin typeface="Cambria" pitchFamily="34" charset="0"/>
                <a:ea typeface="Cambria" pitchFamily="34" charset="-122"/>
                <a:cs typeface="Cambria" pitchFamily="34" charset="-120"/>
              </a:rPr>
              <a:t>WHERE</a:t>
            </a:r>
            <a:endParaRPr lang="en-US" sz="1900" dirty="0"/>
          </a:p>
        </p:txBody>
      </p:sp>
      <p:sp>
        <p:nvSpPr>
          <p:cNvPr id="10" name="Text 8"/>
          <p:cNvSpPr txBox="1"/>
          <p:nvPr/>
        </p:nvSpPr>
        <p:spPr>
          <a:xfrm>
            <a:off x="822960" y="3154680"/>
            <a:ext cx="2926080" cy="91440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samples PYTHON frames directly;</a:t>
            </a:r>
            <a:endParaRPr lang="en-US" sz="1200" dirty="0"/>
          </a:p>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no -X perf needed</a:t>
            </a:r>
            <a:endParaRPr lang="en-US" sz="1200" dirty="0"/>
          </a:p>
        </p:txBody>
      </p:sp>
      <p:sp>
        <p:nvSpPr>
          <p:cNvPr id="11" name="Shape 9"/>
          <p:cNvSpPr/>
          <p:nvPr/>
        </p:nvSpPr>
        <p:spPr>
          <a:xfrm>
            <a:off x="4352544" y="2011680"/>
            <a:ext cx="3474720" cy="2286000"/>
          </a:xfrm>
          <a:prstGeom prst="roundRect">
            <a:avLst>
              <a:gd name="adj" fmla="val 2400"/>
            </a:avLst>
          </a:prstGeom>
          <a:solidFill>
            <a:srgbClr val="F3F6F8"/>
          </a:solidFill>
          <a:ln w="9525">
            <a:solidFill>
              <a:srgbClr val="DBE2E8"/>
            </a:solidFill>
            <a:prstDash val="solid"/>
          </a:ln>
        </p:spPr>
      </p:sp>
      <p:sp>
        <p:nvSpPr>
          <p:cNvPr id="12" name="Shape 10"/>
          <p:cNvSpPr/>
          <p:nvPr/>
        </p:nvSpPr>
        <p:spPr>
          <a:xfrm>
            <a:off x="4626864" y="2240280"/>
            <a:ext cx="384048" cy="384048"/>
          </a:xfrm>
          <a:prstGeom prst="ellipse">
            <a:avLst/>
          </a:prstGeom>
          <a:solidFill>
            <a:srgbClr val="7A6FA8"/>
          </a:solidFill>
          <a:ln w="12700">
            <a:solidFill>
              <a:srgbClr val="7A6FA8"/>
            </a:solidFill>
            <a:prstDash val="solid"/>
          </a:ln>
        </p:spPr>
      </p:sp>
      <p:sp>
        <p:nvSpPr>
          <p:cNvPr id="13" name="Text 11"/>
          <p:cNvSpPr txBox="1"/>
          <p:nvPr/>
        </p:nvSpPr>
        <p:spPr>
          <a:xfrm>
            <a:off x="4626864" y="2240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5129784" y="2258568"/>
            <a:ext cx="2560320" cy="274320"/>
          </a:xfrm>
          <a:prstGeom prst="rect">
            <a:avLst/>
          </a:prstGeom>
          <a:noFill/>
          <a:ln/>
        </p:spPr>
        <p:txBody>
          <a:bodyPr wrap="square" lIns="0" tIns="0" rIns="0" bIns="0" rtlCol="0" anchor="ctr"/>
          <a:lstStyle/>
          <a:p>
            <a:pPr indent="0" marL="0">
              <a:buNone/>
            </a:pPr>
            <a:r>
              <a:rPr lang="en-US" sz="1400" b="1" dirty="0">
                <a:solidFill>
                  <a:srgbClr val="1B2430"/>
                </a:solidFill>
                <a:latin typeface="Courier New" pitchFamily="34" charset="0"/>
                <a:ea typeface="Courier New" pitchFamily="34" charset="-122"/>
                <a:cs typeface="Courier New" pitchFamily="34" charset="-120"/>
              </a:rPr>
              <a:t>cProfile</a:t>
            </a:r>
            <a:endParaRPr lang="en-US" sz="1400" dirty="0"/>
          </a:p>
        </p:txBody>
      </p:sp>
      <p:sp>
        <p:nvSpPr>
          <p:cNvPr id="15" name="Text 13"/>
          <p:cNvSpPr txBox="1"/>
          <p:nvPr/>
        </p:nvSpPr>
        <p:spPr>
          <a:xfrm>
            <a:off x="4626864" y="2788920"/>
            <a:ext cx="2926080" cy="310896"/>
          </a:xfrm>
          <a:prstGeom prst="rect">
            <a:avLst/>
          </a:prstGeom>
          <a:noFill/>
          <a:ln/>
        </p:spPr>
        <p:txBody>
          <a:bodyPr wrap="square" lIns="0" tIns="0" rIns="0" bIns="0" rtlCol="0" anchor="ctr"/>
          <a:lstStyle/>
          <a:p>
            <a:pPr indent="0" marL="0">
              <a:buNone/>
            </a:pPr>
            <a:r>
              <a:rPr lang="en-US" sz="1900" b="1" dirty="0">
                <a:solidFill>
                  <a:srgbClr val="7A6FA8"/>
                </a:solidFill>
                <a:latin typeface="Cambria" pitchFamily="34" charset="0"/>
                <a:ea typeface="Cambria" pitchFamily="34" charset="-122"/>
                <a:cs typeface="Cambria" pitchFamily="34" charset="-120"/>
              </a:rPr>
              <a:t>HOW MANY</a:t>
            </a:r>
            <a:endParaRPr lang="en-US" sz="1900" dirty="0"/>
          </a:p>
        </p:txBody>
      </p:sp>
      <p:sp>
        <p:nvSpPr>
          <p:cNvPr id="16" name="Text 14"/>
          <p:cNvSpPr txBox="1"/>
          <p:nvPr/>
        </p:nvSpPr>
        <p:spPr>
          <a:xfrm>
            <a:off x="4626864" y="3154680"/>
            <a:ext cx="2926080" cy="91440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call counts, which perf cannot give</a:t>
            </a:r>
            <a:endParaRPr lang="en-US" sz="1200" dirty="0"/>
          </a:p>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 but it charges per call, not per cycle</a:t>
            </a:r>
            <a:endParaRPr lang="en-US" sz="1200" dirty="0"/>
          </a:p>
        </p:txBody>
      </p:sp>
      <p:sp>
        <p:nvSpPr>
          <p:cNvPr id="17" name="Shape 15"/>
          <p:cNvSpPr/>
          <p:nvPr/>
        </p:nvSpPr>
        <p:spPr>
          <a:xfrm>
            <a:off x="8156448" y="2011680"/>
            <a:ext cx="3474720" cy="2286000"/>
          </a:xfrm>
          <a:prstGeom prst="roundRect">
            <a:avLst>
              <a:gd name="adj" fmla="val 2400"/>
            </a:avLst>
          </a:prstGeom>
          <a:solidFill>
            <a:srgbClr val="F3F6F8"/>
          </a:solidFill>
          <a:ln w="9525">
            <a:solidFill>
              <a:srgbClr val="DBE2E8"/>
            </a:solidFill>
            <a:prstDash val="solid"/>
          </a:ln>
        </p:spPr>
      </p:sp>
      <p:sp>
        <p:nvSpPr>
          <p:cNvPr id="18" name="Shape 16"/>
          <p:cNvSpPr/>
          <p:nvPr/>
        </p:nvSpPr>
        <p:spPr>
          <a:xfrm>
            <a:off x="8430768" y="2240280"/>
            <a:ext cx="384048" cy="384048"/>
          </a:xfrm>
          <a:prstGeom prst="ellipse">
            <a:avLst/>
          </a:prstGeom>
          <a:solidFill>
            <a:srgbClr val="2D9B8A"/>
          </a:solidFill>
          <a:ln w="12700">
            <a:solidFill>
              <a:srgbClr val="2D9B8A"/>
            </a:solidFill>
            <a:prstDash val="solid"/>
          </a:ln>
        </p:spPr>
      </p:sp>
      <p:sp>
        <p:nvSpPr>
          <p:cNvPr id="19" name="Text 17"/>
          <p:cNvSpPr txBox="1"/>
          <p:nvPr/>
        </p:nvSpPr>
        <p:spPr>
          <a:xfrm>
            <a:off x="8430768" y="2240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933688" y="2258568"/>
            <a:ext cx="2560320" cy="274320"/>
          </a:xfrm>
          <a:prstGeom prst="rect">
            <a:avLst/>
          </a:prstGeom>
          <a:noFill/>
          <a:ln/>
        </p:spPr>
        <p:txBody>
          <a:bodyPr wrap="square" lIns="0" tIns="0" rIns="0" bIns="0" rtlCol="0" anchor="ctr"/>
          <a:lstStyle/>
          <a:p>
            <a:pPr indent="0" marL="0">
              <a:buNone/>
            </a:pPr>
            <a:r>
              <a:rPr lang="en-US" sz="1400" b="1" dirty="0">
                <a:solidFill>
                  <a:srgbClr val="1B2430"/>
                </a:solidFill>
                <a:latin typeface="Courier New" pitchFamily="34" charset="0"/>
                <a:ea typeface="Courier New" pitchFamily="34" charset="-122"/>
                <a:cs typeface="Courier New" pitchFamily="34" charset="-120"/>
              </a:rPr>
              <a:t>perf stat</a:t>
            </a:r>
            <a:endParaRPr lang="en-US" sz="1400" dirty="0"/>
          </a:p>
        </p:txBody>
      </p:sp>
      <p:sp>
        <p:nvSpPr>
          <p:cNvPr id="21" name="Text 19"/>
          <p:cNvSpPr txBox="1"/>
          <p:nvPr/>
        </p:nvSpPr>
        <p:spPr>
          <a:xfrm>
            <a:off x="8430768" y="2788920"/>
            <a:ext cx="2926080" cy="310896"/>
          </a:xfrm>
          <a:prstGeom prst="rect">
            <a:avLst/>
          </a:prstGeom>
          <a:noFill/>
          <a:ln/>
        </p:spPr>
        <p:txBody>
          <a:bodyPr wrap="square" lIns="0" tIns="0" rIns="0" bIns="0" rtlCol="0" anchor="ctr"/>
          <a:lstStyle/>
          <a:p>
            <a:pPr indent="0" marL="0">
              <a:buNone/>
            </a:pPr>
            <a:r>
              <a:rPr lang="en-US" sz="1900" b="1" dirty="0">
                <a:solidFill>
                  <a:srgbClr val="2D9B8A"/>
                </a:solidFill>
                <a:latin typeface="Cambria" pitchFamily="34" charset="0"/>
                <a:ea typeface="Cambria" pitchFamily="34" charset="-122"/>
                <a:cs typeface="Cambria" pitchFamily="34" charset="-120"/>
              </a:rPr>
              <a:t>WHY</a:t>
            </a:r>
            <a:endParaRPr lang="en-US" sz="1900" dirty="0"/>
          </a:p>
        </p:txBody>
      </p:sp>
      <p:sp>
        <p:nvSpPr>
          <p:cNvPr id="22" name="Text 20"/>
          <p:cNvSpPr txBox="1"/>
          <p:nvPr/>
        </p:nvSpPr>
        <p:spPr>
          <a:xfrm>
            <a:off x="8430768" y="3154680"/>
            <a:ext cx="2926080" cy="91440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cycles, IPC, cache, branch</a:t>
            </a:r>
            <a:endParaRPr lang="en-US" sz="1200" dirty="0"/>
          </a:p>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 the mechanism behind the speedup</a:t>
            </a:r>
            <a:endParaRPr lang="en-US" sz="1200" dirty="0"/>
          </a:p>
        </p:txBody>
      </p:sp>
      <p:sp>
        <p:nvSpPr>
          <p:cNvPr id="23" name="Shape 21"/>
          <p:cNvSpPr/>
          <p:nvPr/>
        </p:nvSpPr>
        <p:spPr>
          <a:xfrm>
            <a:off x="548640" y="4572000"/>
            <a:ext cx="11091672" cy="1417320"/>
          </a:xfrm>
          <a:prstGeom prst="roundRect">
            <a:avLst>
              <a:gd name="adj" fmla="val 3871"/>
            </a:avLst>
          </a:prstGeom>
          <a:solidFill>
            <a:srgbClr val="FDF3EC"/>
          </a:solidFill>
          <a:ln w="9525">
            <a:solidFill>
              <a:srgbClr val="DBE2E8"/>
            </a:solidFill>
            <a:prstDash val="solid"/>
          </a:ln>
        </p:spPr>
      </p:sp>
      <p:sp>
        <p:nvSpPr>
          <p:cNvPr id="24" name="Text 22"/>
          <p:cNvSpPr txBox="1"/>
          <p:nvPr/>
        </p:nvSpPr>
        <p:spPr>
          <a:xfrm>
            <a:off x="822960" y="4709160"/>
            <a:ext cx="10543032"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The two profilers disagreed — and that was the useful part.</a:t>
            </a:r>
            <a:endParaRPr lang="en-US" sz="1400" dirty="0"/>
          </a:p>
        </p:txBody>
      </p:sp>
      <p:sp>
        <p:nvSpPr>
          <p:cNvPr id="25" name="Text 23"/>
          <p:cNvSpPr txBox="1"/>
          <p:nvPr/>
        </p:nvSpPr>
        <p:spPr>
          <a:xfrm>
            <a:off x="822960" y="5010912"/>
            <a:ext cx="10543032" cy="86868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cProfile charges move_to_front about 10%. py-spy puts it at 15.69% — third overall. Instrumentation charges per CALL; sampling charges per CYCLE. move_to_front rebuilds a list from three slices on every one of its 92,803 calls, so a call-count profiler under-reports exactly that shape. We rewrote the analysis around the sampler.</a:t>
            </a:r>
            <a:endParaRPr lang="en-US" sz="1300" dirty="0"/>
          </a:p>
        </p:txBody>
      </p:sp>
      <p:sp>
        <p:nvSpPr>
          <p:cNvPr id="26" name="Text 24"/>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27" name="Text 25"/>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B354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What perf can and cannot do inside the guest</a:t>
            </a:r>
            <a:endParaRPr lang="en-US" sz="2900" dirty="0"/>
          </a:p>
        </p:txBody>
      </p:sp>
      <p:sp>
        <p:nvSpPr>
          <p:cNvPr id="4" name="Text 2"/>
          <p:cNvSpPr txBox="1"/>
          <p:nvPr/>
        </p:nvSpPr>
        <p:spPr>
          <a:xfrm>
            <a:off x="548640" y="1298448"/>
            <a:ext cx="11091672" cy="420624"/>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All of our work runs inside the course QEMU image. That constrains the tooling in ways we had to establish by testing, not by assuming:</a:t>
            </a:r>
            <a:endParaRPr lang="en-US" sz="1300" dirty="0"/>
          </a:p>
        </p:txBody>
      </p:sp>
      <p:sp>
        <p:nvSpPr>
          <p:cNvPr id="5" name="Shape 3"/>
          <p:cNvSpPr/>
          <p:nvPr/>
        </p:nvSpPr>
        <p:spPr>
          <a:xfrm>
            <a:off x="548640" y="1691640"/>
            <a:ext cx="11091672" cy="457200"/>
          </a:xfrm>
          <a:prstGeom prst="roundRect">
            <a:avLst>
              <a:gd name="adj" fmla="val 10000"/>
            </a:avLst>
          </a:prstGeom>
          <a:solidFill>
            <a:srgbClr val="1B2430"/>
          </a:solidFill>
          <a:ln w="12700">
            <a:solidFill>
              <a:srgbClr val="1B2430"/>
            </a:solidFill>
            <a:prstDash val="solid"/>
          </a:ln>
        </p:spPr>
      </p:sp>
      <p:sp>
        <p:nvSpPr>
          <p:cNvPr id="6" name="Text 4"/>
          <p:cNvSpPr txBox="1"/>
          <p:nvPr/>
        </p:nvSpPr>
        <p:spPr>
          <a:xfrm>
            <a:off x="777240" y="1783080"/>
            <a:ext cx="10634472" cy="292608"/>
          </a:xfrm>
          <a:prstGeom prst="rect">
            <a:avLst/>
          </a:prstGeom>
          <a:noFill/>
          <a:ln/>
        </p:spPr>
        <p:txBody>
          <a:bodyPr wrap="square" lIns="0" tIns="0" rIns="0" bIns="0" rtlCol="0" anchor="ctr"/>
          <a:lstStyle/>
          <a:p>
            <a:pPr indent="0" marL="0">
              <a:buNone/>
            </a:pPr>
            <a:r>
              <a:rPr lang="en-US" sz="1400" dirty="0">
                <a:solidFill>
                  <a:srgbClr val="8FE3D2"/>
                </a:solidFill>
                <a:latin typeface="Courier New" pitchFamily="34" charset="0"/>
                <a:ea typeface="Courier New" pitchFamily="34" charset="-122"/>
                <a:cs typeface="Courier New" pitchFamily="34" charset="-120"/>
              </a:rPr>
              <a:t>qemu-system-x86_64 -m 4096 -smp 8 -cpu host,pmu=on -accel kvm ...</a:t>
            </a:r>
            <a:endParaRPr lang="en-US" sz="1400" dirty="0"/>
          </a:p>
        </p:txBody>
      </p:sp>
      <p:sp>
        <p:nvSpPr>
          <p:cNvPr id="7" name="Shape 5"/>
          <p:cNvSpPr/>
          <p:nvPr/>
        </p:nvSpPr>
        <p:spPr>
          <a:xfrm>
            <a:off x="548640" y="2377440"/>
            <a:ext cx="5394960" cy="2148840"/>
          </a:xfrm>
          <a:prstGeom prst="roundRect">
            <a:avLst>
              <a:gd name="adj" fmla="val 2553"/>
            </a:avLst>
          </a:prstGeom>
          <a:solidFill>
            <a:srgbClr val="F3F6F8"/>
          </a:solidFill>
          <a:ln w="9525">
            <a:solidFill>
              <a:srgbClr val="DBE2E8"/>
            </a:solidFill>
            <a:prstDash val="solid"/>
          </a:ln>
        </p:spPr>
      </p:sp>
      <p:sp>
        <p:nvSpPr>
          <p:cNvPr id="8" name="Text 6"/>
          <p:cNvSpPr txBox="1"/>
          <p:nvPr/>
        </p:nvSpPr>
        <p:spPr>
          <a:xfrm>
            <a:off x="822960" y="2532888"/>
            <a:ext cx="4846320" cy="292608"/>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Counting works — only because of pmu=on</a:t>
            </a:r>
            <a:endParaRPr lang="en-US" sz="1400" dirty="0"/>
          </a:p>
        </p:txBody>
      </p:sp>
      <p:sp>
        <p:nvSpPr>
          <p:cNvPr id="9" name="Text 7"/>
          <p:cNvSpPr txBox="1"/>
          <p:nvPr/>
        </p:nvSpPr>
        <p:spPr>
          <a:xfrm>
            <a:off x="822960" y="2880360"/>
            <a:ext cx="4846320" cy="914400"/>
          </a:xfrm>
          <a:prstGeom prst="rect">
            <a:avLst/>
          </a:prstGeom>
          <a:noFill/>
          <a:ln/>
        </p:spPr>
        <p:txBody>
          <a:bodyPr wrap="square" lIns="0" tIns="0" rIns="0" bIns="0" rtlCol="0" anchor="ctr"/>
          <a:lstStyle/>
          <a:p>
            <a:pPr indent="0" marL="0">
              <a:lnSpc>
                <a:spcPts val="1600"/>
              </a:lnSpc>
              <a:buNone/>
            </a:pPr>
            <a:r>
              <a:rPr lang="en-US" sz="1200" dirty="0">
                <a:solidFill>
                  <a:srgbClr val="1B2430"/>
                </a:solidFill>
                <a:latin typeface="Calibri" pitchFamily="34" charset="0"/>
                <a:ea typeface="Calibri" pitchFamily="34" charset="-122"/>
                <a:cs typeface="Calibri" pitchFamily="34" charset="-120"/>
              </a:rPr>
              <a:t>Without that flag the guest has NO virtual PMU and perf answers &lt;not supported&gt; for every hardware event. With it we get a Haswell vPMU: cycles, instructions, cache and branch counters all count.</a:t>
            </a:r>
            <a:endParaRPr lang="en-US" sz="1200" dirty="0"/>
          </a:p>
        </p:txBody>
      </p:sp>
      <p:sp>
        <p:nvSpPr>
          <p:cNvPr id="10" name="Text 8"/>
          <p:cNvSpPr txBox="1"/>
          <p:nvPr/>
        </p:nvSpPr>
        <p:spPr>
          <a:xfrm>
            <a:off x="822960" y="3977640"/>
            <a:ext cx="4846320" cy="411480"/>
          </a:xfrm>
          <a:prstGeom prst="rect">
            <a:avLst/>
          </a:prstGeom>
          <a:noFill/>
          <a:ln/>
        </p:spPr>
        <p:txBody>
          <a:bodyPr wrap="square" lIns="0" tIns="0" rIns="0" bIns="0" rtlCol="0" anchor="ctr"/>
          <a:lstStyle/>
          <a:p>
            <a:pPr indent="0" marL="0">
              <a:buNone/>
            </a:pPr>
            <a:r>
              <a:rPr lang="en-US" sz="1200" b="1" dirty="0">
                <a:solidFill>
                  <a:srgbClr val="2D9B8A"/>
                </a:solidFill>
                <a:latin typeface="Calibri" pitchFamily="34" charset="0"/>
                <a:ea typeface="Calibri" pitchFamily="34" charset="-122"/>
                <a:cs typeface="Calibri" pitchFamily="34" charset="-120"/>
              </a:rPr>
              <a:t>This is the only reason we have counter data at all.</a:t>
            </a:r>
            <a:endParaRPr lang="en-US" sz="1200" dirty="0"/>
          </a:p>
        </p:txBody>
      </p:sp>
      <p:sp>
        <p:nvSpPr>
          <p:cNvPr id="11" name="Shape 9"/>
          <p:cNvSpPr/>
          <p:nvPr/>
        </p:nvSpPr>
        <p:spPr>
          <a:xfrm>
            <a:off x="6245352" y="2377440"/>
            <a:ext cx="5394960" cy="2148840"/>
          </a:xfrm>
          <a:prstGeom prst="roundRect">
            <a:avLst>
              <a:gd name="adj" fmla="val 2553"/>
            </a:avLst>
          </a:prstGeom>
          <a:solidFill>
            <a:srgbClr val="F3F6F8"/>
          </a:solidFill>
          <a:ln w="9525">
            <a:solidFill>
              <a:srgbClr val="DBE2E8"/>
            </a:solidFill>
            <a:prstDash val="solid"/>
          </a:ln>
        </p:spPr>
      </p:sp>
      <p:sp>
        <p:nvSpPr>
          <p:cNvPr id="12" name="Text 10"/>
          <p:cNvSpPr txBox="1"/>
          <p:nvPr/>
        </p:nvSpPr>
        <p:spPr>
          <a:xfrm>
            <a:off x="6519672" y="2532888"/>
            <a:ext cx="4846320" cy="292608"/>
          </a:xfrm>
          <a:prstGeom prst="rect">
            <a:avLst/>
          </a:prstGeom>
          <a:noFill/>
          <a:ln/>
        </p:spPr>
        <p:txBody>
          <a:bodyPr wrap="square" lIns="0" tIns="0" rIns="0" bIns="0" rtlCol="0" anchor="ctr"/>
          <a:lstStyle/>
          <a:p>
            <a:pPr indent="0" marL="0">
              <a:buNone/>
            </a:pPr>
            <a:r>
              <a:rPr lang="en-US" sz="1400" b="1" dirty="0">
                <a:solidFill>
                  <a:srgbClr val="B3543F"/>
                </a:solidFill>
                <a:latin typeface="Calibri" pitchFamily="34" charset="0"/>
                <a:ea typeface="Calibri" pitchFamily="34" charset="-122"/>
                <a:cs typeface="Calibri" pitchFamily="34" charset="-120"/>
              </a:rPr>
              <a:t>Sampling does NOT work</a:t>
            </a:r>
            <a:endParaRPr lang="en-US" sz="1400" dirty="0"/>
          </a:p>
        </p:txBody>
      </p:sp>
      <p:sp>
        <p:nvSpPr>
          <p:cNvPr id="13" name="Text 11"/>
          <p:cNvSpPr txBox="1"/>
          <p:nvPr/>
        </p:nvSpPr>
        <p:spPr>
          <a:xfrm>
            <a:off x="6519672" y="2880360"/>
            <a:ext cx="4846320" cy="914400"/>
          </a:xfrm>
          <a:prstGeom prst="rect">
            <a:avLst/>
          </a:prstGeom>
          <a:noFill/>
          <a:ln/>
        </p:spPr>
        <p:txBody>
          <a:bodyPr wrap="square" lIns="0" tIns="0" rIns="0" bIns="0" rtlCol="0" anchor="ctr"/>
          <a:lstStyle/>
          <a:p>
            <a:pPr indent="0" marL="0">
              <a:lnSpc>
                <a:spcPts val="1600"/>
              </a:lnSpc>
              <a:buNone/>
            </a:pPr>
            <a:r>
              <a:rPr lang="en-US" sz="1200" dirty="0">
                <a:solidFill>
                  <a:srgbClr val="1B2430"/>
                </a:solidFill>
                <a:latin typeface="Calibri" pitchFamily="34" charset="0"/>
                <a:ea typeface="Calibri" pitchFamily="34" charset="-122"/>
                <a:cs typeface="Calibri" pitchFamily="34" charset="-120"/>
              </a:rPr>
              <a:t>perf record on a hardware event captures ZERO samples here, even though perf stat counts that same event fine. Counting and sampling are different paths and only counting is virtualized.</a:t>
            </a:r>
            <a:endParaRPr lang="en-US" sz="1200" dirty="0"/>
          </a:p>
        </p:txBody>
      </p:sp>
      <p:sp>
        <p:nvSpPr>
          <p:cNvPr id="14" name="Text 12"/>
          <p:cNvSpPr txBox="1"/>
          <p:nvPr/>
        </p:nvSpPr>
        <p:spPr>
          <a:xfrm>
            <a:off x="6519672" y="3977640"/>
            <a:ext cx="4846320" cy="411480"/>
          </a:xfrm>
          <a:prstGeom prst="rect">
            <a:avLst/>
          </a:prstGeom>
          <a:noFill/>
          <a:ln/>
        </p:spPr>
        <p:txBody>
          <a:bodyPr wrap="square" lIns="0" tIns="0" rIns="0" bIns="0" rtlCol="0" anchor="ctr"/>
          <a:lstStyle/>
          <a:p>
            <a:pPr indent="0" marL="0">
              <a:buNone/>
            </a:pPr>
            <a:r>
              <a:rPr lang="en-US" sz="1200" b="1" dirty="0">
                <a:solidFill>
                  <a:srgbClr val="2D9B8A"/>
                </a:solidFill>
                <a:latin typeface="Calibri" pitchFamily="34" charset="0"/>
                <a:ea typeface="Calibri" pitchFamily="34" charset="-122"/>
                <a:cs typeface="Calibri" pitchFamily="34" charset="-120"/>
              </a:rPr>
              <a:t>Fix: flame graphs use -e cpu-clock, which is timer-based.</a:t>
            </a:r>
            <a:endParaRPr lang="en-US" sz="1200" dirty="0"/>
          </a:p>
        </p:txBody>
      </p:sp>
      <p:sp>
        <p:nvSpPr>
          <p:cNvPr id="15" name="Shape 13"/>
          <p:cNvSpPr/>
          <p:nvPr/>
        </p:nvSpPr>
        <p:spPr>
          <a:xfrm>
            <a:off x="548640" y="4709160"/>
            <a:ext cx="11091672" cy="1280160"/>
          </a:xfrm>
          <a:prstGeom prst="roundRect">
            <a:avLst>
              <a:gd name="adj" fmla="val 4286"/>
            </a:avLst>
          </a:prstGeom>
          <a:solidFill>
            <a:srgbClr val="FDF3EC"/>
          </a:solidFill>
          <a:ln w="9525">
            <a:solidFill>
              <a:srgbClr val="DBE2E8"/>
            </a:solidFill>
            <a:prstDash val="solid"/>
          </a:ln>
        </p:spPr>
      </p:sp>
      <p:sp>
        <p:nvSpPr>
          <p:cNvPr id="16" name="Text 14"/>
          <p:cNvSpPr txBox="1"/>
          <p:nvPr/>
        </p:nvSpPr>
        <p:spPr>
          <a:xfrm>
            <a:off x="822960" y="4837176"/>
            <a:ext cx="10543032"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The trap that nearly went into the report as a fact</a:t>
            </a:r>
            <a:endParaRPr lang="en-US" sz="1300" dirty="0"/>
          </a:p>
        </p:txBody>
      </p:sp>
      <p:sp>
        <p:nvSpPr>
          <p:cNvPr id="17" name="Text 15"/>
          <p:cNvSpPr txBox="1"/>
          <p:nvPr/>
        </p:nvSpPr>
        <p:spPr>
          <a:xfrm>
            <a:off x="822960" y="5120640"/>
            <a:ext cx="10543032" cy="777240"/>
          </a:xfrm>
          <a:prstGeom prst="rect">
            <a:avLst/>
          </a:prstGeom>
          <a:noFill/>
          <a:ln/>
        </p:spPr>
        <p:txBody>
          <a:bodyPr wrap="square" lIns="0" tIns="0" rIns="0" bIns="0" rtlCol="0" anchor="ctr"/>
          <a:lstStyle/>
          <a:p>
            <a:pPr indent="0" marL="0">
              <a:lnSpc>
                <a:spcPts val="1700"/>
              </a:lnSpc>
              <a:buNone/>
            </a:pPr>
            <a:r>
              <a:rPr lang="en-US" sz="1200" dirty="0">
                <a:solidFill>
                  <a:srgbClr val="1B2430"/>
                </a:solidFill>
                <a:latin typeface="Calibri" pitchFamily="34" charset="0"/>
                <a:ea typeface="Calibri" pitchFamily="34" charset="-122"/>
                <a:cs typeface="Calibri" pitchFamily="34" charset="-120"/>
              </a:rPr>
              <a:t>Our first pass asked perf stat for six events at once. cycles came back as exactly 0, and we almost wrote "cycles is unsupported in the guest". It is counter multiplexing: the guest has fewer usable counters than a bare machine. In groups of two, cycles reads fine. Also: CPython 3.10 predates -X perf, so perf cannot name Python functions here — py-spy does that instead.</a:t>
            </a:r>
            <a:endParaRPr lang="en-US" sz="1200" dirty="0"/>
          </a:p>
        </p:txBody>
      </p:sp>
      <p:sp>
        <p:nvSpPr>
          <p:cNvPr id="18" name="Text 16"/>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19" name="Text 17"/>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PYFLATE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A bzip2 decompressor written entirely in Python</a:t>
            </a:r>
            <a:endParaRPr lang="en-US" sz="2900" dirty="0"/>
          </a:p>
        </p:txBody>
      </p:sp>
      <p:sp>
        <p:nvSpPr>
          <p:cNvPr id="4" name="Text 2"/>
          <p:cNvSpPr txBox="1"/>
          <p:nvPr/>
        </p:nvSpPr>
        <p:spPr>
          <a:xfrm>
            <a:off x="548640" y="1371600"/>
            <a:ext cx="6949440" cy="50292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67,562 compressed bytes in, 399,360 bytes out. The benchmark carries its own MD5, and we used it as the correctness oracle for the whole project.</a:t>
            </a:r>
            <a:endParaRPr lang="en-US" sz="1400" dirty="0"/>
          </a:p>
        </p:txBody>
      </p:sp>
      <p:sp>
        <p:nvSpPr>
          <p:cNvPr id="5" name="Shape 3"/>
          <p:cNvSpPr/>
          <p:nvPr/>
        </p:nvSpPr>
        <p:spPr>
          <a:xfrm>
            <a:off x="548640" y="2148840"/>
            <a:ext cx="2514600" cy="1600200"/>
          </a:xfrm>
          <a:prstGeom prst="roundRect">
            <a:avLst>
              <a:gd name="adj" fmla="val 3429"/>
            </a:avLst>
          </a:prstGeom>
          <a:solidFill>
            <a:srgbClr val="F3F6F8"/>
          </a:solidFill>
          <a:ln w="9525">
            <a:solidFill>
              <a:srgbClr val="DBE2E8"/>
            </a:solidFill>
            <a:prstDash val="solid"/>
          </a:ln>
        </p:spPr>
      </p:sp>
      <p:sp>
        <p:nvSpPr>
          <p:cNvPr id="6" name="Text 4"/>
          <p:cNvSpPr txBox="1"/>
          <p:nvPr/>
        </p:nvSpPr>
        <p:spPr>
          <a:xfrm>
            <a:off x="731520"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Huffman</a:t>
            </a:r>
            <a:endParaRPr lang="en-US" sz="1700" dirty="0"/>
          </a:p>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decode</a:t>
            </a:r>
            <a:endParaRPr lang="en-US" sz="1700" dirty="0"/>
          </a:p>
        </p:txBody>
      </p:sp>
      <p:sp>
        <p:nvSpPr>
          <p:cNvPr id="7" name="Text 5"/>
          <p:cNvSpPr txBox="1"/>
          <p:nvPr/>
        </p:nvSpPr>
        <p:spPr>
          <a:xfrm>
            <a:off x="731520"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variable-length</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prefix codes</a:t>
            </a:r>
            <a:endParaRPr lang="en-US" sz="1100" dirty="0"/>
          </a:p>
        </p:txBody>
      </p:sp>
      <p:sp>
        <p:nvSpPr>
          <p:cNvPr id="8" name="Shape 6"/>
          <p:cNvSpPr/>
          <p:nvPr/>
        </p:nvSpPr>
        <p:spPr>
          <a:xfrm>
            <a:off x="3108960" y="2926080"/>
            <a:ext cx="237744" cy="0"/>
          </a:xfrm>
          <a:prstGeom prst="line">
            <a:avLst/>
          </a:prstGeom>
          <a:noFill/>
          <a:ln w="22225">
            <a:solidFill>
              <a:srgbClr val="6B7785"/>
            </a:solidFill>
            <a:prstDash val="solid"/>
            <a:tailEnd type="triangle"/>
          </a:ln>
        </p:spPr>
      </p:sp>
      <p:sp>
        <p:nvSpPr>
          <p:cNvPr id="9" name="Shape 7"/>
          <p:cNvSpPr/>
          <p:nvPr/>
        </p:nvSpPr>
        <p:spPr>
          <a:xfrm>
            <a:off x="3401568" y="2148840"/>
            <a:ext cx="2514600" cy="1600200"/>
          </a:xfrm>
          <a:prstGeom prst="roundRect">
            <a:avLst>
              <a:gd name="adj" fmla="val 3429"/>
            </a:avLst>
          </a:prstGeom>
          <a:solidFill>
            <a:srgbClr val="F3F6F8"/>
          </a:solidFill>
          <a:ln w="9525">
            <a:solidFill>
              <a:srgbClr val="DBE2E8"/>
            </a:solidFill>
            <a:prstDash val="solid"/>
          </a:ln>
        </p:spPr>
      </p:sp>
      <p:sp>
        <p:nvSpPr>
          <p:cNvPr id="10" name="Text 8"/>
          <p:cNvSpPr txBox="1"/>
          <p:nvPr/>
        </p:nvSpPr>
        <p:spPr>
          <a:xfrm>
            <a:off x="3584448"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Move-to-</a:t>
            </a:r>
            <a:endParaRPr lang="en-US" sz="1700" dirty="0"/>
          </a:p>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front</a:t>
            </a:r>
            <a:endParaRPr lang="en-US" sz="1700" dirty="0"/>
          </a:p>
        </p:txBody>
      </p:sp>
      <p:sp>
        <p:nvSpPr>
          <p:cNvPr id="11" name="Text 9"/>
          <p:cNvSpPr txBox="1"/>
          <p:nvPr/>
        </p:nvSpPr>
        <p:spPr>
          <a:xfrm>
            <a:off x="3584448"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alphabet reordered</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after every symbol</a:t>
            </a:r>
            <a:endParaRPr lang="en-US" sz="1100" dirty="0"/>
          </a:p>
        </p:txBody>
      </p:sp>
      <p:sp>
        <p:nvSpPr>
          <p:cNvPr id="12" name="Shape 10"/>
          <p:cNvSpPr/>
          <p:nvPr/>
        </p:nvSpPr>
        <p:spPr>
          <a:xfrm>
            <a:off x="5961888" y="2926080"/>
            <a:ext cx="237744" cy="0"/>
          </a:xfrm>
          <a:prstGeom prst="line">
            <a:avLst/>
          </a:prstGeom>
          <a:noFill/>
          <a:ln w="22225">
            <a:solidFill>
              <a:srgbClr val="6B7785"/>
            </a:solidFill>
            <a:prstDash val="solid"/>
            <a:tailEnd type="triangle"/>
          </a:ln>
        </p:spPr>
      </p:sp>
      <p:sp>
        <p:nvSpPr>
          <p:cNvPr id="13" name="Shape 11"/>
          <p:cNvSpPr/>
          <p:nvPr/>
        </p:nvSpPr>
        <p:spPr>
          <a:xfrm>
            <a:off x="6254496" y="2148840"/>
            <a:ext cx="2514600" cy="1600200"/>
          </a:xfrm>
          <a:prstGeom prst="roundRect">
            <a:avLst>
              <a:gd name="adj" fmla="val 3429"/>
            </a:avLst>
          </a:prstGeom>
          <a:solidFill>
            <a:srgbClr val="F3F6F8"/>
          </a:solidFill>
          <a:ln w="9525">
            <a:solidFill>
              <a:srgbClr val="DBE2E8"/>
            </a:solidFill>
            <a:prstDash val="solid"/>
          </a:ln>
        </p:spPr>
      </p:sp>
      <p:sp>
        <p:nvSpPr>
          <p:cNvPr id="14" name="Text 12"/>
          <p:cNvSpPr txBox="1"/>
          <p:nvPr/>
        </p:nvSpPr>
        <p:spPr>
          <a:xfrm>
            <a:off x="6437376"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7A6FA8"/>
                </a:solidFill>
                <a:latin typeface="Cambria" pitchFamily="34" charset="0"/>
                <a:ea typeface="Cambria" pitchFamily="34" charset="-122"/>
                <a:cs typeface="Cambria" pitchFamily="34" charset="-120"/>
              </a:rPr>
              <a:t>Inverse</a:t>
            </a:r>
            <a:endParaRPr lang="en-US" sz="1700" dirty="0"/>
          </a:p>
          <a:p>
            <a:pPr indent="0" marL="0">
              <a:lnSpc>
                <a:spcPts val="2000"/>
              </a:lnSpc>
              <a:buNone/>
            </a:pPr>
            <a:r>
              <a:rPr lang="en-US" sz="1700" b="1" dirty="0">
                <a:solidFill>
                  <a:srgbClr val="7A6FA8"/>
                </a:solidFill>
                <a:latin typeface="Cambria" pitchFamily="34" charset="0"/>
                <a:ea typeface="Cambria" pitchFamily="34" charset="-122"/>
                <a:cs typeface="Cambria" pitchFamily="34" charset="-120"/>
              </a:rPr>
              <a:t>BWT</a:t>
            </a:r>
            <a:endParaRPr lang="en-US" sz="1700" dirty="0"/>
          </a:p>
        </p:txBody>
      </p:sp>
      <p:sp>
        <p:nvSpPr>
          <p:cNvPr id="15" name="Text 13"/>
          <p:cNvSpPr txBox="1"/>
          <p:nvPr/>
        </p:nvSpPr>
        <p:spPr>
          <a:xfrm>
            <a:off x="6437376"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pointer chase</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end = T[end]</a:t>
            </a:r>
            <a:endParaRPr lang="en-US" sz="1100" dirty="0"/>
          </a:p>
        </p:txBody>
      </p:sp>
      <p:sp>
        <p:nvSpPr>
          <p:cNvPr id="16" name="Shape 14"/>
          <p:cNvSpPr/>
          <p:nvPr/>
        </p:nvSpPr>
        <p:spPr>
          <a:xfrm>
            <a:off x="8814816" y="2926080"/>
            <a:ext cx="237744" cy="0"/>
          </a:xfrm>
          <a:prstGeom prst="line">
            <a:avLst/>
          </a:prstGeom>
          <a:noFill/>
          <a:ln w="22225">
            <a:solidFill>
              <a:srgbClr val="6B7785"/>
            </a:solidFill>
            <a:prstDash val="solid"/>
            <a:tailEnd type="triangle"/>
          </a:ln>
        </p:spPr>
      </p:sp>
      <p:sp>
        <p:nvSpPr>
          <p:cNvPr id="17" name="Shape 15"/>
          <p:cNvSpPr/>
          <p:nvPr/>
        </p:nvSpPr>
        <p:spPr>
          <a:xfrm>
            <a:off x="9107424" y="2148840"/>
            <a:ext cx="2514600" cy="1600200"/>
          </a:xfrm>
          <a:prstGeom prst="roundRect">
            <a:avLst>
              <a:gd name="adj" fmla="val 3429"/>
            </a:avLst>
          </a:prstGeom>
          <a:solidFill>
            <a:srgbClr val="F3F6F8"/>
          </a:solidFill>
          <a:ln w="9525">
            <a:solidFill>
              <a:srgbClr val="DBE2E8"/>
            </a:solidFill>
            <a:prstDash val="solid"/>
          </a:ln>
        </p:spPr>
      </p:sp>
      <p:sp>
        <p:nvSpPr>
          <p:cNvPr id="18" name="Text 16"/>
          <p:cNvSpPr txBox="1"/>
          <p:nvPr/>
        </p:nvSpPr>
        <p:spPr>
          <a:xfrm>
            <a:off x="9290304"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6B7785"/>
                </a:solidFill>
                <a:latin typeface="Cambria" pitchFamily="34" charset="0"/>
                <a:ea typeface="Cambria" pitchFamily="34" charset="-122"/>
                <a:cs typeface="Cambria" pitchFamily="34" charset="-120"/>
              </a:rPr>
              <a:t>RLE</a:t>
            </a:r>
            <a:endParaRPr lang="en-US" sz="1700" dirty="0"/>
          </a:p>
          <a:p>
            <a:pPr indent="0" marL="0">
              <a:lnSpc>
                <a:spcPts val="2000"/>
              </a:lnSpc>
              <a:buNone/>
            </a:pPr>
            <a:r>
              <a:rPr lang="en-US" sz="1700" b="1" dirty="0">
                <a:solidFill>
                  <a:srgbClr val="6B7785"/>
                </a:solidFill>
                <a:latin typeface="Cambria" pitchFamily="34" charset="0"/>
                <a:ea typeface="Cambria" pitchFamily="34" charset="-122"/>
                <a:cs typeface="Cambria" pitchFamily="34" charset="-120"/>
              </a:rPr>
              <a:t>expand</a:t>
            </a:r>
            <a:endParaRPr lang="en-US" sz="1700" dirty="0"/>
          </a:p>
        </p:txBody>
      </p:sp>
      <p:sp>
        <p:nvSpPr>
          <p:cNvPr id="19" name="Text 17"/>
          <p:cNvSpPr txBox="1"/>
          <p:nvPr/>
        </p:nvSpPr>
        <p:spPr>
          <a:xfrm>
            <a:off x="9290304"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runs of ≥ 4</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identical bytes</a:t>
            </a:r>
            <a:endParaRPr lang="en-US" sz="1100" dirty="0"/>
          </a:p>
        </p:txBody>
      </p:sp>
      <p:sp>
        <p:nvSpPr>
          <p:cNvPr id="20" name="Text 18"/>
          <p:cNvSpPr txBox="1"/>
          <p:nvPr/>
        </p:nvSpPr>
        <p:spPr>
          <a:xfrm>
            <a:off x="548640" y="406908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Why a benchmark would implement bzip2 in Python at all</a:t>
            </a:r>
            <a:endParaRPr lang="en-US" sz="1400" dirty="0"/>
          </a:p>
        </p:txBody>
      </p:sp>
      <p:sp>
        <p:nvSpPr>
          <p:cNvPr id="21" name="Text 19"/>
          <p:cNvSpPr txBox="1"/>
          <p:nvPr/>
        </p:nvSpPr>
        <p:spPr>
          <a:xfrm>
            <a:off x="548640" y="4389120"/>
            <a:ext cx="11091672" cy="68580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It is deliberate. Calling libbz2 would measure C, not the interpreter. Every import is stdlib — hashlib, struct, os. So this benchmark measures Python executing bit manipulation and table lookups, which is precisely what makes it interesting to optimize and to accelerate.</a:t>
            </a:r>
            <a:endParaRPr lang="en-US" sz="1300" dirty="0"/>
          </a:p>
        </p:txBody>
      </p:sp>
      <p:sp>
        <p:nvSpPr>
          <p:cNvPr id="22" name="Text 20"/>
          <p:cNvSpPr txBox="1"/>
          <p:nvPr/>
        </p:nvSpPr>
        <p:spPr>
          <a:xfrm>
            <a:off x="548640" y="5212080"/>
            <a:ext cx="11091672" cy="548640"/>
          </a:xfrm>
          <a:prstGeom prst="rect">
            <a:avLst/>
          </a:prstGeom>
          <a:noFill/>
          <a:ln/>
        </p:spPr>
        <p:txBody>
          <a:bodyPr wrap="square" lIns="0" tIns="0" rIns="0" bIns="0" rtlCol="0" anchor="ctr"/>
          <a:lstStyle/>
          <a:p>
            <a:pPr indent="0" marL="0">
              <a:lnSpc>
                <a:spcPts val="1800"/>
              </a:lnSpc>
              <a:buNone/>
            </a:pPr>
            <a:r>
              <a:rPr lang="en-US" sz="1300" i="1" dirty="0">
                <a:solidFill>
                  <a:srgbClr val="2D9B8A"/>
                </a:solidFill>
                <a:latin typeface="Calibri" pitchFamily="34" charset="0"/>
                <a:ea typeface="Calibri" pitchFamily="34" charset="-122"/>
                <a:cs typeface="Calibri" pitchFamily="34" charset="-120"/>
              </a:rPr>
              <a:t>This also rules out an easy cheat: swapping in libbz2 would have scored a huge speedup while measuring nothing and teaching nothing. We did not do it.</a:t>
            </a:r>
            <a:endParaRPr lang="en-US" sz="1300" dirty="0"/>
          </a:p>
        </p:txBody>
      </p:sp>
      <p:sp>
        <p:nvSpPr>
          <p:cNvPr id="23" name="Text 21"/>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24" name="Text 22"/>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ANALYSIS</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Where the time actually goes</a:t>
            </a:r>
            <a:endParaRPr lang="en-US" sz="2900" dirty="0"/>
          </a:p>
        </p:txBody>
      </p:sp>
      <p:sp>
        <p:nvSpPr>
          <p:cNvPr id="4" name="Text 2"/>
          <p:cNvSpPr txBox="1"/>
          <p:nvPr/>
        </p:nvSpPr>
        <p:spPr>
          <a:xfrm>
            <a:off x="548640" y="1371600"/>
            <a:ext cx="6766560" cy="274320"/>
          </a:xfrm>
          <a:prstGeom prst="rect">
            <a:avLst/>
          </a:prstGeom>
          <a:noFill/>
          <a:ln/>
        </p:spPr>
        <p:txBody>
          <a:bodyPr wrap="square" lIns="0" tIns="0" rIns="0" bIns="0" rtlCol="0" anchor="ctr"/>
          <a:lstStyle/>
          <a:p>
            <a:pPr indent="0" marL="0">
              <a:buNone/>
            </a:pPr>
            <a:r>
              <a:rPr lang="en-US" sz="1300" dirty="0">
                <a:solidFill>
                  <a:srgbClr val="6B7785"/>
                </a:solidFill>
                <a:latin typeface="Calibri" pitchFamily="34" charset="0"/>
                <a:ea typeface="Calibri" pitchFamily="34" charset="-122"/>
                <a:cs typeface="Calibri" pitchFamily="34" charset="-120"/>
              </a:rPr>
              <a:t>py-spy, cycle-weighted, Python function names. Measured inside the QEMU guest.</a:t>
            </a:r>
            <a:endParaRPr lang="en-US" sz="1300" dirty="0"/>
          </a:p>
        </p:txBody>
      </p:sp>
      <p:sp>
        <p:nvSpPr>
          <p:cNvPr id="5" name="Text 3"/>
          <p:cNvSpPr txBox="1"/>
          <p:nvPr/>
        </p:nvSpPr>
        <p:spPr>
          <a:xfrm>
            <a:off x="548640" y="178308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decode_huffman_block</a:t>
            </a:r>
            <a:endParaRPr lang="en-US" sz="1100" dirty="0"/>
          </a:p>
        </p:txBody>
      </p:sp>
      <p:sp>
        <p:nvSpPr>
          <p:cNvPr id="6" name="Shape 4"/>
          <p:cNvSpPr/>
          <p:nvPr/>
        </p:nvSpPr>
        <p:spPr>
          <a:xfrm>
            <a:off x="4206240" y="1847088"/>
            <a:ext cx="3378549" cy="182880"/>
          </a:xfrm>
          <a:prstGeom prst="rect">
            <a:avLst/>
          </a:prstGeom>
          <a:solidFill>
            <a:srgbClr val="E8833A"/>
          </a:solidFill>
          <a:ln w="12700">
            <a:solidFill>
              <a:srgbClr val="E8833A"/>
            </a:solidFill>
            <a:prstDash val="solid"/>
          </a:ln>
        </p:spPr>
      </p:sp>
      <p:sp>
        <p:nvSpPr>
          <p:cNvPr id="7" name="Text 5"/>
          <p:cNvSpPr txBox="1"/>
          <p:nvPr/>
        </p:nvSpPr>
        <p:spPr>
          <a:xfrm>
            <a:off x="7882128" y="178308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21.79%</a:t>
            </a:r>
            <a:endParaRPr lang="en-US" sz="1100" dirty="0"/>
          </a:p>
        </p:txBody>
      </p:sp>
      <p:sp>
        <p:nvSpPr>
          <p:cNvPr id="8" name="Text 6"/>
          <p:cNvSpPr txBox="1"/>
          <p:nvPr/>
        </p:nvSpPr>
        <p:spPr>
          <a:xfrm>
            <a:off x="548640" y="220370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find_next_symbol</a:t>
            </a:r>
            <a:endParaRPr lang="en-US" sz="1100" dirty="0"/>
          </a:p>
        </p:txBody>
      </p:sp>
      <p:sp>
        <p:nvSpPr>
          <p:cNvPr id="9" name="Shape 7"/>
          <p:cNvSpPr/>
          <p:nvPr/>
        </p:nvSpPr>
        <p:spPr>
          <a:xfrm>
            <a:off x="4206240" y="2267712"/>
            <a:ext cx="2564534" cy="182880"/>
          </a:xfrm>
          <a:prstGeom prst="rect">
            <a:avLst/>
          </a:prstGeom>
          <a:solidFill>
            <a:srgbClr val="E8833A"/>
          </a:solidFill>
          <a:ln w="12700">
            <a:solidFill>
              <a:srgbClr val="E8833A"/>
            </a:solidFill>
            <a:prstDash val="solid"/>
          </a:ln>
        </p:spPr>
      </p:sp>
      <p:sp>
        <p:nvSpPr>
          <p:cNvPr id="10" name="Text 8"/>
          <p:cNvSpPr txBox="1"/>
          <p:nvPr/>
        </p:nvSpPr>
        <p:spPr>
          <a:xfrm>
            <a:off x="7882128" y="220370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16.54%</a:t>
            </a:r>
            <a:endParaRPr lang="en-US" sz="1100" dirty="0"/>
          </a:p>
        </p:txBody>
      </p:sp>
      <p:sp>
        <p:nvSpPr>
          <p:cNvPr id="11" name="Text 9"/>
          <p:cNvSpPr txBox="1"/>
          <p:nvPr/>
        </p:nvSpPr>
        <p:spPr>
          <a:xfrm>
            <a:off x="548640" y="262432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move_to_front</a:t>
            </a:r>
            <a:endParaRPr lang="en-US" sz="1100" dirty="0"/>
          </a:p>
        </p:txBody>
      </p:sp>
      <p:sp>
        <p:nvSpPr>
          <p:cNvPr id="12" name="Shape 10"/>
          <p:cNvSpPr/>
          <p:nvPr/>
        </p:nvSpPr>
        <p:spPr>
          <a:xfrm>
            <a:off x="4206240" y="2688336"/>
            <a:ext cx="2432741" cy="182880"/>
          </a:xfrm>
          <a:prstGeom prst="rect">
            <a:avLst/>
          </a:prstGeom>
          <a:solidFill>
            <a:srgbClr val="E8833A"/>
          </a:solidFill>
          <a:ln w="12700">
            <a:solidFill>
              <a:srgbClr val="E8833A"/>
            </a:solidFill>
            <a:prstDash val="solid"/>
          </a:ln>
        </p:spPr>
      </p:sp>
      <p:sp>
        <p:nvSpPr>
          <p:cNvPr id="13" name="Text 11"/>
          <p:cNvSpPr txBox="1"/>
          <p:nvPr/>
        </p:nvSpPr>
        <p:spPr>
          <a:xfrm>
            <a:off x="7882128" y="262432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15.69%</a:t>
            </a:r>
            <a:endParaRPr lang="en-US" sz="1100" dirty="0"/>
          </a:p>
        </p:txBody>
      </p:sp>
      <p:sp>
        <p:nvSpPr>
          <p:cNvPr id="14" name="Text 12"/>
          <p:cNvSpPr txBox="1"/>
          <p:nvPr/>
        </p:nvSpPr>
        <p:spPr>
          <a:xfrm>
            <a:off x="548640" y="3044952"/>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readbits</a:t>
            </a:r>
            <a:endParaRPr lang="en-US" sz="1100" dirty="0"/>
          </a:p>
        </p:txBody>
      </p:sp>
      <p:sp>
        <p:nvSpPr>
          <p:cNvPr id="15" name="Shape 13"/>
          <p:cNvSpPr/>
          <p:nvPr/>
        </p:nvSpPr>
        <p:spPr>
          <a:xfrm>
            <a:off x="4206240" y="3108960"/>
            <a:ext cx="1505540" cy="182880"/>
          </a:xfrm>
          <a:prstGeom prst="rect">
            <a:avLst/>
          </a:prstGeom>
          <a:solidFill>
            <a:srgbClr val="E8833A"/>
          </a:solidFill>
          <a:ln w="12700">
            <a:solidFill>
              <a:srgbClr val="E8833A"/>
            </a:solidFill>
            <a:prstDash val="solid"/>
          </a:ln>
        </p:spPr>
      </p:sp>
      <p:sp>
        <p:nvSpPr>
          <p:cNvPr id="16" name="Text 14"/>
          <p:cNvSpPr txBox="1"/>
          <p:nvPr/>
        </p:nvSpPr>
        <p:spPr>
          <a:xfrm>
            <a:off x="7882128" y="3044952"/>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9.71%</a:t>
            </a:r>
            <a:endParaRPr lang="en-US" sz="1100" dirty="0"/>
          </a:p>
        </p:txBody>
      </p:sp>
      <p:sp>
        <p:nvSpPr>
          <p:cNvPr id="17" name="Text 15"/>
          <p:cNvSpPr txBox="1"/>
          <p:nvPr/>
        </p:nvSpPr>
        <p:spPr>
          <a:xfrm>
            <a:off x="548640" y="3465576"/>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snoopbits</a:t>
            </a:r>
            <a:endParaRPr lang="en-US" sz="1100" dirty="0"/>
          </a:p>
        </p:txBody>
      </p:sp>
      <p:sp>
        <p:nvSpPr>
          <p:cNvPr id="18" name="Shape 16"/>
          <p:cNvSpPr/>
          <p:nvPr/>
        </p:nvSpPr>
        <p:spPr>
          <a:xfrm>
            <a:off x="4206240" y="3529584"/>
            <a:ext cx="1434217" cy="182880"/>
          </a:xfrm>
          <a:prstGeom prst="rect">
            <a:avLst/>
          </a:prstGeom>
          <a:solidFill>
            <a:srgbClr val="E8833A"/>
          </a:solidFill>
          <a:ln w="12700">
            <a:solidFill>
              <a:srgbClr val="E8833A"/>
            </a:solidFill>
            <a:prstDash val="solid"/>
          </a:ln>
        </p:spPr>
      </p:sp>
      <p:sp>
        <p:nvSpPr>
          <p:cNvPr id="19" name="Text 17"/>
          <p:cNvSpPr txBox="1"/>
          <p:nvPr/>
        </p:nvSpPr>
        <p:spPr>
          <a:xfrm>
            <a:off x="7882128" y="3465576"/>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9.25%</a:t>
            </a:r>
            <a:endParaRPr lang="en-US" sz="1100" dirty="0"/>
          </a:p>
        </p:txBody>
      </p:sp>
      <p:sp>
        <p:nvSpPr>
          <p:cNvPr id="20" name="Text 18"/>
          <p:cNvSpPr txBox="1"/>
          <p:nvPr/>
        </p:nvSpPr>
        <p:spPr>
          <a:xfrm>
            <a:off x="548640" y="388620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bwt_transform</a:t>
            </a:r>
            <a:endParaRPr lang="en-US" sz="1100" dirty="0"/>
          </a:p>
        </p:txBody>
      </p:sp>
      <p:sp>
        <p:nvSpPr>
          <p:cNvPr id="21" name="Shape 19"/>
          <p:cNvSpPr/>
          <p:nvPr/>
        </p:nvSpPr>
        <p:spPr>
          <a:xfrm>
            <a:off x="4206240" y="3950208"/>
            <a:ext cx="1397004" cy="182880"/>
          </a:xfrm>
          <a:prstGeom prst="rect">
            <a:avLst/>
          </a:prstGeom>
          <a:solidFill>
            <a:srgbClr val="E8833A"/>
          </a:solidFill>
          <a:ln w="12700">
            <a:solidFill>
              <a:srgbClr val="E8833A"/>
            </a:solidFill>
            <a:prstDash val="solid"/>
          </a:ln>
        </p:spPr>
      </p:sp>
      <p:sp>
        <p:nvSpPr>
          <p:cNvPr id="22" name="Text 20"/>
          <p:cNvSpPr txBox="1"/>
          <p:nvPr/>
        </p:nvSpPr>
        <p:spPr>
          <a:xfrm>
            <a:off x="7882128" y="388620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9.01%</a:t>
            </a:r>
            <a:endParaRPr lang="en-US" sz="1100" dirty="0"/>
          </a:p>
        </p:txBody>
      </p:sp>
      <p:sp>
        <p:nvSpPr>
          <p:cNvPr id="23" name="Text 21"/>
          <p:cNvSpPr txBox="1"/>
          <p:nvPr/>
        </p:nvSpPr>
        <p:spPr>
          <a:xfrm>
            <a:off x="548640" y="430682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bwt_reverse</a:t>
            </a:r>
            <a:endParaRPr lang="en-US" sz="1100" dirty="0"/>
          </a:p>
        </p:txBody>
      </p:sp>
      <p:sp>
        <p:nvSpPr>
          <p:cNvPr id="24" name="Shape 22"/>
          <p:cNvSpPr/>
          <p:nvPr/>
        </p:nvSpPr>
        <p:spPr>
          <a:xfrm>
            <a:off x="4206240" y="4370832"/>
            <a:ext cx="955111" cy="182880"/>
          </a:xfrm>
          <a:prstGeom prst="rect">
            <a:avLst/>
          </a:prstGeom>
          <a:solidFill>
            <a:srgbClr val="E8833A"/>
          </a:solidFill>
          <a:ln w="12700">
            <a:solidFill>
              <a:srgbClr val="E8833A"/>
            </a:solidFill>
            <a:prstDash val="solid"/>
          </a:ln>
        </p:spPr>
      </p:sp>
      <p:sp>
        <p:nvSpPr>
          <p:cNvPr id="25" name="Text 23"/>
          <p:cNvSpPr txBox="1"/>
          <p:nvPr/>
        </p:nvSpPr>
        <p:spPr>
          <a:xfrm>
            <a:off x="7882128" y="430682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6.16%</a:t>
            </a:r>
            <a:endParaRPr lang="en-US" sz="1100" dirty="0"/>
          </a:p>
        </p:txBody>
      </p:sp>
      <p:sp>
        <p:nvSpPr>
          <p:cNvPr id="26" name="Text 24"/>
          <p:cNvSpPr txBox="1"/>
          <p:nvPr/>
        </p:nvSpPr>
        <p:spPr>
          <a:xfrm>
            <a:off x="548640" y="472744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_mask</a:t>
            </a:r>
            <a:endParaRPr lang="en-US" sz="1100" dirty="0"/>
          </a:p>
        </p:txBody>
      </p:sp>
      <p:sp>
        <p:nvSpPr>
          <p:cNvPr id="27" name="Shape 25"/>
          <p:cNvSpPr/>
          <p:nvPr/>
        </p:nvSpPr>
        <p:spPr>
          <a:xfrm>
            <a:off x="4206240" y="4791456"/>
            <a:ext cx="573687" cy="182880"/>
          </a:xfrm>
          <a:prstGeom prst="rect">
            <a:avLst/>
          </a:prstGeom>
          <a:solidFill>
            <a:srgbClr val="E8833A"/>
          </a:solidFill>
          <a:ln w="12700">
            <a:solidFill>
              <a:srgbClr val="E8833A"/>
            </a:solidFill>
            <a:prstDash val="solid"/>
          </a:ln>
        </p:spPr>
      </p:sp>
      <p:sp>
        <p:nvSpPr>
          <p:cNvPr id="28" name="Text 26"/>
          <p:cNvSpPr txBox="1"/>
          <p:nvPr/>
        </p:nvSpPr>
        <p:spPr>
          <a:xfrm>
            <a:off x="7882128" y="472744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3.70%</a:t>
            </a:r>
            <a:endParaRPr lang="en-US" sz="1100" dirty="0"/>
          </a:p>
        </p:txBody>
      </p:sp>
      <p:sp>
        <p:nvSpPr>
          <p:cNvPr id="29" name="Shape 27"/>
          <p:cNvSpPr/>
          <p:nvPr/>
        </p:nvSpPr>
        <p:spPr>
          <a:xfrm>
            <a:off x="8869680" y="1783080"/>
            <a:ext cx="2770632" cy="3383280"/>
          </a:xfrm>
          <a:prstGeom prst="roundRect">
            <a:avLst>
              <a:gd name="adj" fmla="val 1980"/>
            </a:avLst>
          </a:prstGeom>
          <a:solidFill>
            <a:srgbClr val="F3F6F8"/>
          </a:solidFill>
          <a:ln w="9525">
            <a:solidFill>
              <a:srgbClr val="DBE2E8"/>
            </a:solidFill>
            <a:prstDash val="solid"/>
          </a:ln>
        </p:spPr>
      </p:sp>
      <p:sp>
        <p:nvSpPr>
          <p:cNvPr id="30" name="Text 28"/>
          <p:cNvSpPr txBox="1"/>
          <p:nvPr/>
        </p:nvSpPr>
        <p:spPr>
          <a:xfrm>
            <a:off x="9098280" y="1938528"/>
            <a:ext cx="2331720" cy="237744"/>
          </a:xfrm>
          <a:prstGeom prst="rect">
            <a:avLst/>
          </a:prstGeom>
          <a:noFill/>
          <a:ln/>
        </p:spPr>
        <p:txBody>
          <a:bodyPr wrap="square" lIns="0" tIns="0" rIns="0" bIns="0" rtlCol="0" anchor="ctr"/>
          <a:lstStyle/>
          <a:p>
            <a:pPr indent="0" marL="0">
              <a:buNone/>
            </a:pPr>
            <a:r>
              <a:rPr lang="en-US" sz="1000" b="1" spc="120" kern="0" dirty="0">
                <a:solidFill>
                  <a:srgbClr val="6B7785"/>
                </a:solidFill>
                <a:latin typeface="Calibri" pitchFamily="34" charset="0"/>
                <a:ea typeface="Calibri" pitchFamily="34" charset="-122"/>
                <a:cs typeface="Calibri" pitchFamily="34" charset="-120"/>
              </a:rPr>
              <a:t>GROUPED BY STAGE</a:t>
            </a:r>
            <a:endParaRPr lang="en-US" sz="1000" dirty="0"/>
          </a:p>
        </p:txBody>
      </p:sp>
      <p:sp>
        <p:nvSpPr>
          <p:cNvPr id="31" name="Text 29"/>
          <p:cNvSpPr txBox="1"/>
          <p:nvPr/>
        </p:nvSpPr>
        <p:spPr>
          <a:xfrm>
            <a:off x="9098280" y="22860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42.0%</a:t>
            </a:r>
            <a:endParaRPr lang="en-US" sz="2200" dirty="0"/>
          </a:p>
        </p:txBody>
      </p:sp>
      <p:sp>
        <p:nvSpPr>
          <p:cNvPr id="32" name="Text 30"/>
          <p:cNvSpPr txBox="1"/>
          <p:nvPr/>
        </p:nvSpPr>
        <p:spPr>
          <a:xfrm>
            <a:off x="9098280" y="26517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Huffman decode</a:t>
            </a:r>
            <a:endParaRPr lang="en-US" sz="1100" dirty="0"/>
          </a:p>
        </p:txBody>
      </p:sp>
      <p:sp>
        <p:nvSpPr>
          <p:cNvPr id="33" name="Text 31"/>
          <p:cNvSpPr txBox="1"/>
          <p:nvPr/>
        </p:nvSpPr>
        <p:spPr>
          <a:xfrm>
            <a:off x="9098280" y="29718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15.7%</a:t>
            </a:r>
            <a:endParaRPr lang="en-US" sz="2200" dirty="0"/>
          </a:p>
        </p:txBody>
      </p:sp>
      <p:sp>
        <p:nvSpPr>
          <p:cNvPr id="34" name="Text 32"/>
          <p:cNvSpPr txBox="1"/>
          <p:nvPr/>
        </p:nvSpPr>
        <p:spPr>
          <a:xfrm>
            <a:off x="9098280" y="33375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Move-to-front</a:t>
            </a:r>
            <a:endParaRPr lang="en-US" sz="1100" dirty="0"/>
          </a:p>
        </p:txBody>
      </p:sp>
      <p:sp>
        <p:nvSpPr>
          <p:cNvPr id="35" name="Text 33"/>
          <p:cNvSpPr txBox="1"/>
          <p:nvPr/>
        </p:nvSpPr>
        <p:spPr>
          <a:xfrm>
            <a:off x="9098280" y="36576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15.2%</a:t>
            </a:r>
            <a:endParaRPr lang="en-US" sz="2200" dirty="0"/>
          </a:p>
        </p:txBody>
      </p:sp>
      <p:sp>
        <p:nvSpPr>
          <p:cNvPr id="36" name="Text 34"/>
          <p:cNvSpPr txBox="1"/>
          <p:nvPr/>
        </p:nvSpPr>
        <p:spPr>
          <a:xfrm>
            <a:off x="9098280" y="40233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Inverse BWT</a:t>
            </a:r>
            <a:endParaRPr lang="en-US" sz="1100" dirty="0"/>
          </a:p>
        </p:txBody>
      </p:sp>
      <p:sp>
        <p:nvSpPr>
          <p:cNvPr id="37" name="Text 35"/>
          <p:cNvSpPr txBox="1"/>
          <p:nvPr/>
        </p:nvSpPr>
        <p:spPr>
          <a:xfrm>
            <a:off x="9098280" y="43434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21.8%</a:t>
            </a:r>
            <a:endParaRPr lang="en-US" sz="2200" dirty="0"/>
          </a:p>
        </p:txBody>
      </p:sp>
      <p:sp>
        <p:nvSpPr>
          <p:cNvPr id="38" name="Text 36"/>
          <p:cNvSpPr txBox="1"/>
          <p:nvPr/>
        </p:nvSpPr>
        <p:spPr>
          <a:xfrm>
            <a:off x="9098280" y="47091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decode loop body</a:t>
            </a:r>
            <a:endParaRPr lang="en-US" sz="1100" dirty="0"/>
          </a:p>
        </p:txBody>
      </p:sp>
      <p:sp>
        <p:nvSpPr>
          <p:cNvPr id="39" name="Text 37"/>
          <p:cNvSpPr txBox="1"/>
          <p:nvPr/>
        </p:nvSpPr>
        <p:spPr>
          <a:xfrm>
            <a:off x="548640" y="5349240"/>
            <a:ext cx="11091672" cy="36576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3,185,454 Python function calls to decompress 400 KB.  That is the number to keep in your head for the next slide.</a:t>
            </a:r>
            <a:endParaRPr lang="en-US" sz="1400" dirty="0"/>
          </a:p>
        </p:txBody>
      </p:sp>
      <p:sp>
        <p:nvSpPr>
          <p:cNvPr id="40" name="Text 38"/>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41" name="Text 39"/>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THE TURNING POINT</a:t>
            </a:r>
            <a:endParaRPr lang="en-US" sz="1100" dirty="0"/>
          </a:p>
        </p:txBody>
      </p:sp>
      <p:sp>
        <p:nvSpPr>
          <p:cNvPr id="3" name="Text 1"/>
          <p:cNvSpPr txBox="1"/>
          <p:nvPr/>
        </p:nvSpPr>
        <p:spPr>
          <a:xfrm>
            <a:off x="548640" y="713232"/>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obvious diagnosis was wrong</a:t>
            </a:r>
            <a:endParaRPr lang="en-US" sz="3200" dirty="0"/>
          </a:p>
        </p:txBody>
      </p:sp>
      <p:sp>
        <p:nvSpPr>
          <p:cNvPr id="4" name="Text 2"/>
          <p:cNvSpPr txBox="1"/>
          <p:nvPr/>
        </p:nvSpPr>
        <p:spPr>
          <a:xfrm>
            <a:off x="548640" y="1444752"/>
            <a:ext cx="10515600" cy="457200"/>
          </a:xfrm>
          <a:prstGeom prst="rect">
            <a:avLst/>
          </a:prstGeom>
          <a:noFill/>
          <a:ln/>
        </p:spPr>
        <p:txBody>
          <a:bodyPr wrap="square" lIns="0" tIns="0" rIns="0" bIns="0" rtlCol="0" anchor="ctr"/>
          <a:lstStyle/>
          <a:p>
            <a:pPr indent="0" marL="0">
              <a:lnSpc>
                <a:spcPts val="1900"/>
              </a:lnSpc>
              <a:buNone/>
            </a:pPr>
            <a:r>
              <a:rPr lang="en-US" sz="1400" dirty="0">
                <a:solidFill>
                  <a:srgbClr val="AFBECD"/>
                </a:solidFill>
                <a:latin typeface="Calibri" pitchFamily="34" charset="0"/>
                <a:ea typeface="Calibri" pitchFamily="34" charset="-122"/>
                <a:cs typeface="Calibri" pitchFamily="34" charset="-120"/>
              </a:rPr>
              <a:t>find_next_symbol() walks a sorted table linearly, so everyone's first conclusion is "the scan is too deep". We almost optimized the wrong thing.</a:t>
            </a:r>
            <a:endParaRPr lang="en-US" sz="1400" dirty="0"/>
          </a:p>
        </p:txBody>
      </p:sp>
      <p:sp>
        <p:nvSpPr>
          <p:cNvPr id="5" name="Shape 3"/>
          <p:cNvSpPr/>
          <p:nvPr/>
        </p:nvSpPr>
        <p:spPr>
          <a:xfrm>
            <a:off x="548640" y="2148840"/>
            <a:ext cx="3520440" cy="1691640"/>
          </a:xfrm>
          <a:prstGeom prst="roundRect">
            <a:avLst>
              <a:gd name="adj" fmla="val 3243"/>
            </a:avLst>
          </a:prstGeom>
          <a:solidFill>
            <a:srgbClr val="2B3A4A"/>
          </a:solidFill>
          <a:ln w="9525">
            <a:solidFill>
              <a:srgbClr val="3C4E61"/>
            </a:solidFill>
            <a:prstDash val="solid"/>
          </a:ln>
        </p:spPr>
      </p:sp>
      <p:sp>
        <p:nvSpPr>
          <p:cNvPr id="6" name="Text 4"/>
          <p:cNvSpPr txBox="1"/>
          <p:nvPr/>
        </p:nvSpPr>
        <p:spPr>
          <a:xfrm>
            <a:off x="777240" y="2377440"/>
            <a:ext cx="3063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148,271</a:t>
            </a:r>
            <a:endParaRPr lang="en-US" sz="3400" dirty="0"/>
          </a:p>
        </p:txBody>
      </p:sp>
      <p:sp>
        <p:nvSpPr>
          <p:cNvPr id="7" name="Text 5"/>
          <p:cNvSpPr txBox="1"/>
          <p:nvPr/>
        </p:nvSpPr>
        <p:spPr>
          <a:xfrm>
            <a:off x="777240" y="2971800"/>
            <a:ext cx="3063240" cy="548640"/>
          </a:xfrm>
          <a:prstGeom prst="rect">
            <a:avLst/>
          </a:prstGeom>
          <a:noFill/>
          <a:ln/>
        </p:spPr>
        <p:txBody>
          <a:bodyPr wrap="square" lIns="0" tIns="0" rIns="0" bIns="0" rtlCol="0" anchor="ctr"/>
          <a:lstStyle/>
          <a:p>
            <a:pPr indent="0" marL="0">
              <a:buNone/>
            </a:pPr>
            <a:r>
              <a:rPr lang="en-US" sz="1200" dirty="0">
                <a:solidFill>
                  <a:srgbClr val="AFBECD"/>
                </a:solidFill>
                <a:latin typeface="Calibri" pitchFamily="34" charset="0"/>
                <a:ea typeface="Calibri" pitchFamily="34" charset="-122"/>
                <a:cs typeface="Calibri" pitchFamily="34" charset="-120"/>
              </a:rPr>
              <a:t>calls to find_next_symbol</a:t>
            </a:r>
            <a:endParaRPr lang="en-US" sz="1200" dirty="0"/>
          </a:p>
        </p:txBody>
      </p:sp>
      <p:sp>
        <p:nvSpPr>
          <p:cNvPr id="8" name="Shape 6"/>
          <p:cNvSpPr/>
          <p:nvPr/>
        </p:nvSpPr>
        <p:spPr>
          <a:xfrm>
            <a:off x="4343400" y="2148840"/>
            <a:ext cx="3520440" cy="1691640"/>
          </a:xfrm>
          <a:prstGeom prst="roundRect">
            <a:avLst>
              <a:gd name="adj" fmla="val 3243"/>
            </a:avLst>
          </a:prstGeom>
          <a:solidFill>
            <a:srgbClr val="2B3A4A"/>
          </a:solidFill>
          <a:ln w="9525">
            <a:solidFill>
              <a:srgbClr val="3C4E61"/>
            </a:solidFill>
            <a:prstDash val="solid"/>
          </a:ln>
        </p:spPr>
      </p:sp>
      <p:sp>
        <p:nvSpPr>
          <p:cNvPr id="9" name="Text 7"/>
          <p:cNvSpPr txBox="1"/>
          <p:nvPr/>
        </p:nvSpPr>
        <p:spPr>
          <a:xfrm>
            <a:off x="4572000" y="2377440"/>
            <a:ext cx="3063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341,601</a:t>
            </a:r>
            <a:endParaRPr lang="en-US" sz="3400" dirty="0"/>
          </a:p>
        </p:txBody>
      </p:sp>
      <p:sp>
        <p:nvSpPr>
          <p:cNvPr id="10" name="Text 8"/>
          <p:cNvSpPr txBox="1"/>
          <p:nvPr/>
        </p:nvSpPr>
        <p:spPr>
          <a:xfrm>
            <a:off x="4572000" y="2971800"/>
            <a:ext cx="3063240" cy="548640"/>
          </a:xfrm>
          <a:prstGeom prst="rect">
            <a:avLst/>
          </a:prstGeom>
          <a:noFill/>
          <a:ln/>
        </p:spPr>
        <p:txBody>
          <a:bodyPr wrap="square" lIns="0" tIns="0" rIns="0" bIns="0" rtlCol="0" anchor="ctr"/>
          <a:lstStyle/>
          <a:p>
            <a:pPr indent="0" marL="0">
              <a:buNone/>
            </a:pPr>
            <a:r>
              <a:rPr lang="en-US" sz="1200" dirty="0">
                <a:solidFill>
                  <a:srgbClr val="AFBECD"/>
                </a:solidFill>
                <a:latin typeface="Calibri" pitchFamily="34" charset="0"/>
                <a:ea typeface="Calibri" pitchFamily="34" charset="-122"/>
                <a:cs typeface="Calibri" pitchFamily="34" charset="-120"/>
              </a:rPr>
              <a:t>calls to snoopbits</a:t>
            </a:r>
            <a:endParaRPr lang="en-US" sz="1200" dirty="0"/>
          </a:p>
        </p:txBody>
      </p:sp>
      <p:sp>
        <p:nvSpPr>
          <p:cNvPr id="11" name="Shape 9"/>
          <p:cNvSpPr/>
          <p:nvPr/>
        </p:nvSpPr>
        <p:spPr>
          <a:xfrm>
            <a:off x="8138160" y="2148840"/>
            <a:ext cx="3502152" cy="1691640"/>
          </a:xfrm>
          <a:prstGeom prst="roundRect">
            <a:avLst>
              <a:gd name="adj" fmla="val 3243"/>
            </a:avLst>
          </a:prstGeom>
          <a:solidFill>
            <a:srgbClr val="E8833A"/>
          </a:solidFill>
          <a:ln w="12700">
            <a:solidFill>
              <a:srgbClr val="E8833A"/>
            </a:solidFill>
            <a:prstDash val="solid"/>
          </a:ln>
        </p:spPr>
      </p:sp>
      <p:sp>
        <p:nvSpPr>
          <p:cNvPr id="12" name="Text 10"/>
          <p:cNvSpPr txBox="1"/>
          <p:nvPr/>
        </p:nvSpPr>
        <p:spPr>
          <a:xfrm>
            <a:off x="8366760" y="2331720"/>
            <a:ext cx="3063240" cy="658368"/>
          </a:xfrm>
          <a:prstGeom prst="rect">
            <a:avLst/>
          </a:prstGeom>
          <a:noFill/>
          <a:ln/>
        </p:spPr>
        <p:txBody>
          <a:bodyPr wrap="square" lIns="0" tIns="0" rIns="0" bIns="0" rtlCol="0" anchor="ctr"/>
          <a:lstStyle/>
          <a:p>
            <a:pPr indent="0" marL="0">
              <a:buNone/>
            </a:pPr>
            <a:r>
              <a:rPr lang="en-US" sz="4200" b="1" dirty="0">
                <a:solidFill>
                  <a:srgbClr val="1B2430"/>
                </a:solidFill>
                <a:latin typeface="Cambria" pitchFamily="34" charset="0"/>
                <a:ea typeface="Cambria" pitchFamily="34" charset="-122"/>
                <a:cs typeface="Cambria" pitchFamily="34" charset="-120"/>
              </a:rPr>
              <a:t>2.3</a:t>
            </a:r>
            <a:endParaRPr lang="en-US" sz="4200" dirty="0"/>
          </a:p>
        </p:txBody>
      </p:sp>
      <p:sp>
        <p:nvSpPr>
          <p:cNvPr id="13" name="Text 11"/>
          <p:cNvSpPr txBox="1"/>
          <p:nvPr/>
        </p:nvSpPr>
        <p:spPr>
          <a:xfrm>
            <a:off x="8366760" y="3017520"/>
            <a:ext cx="3063240" cy="548640"/>
          </a:xfrm>
          <a:prstGeom prst="rect">
            <a:avLst/>
          </a:prstGeom>
          <a:noFill/>
          <a:ln/>
        </p:spPr>
        <p:txBody>
          <a:bodyPr wrap="square" lIns="0" tIns="0" rIns="0" bIns="0" rtlCol="0" anchor="ctr"/>
          <a:lstStyle/>
          <a:p>
            <a:pPr indent="0" marL="0">
              <a:buNone/>
            </a:pPr>
            <a:r>
              <a:rPr lang="en-US" sz="1200" b="1" dirty="0">
                <a:solidFill>
                  <a:srgbClr val="3A2412"/>
                </a:solidFill>
                <a:latin typeface="Calibri" pitchFamily="34" charset="0"/>
                <a:ea typeface="Calibri" pitchFamily="34" charset="-122"/>
                <a:cs typeface="Calibri" pitchFamily="34" charset="-120"/>
              </a:rPr>
              <a:t>probes per symbol — not ~250</a:t>
            </a:r>
            <a:endParaRPr lang="en-US" sz="1200" dirty="0"/>
          </a:p>
        </p:txBody>
      </p:sp>
      <p:sp>
        <p:nvSpPr>
          <p:cNvPr id="14" name="Text 12"/>
          <p:cNvSpPr txBox="1"/>
          <p:nvPr/>
        </p:nvSpPr>
        <p:spPr>
          <a:xfrm>
            <a:off x="548640" y="4069080"/>
            <a:ext cx="10881360" cy="365760"/>
          </a:xfrm>
          <a:prstGeom prst="rect">
            <a:avLst/>
          </a:prstGeom>
          <a:noFill/>
          <a:ln/>
        </p:spPr>
        <p:txBody>
          <a:bodyPr wrap="square" lIns="0" tIns="0" rIns="0" bIns="0" rtlCol="0" anchor="ctr"/>
          <a:lstStyle/>
          <a:p>
            <a:pPr indent="0" marL="0">
              <a:buNone/>
            </a:pPr>
            <a:r>
              <a:rPr lang="en-US" sz="1400" dirty="0">
                <a:solidFill>
                  <a:srgbClr val="E8EDF2"/>
                </a:solidFill>
                <a:latin typeface="Calibri" pitchFamily="34" charset="0"/>
                <a:ea typeface="Calibri" pitchFamily="34" charset="-122"/>
                <a:cs typeface="Calibri" pitchFamily="34" charset="-120"/>
              </a:rPr>
              <a:t>Why: move-to-front keeps the hot symbols on short codes, so the scan almost always exits after two probes.</a:t>
            </a:r>
            <a:endParaRPr lang="en-US" sz="1400" dirty="0"/>
          </a:p>
        </p:txBody>
      </p:sp>
      <p:sp>
        <p:nvSpPr>
          <p:cNvPr id="15" name="Shape 13"/>
          <p:cNvSpPr/>
          <p:nvPr/>
        </p:nvSpPr>
        <p:spPr>
          <a:xfrm>
            <a:off x="548640" y="4617720"/>
            <a:ext cx="11091672" cy="1325880"/>
          </a:xfrm>
          <a:prstGeom prst="roundRect">
            <a:avLst>
              <a:gd name="adj" fmla="val 4138"/>
            </a:avLst>
          </a:prstGeom>
          <a:solidFill>
            <a:srgbClr val="2B3A4A"/>
          </a:solidFill>
          <a:ln w="19050">
            <a:solidFill>
              <a:srgbClr val="2D9B8A"/>
            </a:solidFill>
            <a:prstDash val="solid"/>
          </a:ln>
        </p:spPr>
      </p:sp>
      <p:sp>
        <p:nvSpPr>
          <p:cNvPr id="16" name="Text 14"/>
          <p:cNvSpPr txBox="1"/>
          <p:nvPr/>
        </p:nvSpPr>
        <p:spPr>
          <a:xfrm>
            <a:off x="822960" y="4773168"/>
            <a:ext cx="10543032" cy="100584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Calibri" pitchFamily="34" charset="0"/>
                <a:ea typeface="Calibri" pitchFamily="34" charset="-122"/>
                <a:cs typeface="Calibri" pitchFamily="34" charset="-120"/>
              </a:rPr>
              <a:t>So the cost was never scan depth. Decoding ONE symbol cost about seven Python function calls: find_next_symbol, ~2.3 snoopbits, a readbits, and several _mask. The fix had to remove CALLS, not iterations — the opposite of what the benchmark's own source comment suggests.</a:t>
            </a:r>
            <a:endParaRPr lang="en-US" sz="1400" dirty="0"/>
          </a:p>
        </p:txBody>
      </p:sp>
      <p:sp>
        <p:nvSpPr>
          <p:cNvPr id="17" name="Text 1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Taha</a:t>
            </a:r>
            <a:endParaRPr lang="en-US" sz="1000" dirty="0"/>
          </a:p>
        </p:txBody>
      </p:sp>
      <p:sp>
        <p:nvSpPr>
          <p:cNvPr id="18" name="Text 1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OPTIMIZATION</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Five changes, all removing interpreter work</a:t>
            </a:r>
            <a:endParaRPr lang="en-US" sz="2900" dirty="0"/>
          </a:p>
        </p:txBody>
      </p:sp>
      <p:sp>
        <p:nvSpPr>
          <p:cNvPr id="4" name="Text 2"/>
          <p:cNvSpPr txBox="1"/>
          <p:nvPr/>
        </p:nvSpPr>
        <p:spPr>
          <a:xfrm>
            <a:off x="548640" y="1371600"/>
            <a:ext cx="11091672" cy="274320"/>
          </a:xfrm>
          <a:prstGeom prst="rect">
            <a:avLst/>
          </a:prstGeom>
          <a:noFill/>
          <a:ln/>
        </p:spPr>
        <p:txBody>
          <a:bodyPr wrap="square" lIns="0" tIns="0" rIns="0" bIns="0" rtlCol="0" anchor="ctr"/>
          <a:lstStyle/>
          <a:p>
            <a:pPr indent="0" marL="0">
              <a:buNone/>
            </a:pPr>
            <a:r>
              <a:rPr lang="en-US" sz="1300" dirty="0">
                <a:solidFill>
                  <a:srgbClr val="6B7785"/>
                </a:solidFill>
                <a:latin typeface="Calibri" pitchFamily="34" charset="0"/>
                <a:ea typeface="Calibri" pitchFamily="34" charset="-122"/>
                <a:cs typeface="Calibri" pitchFamily="34" charset="-120"/>
              </a:rPr>
              <a:t>Not one of these changes the algorithm. bzip2 is still bzip2; the decoded bytes are identical.</a:t>
            </a:r>
            <a:endParaRPr lang="en-US" sz="1300" dirty="0"/>
          </a:p>
        </p:txBody>
      </p:sp>
      <p:sp>
        <p:nvSpPr>
          <p:cNvPr id="5" name="Shape 3"/>
          <p:cNvSpPr/>
          <p:nvPr/>
        </p:nvSpPr>
        <p:spPr>
          <a:xfrm>
            <a:off x="548640" y="1801368"/>
            <a:ext cx="475488" cy="274320"/>
          </a:xfrm>
          <a:prstGeom prst="roundRect">
            <a:avLst>
              <a:gd name="adj" fmla="val 166667"/>
            </a:avLst>
          </a:prstGeom>
          <a:solidFill>
            <a:srgbClr val="2D9B8A"/>
          </a:solidFill>
          <a:ln w="12700">
            <a:solidFill>
              <a:srgbClr val="2D9B8A"/>
            </a:solidFill>
            <a:prstDash val="solid"/>
          </a:ln>
        </p:spPr>
      </p:sp>
      <p:sp>
        <p:nvSpPr>
          <p:cNvPr id="6" name="Text 4"/>
          <p:cNvSpPr txBox="1"/>
          <p:nvPr/>
        </p:nvSpPr>
        <p:spPr>
          <a:xfrm>
            <a:off x="548640" y="180136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O1</a:t>
            </a:r>
            <a:endParaRPr lang="en-US" sz="1200" dirty="0"/>
          </a:p>
        </p:txBody>
      </p:sp>
      <p:sp>
        <p:nvSpPr>
          <p:cNvPr id="7" name="Text 5"/>
          <p:cNvSpPr txBox="1"/>
          <p:nvPr/>
        </p:nvSpPr>
        <p:spPr>
          <a:xfrm>
            <a:off x="1207008" y="175564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Canonical Huffman decode</a:t>
            </a:r>
            <a:endParaRPr lang="en-US" sz="1400" dirty="0"/>
          </a:p>
        </p:txBody>
      </p:sp>
      <p:sp>
        <p:nvSpPr>
          <p:cNvPr id="8" name="Text 6"/>
          <p:cNvSpPr txBox="1"/>
          <p:nvPr/>
        </p:nvSpPr>
        <p:spPr>
          <a:xfrm>
            <a:off x="1207008" y="202996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The codes were already canonical, so limit/base/perm tables decode a symbol arithmetically — no table walk, no per-candidate object access.</a:t>
            </a:r>
            <a:endParaRPr lang="en-US" sz="1200" dirty="0"/>
          </a:p>
        </p:txBody>
      </p:sp>
      <p:sp>
        <p:nvSpPr>
          <p:cNvPr id="9" name="Shape 7"/>
          <p:cNvSpPr/>
          <p:nvPr/>
        </p:nvSpPr>
        <p:spPr>
          <a:xfrm>
            <a:off x="548640" y="2624328"/>
            <a:ext cx="475488" cy="274320"/>
          </a:xfrm>
          <a:prstGeom prst="roundRect">
            <a:avLst>
              <a:gd name="adj" fmla="val 166667"/>
            </a:avLst>
          </a:prstGeom>
          <a:solidFill>
            <a:srgbClr val="2D9B8A"/>
          </a:solidFill>
          <a:ln w="12700">
            <a:solidFill>
              <a:srgbClr val="2D9B8A"/>
            </a:solidFill>
            <a:prstDash val="solid"/>
          </a:ln>
        </p:spPr>
      </p:sp>
      <p:sp>
        <p:nvSpPr>
          <p:cNvPr id="10" name="Text 8"/>
          <p:cNvSpPr txBox="1"/>
          <p:nvPr/>
        </p:nvSpPr>
        <p:spPr>
          <a:xfrm>
            <a:off x="548640" y="262432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O2</a:t>
            </a:r>
            <a:endParaRPr lang="en-US" sz="1200" dirty="0"/>
          </a:p>
        </p:txBody>
      </p:sp>
      <p:sp>
        <p:nvSpPr>
          <p:cNvPr id="11" name="Text 9"/>
          <p:cNvSpPr txBox="1"/>
          <p:nvPr/>
        </p:nvSpPr>
        <p:spPr>
          <a:xfrm>
            <a:off x="1207008" y="257860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Inlined bit reader</a:t>
            </a:r>
            <a:endParaRPr lang="en-US" sz="1400" dirty="0"/>
          </a:p>
        </p:txBody>
      </p:sp>
      <p:sp>
        <p:nvSpPr>
          <p:cNvPr id="12" name="Text 10"/>
          <p:cNvSpPr txBox="1"/>
          <p:nvPr/>
        </p:nvSpPr>
        <p:spPr>
          <a:xfrm>
            <a:off x="1207008" y="285292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Whole file read once; the bit cursor lives in local variables inside the hot loop. Decoding a symbol now makes zero function calls.</a:t>
            </a:r>
            <a:endParaRPr lang="en-US" sz="1200" dirty="0"/>
          </a:p>
        </p:txBody>
      </p:sp>
      <p:sp>
        <p:nvSpPr>
          <p:cNvPr id="13" name="Shape 11"/>
          <p:cNvSpPr/>
          <p:nvPr/>
        </p:nvSpPr>
        <p:spPr>
          <a:xfrm>
            <a:off x="548640" y="3447288"/>
            <a:ext cx="475488" cy="274320"/>
          </a:xfrm>
          <a:prstGeom prst="roundRect">
            <a:avLst>
              <a:gd name="adj" fmla="val 166667"/>
            </a:avLst>
          </a:prstGeom>
          <a:solidFill>
            <a:srgbClr val="6B7785"/>
          </a:solidFill>
          <a:ln w="12700">
            <a:solidFill>
              <a:srgbClr val="6B7785"/>
            </a:solidFill>
            <a:prstDash val="solid"/>
          </a:ln>
        </p:spPr>
      </p:sp>
      <p:sp>
        <p:nvSpPr>
          <p:cNvPr id="14" name="Text 12"/>
          <p:cNvSpPr txBox="1"/>
          <p:nvPr/>
        </p:nvSpPr>
        <p:spPr>
          <a:xfrm>
            <a:off x="548640" y="344728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O3</a:t>
            </a:r>
            <a:endParaRPr lang="en-US" sz="1200" dirty="0"/>
          </a:p>
        </p:txBody>
      </p:sp>
      <p:sp>
        <p:nvSpPr>
          <p:cNvPr id="15" name="Text 13"/>
          <p:cNvSpPr txBox="1"/>
          <p:nvPr/>
        </p:nvSpPr>
        <p:spPr>
          <a:xfrm>
            <a:off x="1207008" y="340156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Inverse BWT</a:t>
            </a:r>
            <a:endParaRPr lang="en-US" sz="1400" dirty="0"/>
          </a:p>
        </p:txBody>
      </p:sp>
      <p:sp>
        <p:nvSpPr>
          <p:cNvPr id="16" name="Text 14"/>
          <p:cNvSpPr txBox="1"/>
          <p:nvPr/>
        </p:nvSpPr>
        <p:spPr>
          <a:xfrm>
            <a:off x="1207008" y="367588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256-bin histogram + prefix sum replaces sorted(L) and 256 find() scans; output written into a preallocated bytearray.</a:t>
            </a:r>
            <a:endParaRPr lang="en-US" sz="1200" dirty="0"/>
          </a:p>
        </p:txBody>
      </p:sp>
      <p:sp>
        <p:nvSpPr>
          <p:cNvPr id="17" name="Shape 15"/>
          <p:cNvSpPr/>
          <p:nvPr/>
        </p:nvSpPr>
        <p:spPr>
          <a:xfrm>
            <a:off x="548640" y="4270248"/>
            <a:ext cx="475488" cy="274320"/>
          </a:xfrm>
          <a:prstGeom prst="roundRect">
            <a:avLst>
              <a:gd name="adj" fmla="val 166667"/>
            </a:avLst>
          </a:prstGeom>
          <a:solidFill>
            <a:srgbClr val="6B7785"/>
          </a:solidFill>
          <a:ln w="12700">
            <a:solidFill>
              <a:srgbClr val="6B7785"/>
            </a:solidFill>
            <a:prstDash val="solid"/>
          </a:ln>
        </p:spPr>
      </p:sp>
      <p:sp>
        <p:nvSpPr>
          <p:cNvPr id="18" name="Text 16"/>
          <p:cNvSpPr txBox="1"/>
          <p:nvPr/>
        </p:nvSpPr>
        <p:spPr>
          <a:xfrm>
            <a:off x="548640" y="427024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O4</a:t>
            </a:r>
            <a:endParaRPr lang="en-US" sz="1200" dirty="0"/>
          </a:p>
        </p:txBody>
      </p:sp>
      <p:sp>
        <p:nvSpPr>
          <p:cNvPr id="19" name="Text 17"/>
          <p:cNvSpPr txBox="1"/>
          <p:nvPr/>
        </p:nvSpPr>
        <p:spPr>
          <a:xfrm>
            <a:off x="1207008" y="422452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Move-to-front</a:t>
            </a:r>
            <a:endParaRPr lang="en-US" sz="1400" dirty="0"/>
          </a:p>
        </p:txBody>
      </p:sp>
      <p:sp>
        <p:nvSpPr>
          <p:cNvPr id="20" name="Text 18"/>
          <p:cNvSpPr txBox="1"/>
          <p:nvPr/>
        </p:nvSpPr>
        <p:spPr>
          <a:xfrm>
            <a:off x="1207008" y="449884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list.pop + list.insert is one C-level memmove, replacing three slices and two concatenations per symbol.</a:t>
            </a:r>
            <a:endParaRPr lang="en-US" sz="1200" dirty="0"/>
          </a:p>
        </p:txBody>
      </p:sp>
      <p:sp>
        <p:nvSpPr>
          <p:cNvPr id="21" name="Shape 19"/>
          <p:cNvSpPr/>
          <p:nvPr/>
        </p:nvSpPr>
        <p:spPr>
          <a:xfrm>
            <a:off x="548640" y="5093208"/>
            <a:ext cx="475488" cy="274320"/>
          </a:xfrm>
          <a:prstGeom prst="roundRect">
            <a:avLst>
              <a:gd name="adj" fmla="val 166667"/>
            </a:avLst>
          </a:prstGeom>
          <a:solidFill>
            <a:srgbClr val="6B7785"/>
          </a:solidFill>
          <a:ln w="12700">
            <a:solidFill>
              <a:srgbClr val="6B7785"/>
            </a:solidFill>
            <a:prstDash val="solid"/>
          </a:ln>
        </p:spPr>
      </p:sp>
      <p:sp>
        <p:nvSpPr>
          <p:cNvPr id="22" name="Text 20"/>
          <p:cNvSpPr txBox="1"/>
          <p:nvPr/>
        </p:nvSpPr>
        <p:spPr>
          <a:xfrm>
            <a:off x="548640" y="509320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O5</a:t>
            </a:r>
            <a:endParaRPr lang="en-US" sz="1200" dirty="0"/>
          </a:p>
        </p:txBody>
      </p:sp>
      <p:sp>
        <p:nvSpPr>
          <p:cNvPr id="23" name="Text 21"/>
          <p:cNvSpPr txBox="1"/>
          <p:nvPr/>
        </p:nvSpPr>
        <p:spPr>
          <a:xfrm>
            <a:off x="1207008" y="504748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Output assembly</a:t>
            </a:r>
            <a:endParaRPr lang="en-US" sz="1400" dirty="0"/>
          </a:p>
        </p:txBody>
      </p:sp>
      <p:sp>
        <p:nvSpPr>
          <p:cNvPr id="24" name="Text 22"/>
          <p:cNvSpPr txBox="1"/>
          <p:nvPr/>
        </p:nvSpPr>
        <p:spPr>
          <a:xfrm>
            <a:off x="1207008" y="532180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One bytearray instead of ~767,000 one-byte bytes objects joined at the end.</a:t>
            </a:r>
            <a:endParaRPr lang="en-US" sz="1200" dirty="0"/>
          </a:p>
        </p:txBody>
      </p:sp>
      <p:sp>
        <p:nvSpPr>
          <p:cNvPr id="25" name="Text 23"/>
          <p:cNvSpPr txBox="1"/>
          <p:nvPr/>
        </p:nvSpPr>
        <p:spPr>
          <a:xfrm>
            <a:off x="548640" y="5870448"/>
            <a:ext cx="11091672" cy="411480"/>
          </a:xfrm>
          <a:prstGeom prst="rect">
            <a:avLst/>
          </a:prstGeom>
          <a:noFill/>
          <a:ln/>
        </p:spPr>
        <p:txBody>
          <a:bodyPr wrap="square" lIns="0" tIns="0" rIns="0" bIns="0" rtlCol="0" anchor="ctr"/>
          <a:lstStyle/>
          <a:p>
            <a:pPr indent="0" marL="0">
              <a:buNone/>
            </a:pPr>
            <a:r>
              <a:rPr lang="en-US" sz="1200" i="1" dirty="0">
                <a:solidFill>
                  <a:srgbClr val="2D9B8A"/>
                </a:solidFill>
                <a:latin typeface="Calibri" pitchFamily="34" charset="0"/>
                <a:ea typeface="Calibri" pitchFamily="34" charset="-122"/>
                <a:cs typeface="Calibri" pitchFamily="34" charset="-120"/>
              </a:rPr>
              <a:t>O1 and O2 cannot be separated in measurement: the canonical decoder is what makes inlining possible, and the inlining is what turns it into wall-clock time.</a:t>
            </a:r>
            <a:endParaRPr lang="en-US" sz="1200" dirty="0"/>
          </a:p>
        </p:txBody>
      </p:sp>
      <p:sp>
        <p:nvSpPr>
          <p:cNvPr id="26" name="Text 24"/>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27" name="Text 25"/>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2D9B8A"/>
                </a:solidFill>
                <a:latin typeface="Calibri" pitchFamily="34" charset="0"/>
                <a:ea typeface="Calibri" pitchFamily="34" charset="-122"/>
                <a:cs typeface="Calibri" pitchFamily="34" charset="-120"/>
              </a:rPr>
              <a:t>BENCHMARK 1  ·  RESULT</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2.51× faster — and the counters say why</a:t>
            </a:r>
            <a:endParaRPr lang="en-US" sz="2900" dirty="0"/>
          </a:p>
        </p:txBody>
      </p:sp>
      <p:sp>
        <p:nvSpPr>
          <p:cNvPr id="4" name="Text 2"/>
          <p:cNvSpPr txBox="1"/>
          <p:nvPr/>
        </p:nvSpPr>
        <p:spPr>
          <a:xfrm>
            <a:off x="548640" y="1371600"/>
            <a:ext cx="2377440" cy="658368"/>
          </a:xfrm>
          <a:prstGeom prst="rect">
            <a:avLst/>
          </a:prstGeom>
          <a:noFill/>
          <a:ln/>
        </p:spPr>
        <p:txBody>
          <a:bodyPr wrap="square" lIns="0" tIns="0" rIns="0" bIns="0" rtlCol="0" anchor="ctr"/>
          <a:lstStyle/>
          <a:p>
            <a:pPr algn="ctr" indent="0" marL="0">
              <a:buNone/>
            </a:pPr>
            <a:r>
              <a:rPr lang="en-US" sz="4000" b="1" dirty="0">
                <a:solidFill>
                  <a:srgbClr val="E8833A"/>
                </a:solidFill>
                <a:latin typeface="Cambria" pitchFamily="34" charset="0"/>
                <a:ea typeface="Cambria" pitchFamily="34" charset="-122"/>
                <a:cs typeface="Cambria" pitchFamily="34" charset="-120"/>
              </a:rPr>
              <a:t>1115 ms</a:t>
            </a:r>
            <a:endParaRPr lang="en-US" sz="4000" dirty="0"/>
          </a:p>
        </p:txBody>
      </p:sp>
      <p:sp>
        <p:nvSpPr>
          <p:cNvPr id="5" name="Text 3"/>
          <p:cNvSpPr txBox="1"/>
          <p:nvPr/>
        </p:nvSpPr>
        <p:spPr>
          <a:xfrm>
            <a:off x="548640" y="202996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baseline</a:t>
            </a:r>
            <a:endParaRPr lang="en-US" sz="1100" dirty="0"/>
          </a:p>
        </p:txBody>
      </p:sp>
      <p:sp>
        <p:nvSpPr>
          <p:cNvPr id="6" name="Shape 4"/>
          <p:cNvSpPr/>
          <p:nvPr/>
        </p:nvSpPr>
        <p:spPr>
          <a:xfrm>
            <a:off x="3063240" y="1691640"/>
            <a:ext cx="502920" cy="0"/>
          </a:xfrm>
          <a:prstGeom prst="line">
            <a:avLst/>
          </a:prstGeom>
          <a:noFill/>
          <a:ln w="22225">
            <a:solidFill>
              <a:srgbClr val="6B7785"/>
            </a:solidFill>
            <a:prstDash val="solid"/>
            <a:tailEnd type="triangle"/>
          </a:ln>
        </p:spPr>
      </p:sp>
      <p:sp>
        <p:nvSpPr>
          <p:cNvPr id="7" name="Text 5"/>
          <p:cNvSpPr txBox="1"/>
          <p:nvPr/>
        </p:nvSpPr>
        <p:spPr>
          <a:xfrm>
            <a:off x="3657600" y="1371600"/>
            <a:ext cx="2377440" cy="658368"/>
          </a:xfrm>
          <a:prstGeom prst="rect">
            <a:avLst/>
          </a:prstGeom>
          <a:noFill/>
          <a:ln/>
        </p:spPr>
        <p:txBody>
          <a:bodyPr wrap="square" lIns="0" tIns="0" rIns="0" bIns="0" rtlCol="0" anchor="ctr"/>
          <a:lstStyle/>
          <a:p>
            <a:pPr algn="ctr" indent="0" marL="0">
              <a:buNone/>
            </a:pPr>
            <a:r>
              <a:rPr lang="en-US" sz="4000" b="1" dirty="0">
                <a:solidFill>
                  <a:srgbClr val="2D9B8A"/>
                </a:solidFill>
                <a:latin typeface="Cambria" pitchFamily="34" charset="0"/>
                <a:ea typeface="Cambria" pitchFamily="34" charset="-122"/>
                <a:cs typeface="Cambria" pitchFamily="34" charset="-120"/>
              </a:rPr>
              <a:t>445 ms</a:t>
            </a:r>
            <a:endParaRPr lang="en-US" sz="4000" dirty="0"/>
          </a:p>
        </p:txBody>
      </p:sp>
      <p:sp>
        <p:nvSpPr>
          <p:cNvPr id="8" name="Text 6"/>
          <p:cNvSpPr txBox="1"/>
          <p:nvPr/>
        </p:nvSpPr>
        <p:spPr>
          <a:xfrm>
            <a:off x="3657600" y="202996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optimized</a:t>
            </a:r>
            <a:endParaRPr lang="en-US" sz="1100" dirty="0"/>
          </a:p>
        </p:txBody>
      </p:sp>
      <p:sp>
        <p:nvSpPr>
          <p:cNvPr id="9" name="Shape 7"/>
          <p:cNvSpPr/>
          <p:nvPr/>
        </p:nvSpPr>
        <p:spPr>
          <a:xfrm>
            <a:off x="6400800" y="1325880"/>
            <a:ext cx="2377440" cy="960120"/>
          </a:xfrm>
          <a:prstGeom prst="roundRect">
            <a:avLst>
              <a:gd name="adj" fmla="val 5714"/>
            </a:avLst>
          </a:prstGeom>
          <a:solidFill>
            <a:srgbClr val="2D9B8A"/>
          </a:solidFill>
          <a:ln w="12700">
            <a:solidFill>
              <a:srgbClr val="2D9B8A"/>
            </a:solidFill>
            <a:prstDash val="solid"/>
          </a:ln>
        </p:spPr>
      </p:sp>
      <p:sp>
        <p:nvSpPr>
          <p:cNvPr id="10" name="Text 8"/>
          <p:cNvSpPr txBox="1"/>
          <p:nvPr/>
        </p:nvSpPr>
        <p:spPr>
          <a:xfrm>
            <a:off x="6400800" y="1389888"/>
            <a:ext cx="2377440" cy="54864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2.51×</a:t>
            </a:r>
            <a:endParaRPr lang="en-US" sz="3200" dirty="0"/>
          </a:p>
        </p:txBody>
      </p:sp>
      <p:sp>
        <p:nvSpPr>
          <p:cNvPr id="11" name="Text 9"/>
          <p:cNvSpPr txBox="1"/>
          <p:nvPr/>
        </p:nvSpPr>
        <p:spPr>
          <a:xfrm>
            <a:off x="6400800" y="1920240"/>
            <a:ext cx="2377440" cy="274320"/>
          </a:xfrm>
          <a:prstGeom prst="rect">
            <a:avLst/>
          </a:prstGeom>
          <a:noFill/>
          <a:ln/>
        </p:spPr>
        <p:txBody>
          <a:bodyPr wrap="square" lIns="0" tIns="0" rIns="0" bIns="0" rtlCol="0" anchor="ctr"/>
          <a:lstStyle/>
          <a:p>
            <a:pPr algn="ctr" indent="0" marL="0">
              <a:buNone/>
            </a:pPr>
            <a:r>
              <a:rPr lang="en-US" sz="1100" dirty="0">
                <a:solidFill>
                  <a:srgbClr val="D6F0EA"/>
                </a:solidFill>
                <a:latin typeface="Calibri" pitchFamily="34" charset="0"/>
                <a:ea typeface="Calibri" pitchFamily="34" charset="-122"/>
                <a:cs typeface="Calibri" pitchFamily="34" charset="-120"/>
              </a:rPr>
              <a:t>60.1% cut  ·  t = 676</a:t>
            </a:r>
            <a:endParaRPr lang="en-US" sz="1100" dirty="0"/>
          </a:p>
        </p:txBody>
      </p:sp>
      <p:sp>
        <p:nvSpPr>
          <p:cNvPr id="12" name="Text 10"/>
          <p:cNvSpPr txBox="1"/>
          <p:nvPr/>
        </p:nvSpPr>
        <p:spPr>
          <a:xfrm>
            <a:off x="9098280" y="1371600"/>
            <a:ext cx="2560320" cy="914400"/>
          </a:xfrm>
          <a:prstGeom prst="rect">
            <a:avLst/>
          </a:prstGeom>
          <a:noFill/>
          <a:ln/>
        </p:spPr>
        <p:txBody>
          <a:bodyPr wrap="square" lIns="0" tIns="0" rIns="0" bIns="0" rtlCol="0" anchor="ctr"/>
          <a:lstStyle/>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pyperf --rigorous</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inside the QEMU guest</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pinned with taskset</a:t>
            </a:r>
            <a:endParaRPr lang="en-US" sz="1200" dirty="0"/>
          </a:p>
        </p:txBody>
      </p:sp>
      <p:sp>
        <p:nvSpPr>
          <p:cNvPr id="13" name="Text 11"/>
          <p:cNvSpPr txBox="1"/>
          <p:nvPr/>
        </p:nvSpPr>
        <p:spPr>
          <a:xfrm>
            <a:off x="548640" y="2697480"/>
            <a:ext cx="3017520" cy="274320"/>
          </a:xfrm>
          <a:prstGeom prst="rect">
            <a:avLst/>
          </a:prstGeom>
          <a:noFill/>
          <a:ln/>
        </p:spPr>
        <p:txBody>
          <a:bodyPr wrap="square" lIns="0" tIns="0" rIns="0" bIns="0" rtlCol="0" anchor="ctr"/>
          <a:lstStyle/>
          <a:p>
            <a:pPr indent="0" marL="0">
              <a:buNone/>
            </a:pPr>
            <a:endParaRPr lang="en-US" sz="1100" dirty="0"/>
          </a:p>
        </p:txBody>
      </p:sp>
      <p:sp>
        <p:nvSpPr>
          <p:cNvPr id="14" name="Text 12"/>
          <p:cNvSpPr txBox="1"/>
          <p:nvPr/>
        </p:nvSpPr>
        <p:spPr>
          <a:xfrm>
            <a:off x="3566160" y="2697480"/>
            <a:ext cx="2286000" cy="274320"/>
          </a:xfrm>
          <a:prstGeom prst="rect">
            <a:avLst/>
          </a:prstGeom>
          <a:noFill/>
          <a:ln/>
        </p:spPr>
        <p:txBody>
          <a:bodyPr wrap="square" lIns="0" tIns="0" rIns="0" bIns="0" rtlCol="0" anchor="ctr"/>
          <a:lstStyle/>
          <a:p>
            <a:pPr indent="0" marL="0">
              <a:buNone/>
            </a:pPr>
            <a:r>
              <a:rPr lang="en-US" sz="1100" b="1" dirty="0">
                <a:solidFill>
                  <a:srgbClr val="6B7785"/>
                </a:solidFill>
                <a:latin typeface="Calibri" pitchFamily="34" charset="0"/>
                <a:ea typeface="Calibri" pitchFamily="34" charset="-122"/>
                <a:cs typeface="Calibri" pitchFamily="34" charset="-120"/>
              </a:rPr>
              <a:t>baseline</a:t>
            </a:r>
            <a:endParaRPr lang="en-US" sz="1100" dirty="0"/>
          </a:p>
        </p:txBody>
      </p:sp>
      <p:sp>
        <p:nvSpPr>
          <p:cNvPr id="15" name="Text 13"/>
          <p:cNvSpPr txBox="1"/>
          <p:nvPr/>
        </p:nvSpPr>
        <p:spPr>
          <a:xfrm>
            <a:off x="5852160" y="2697480"/>
            <a:ext cx="2286000" cy="274320"/>
          </a:xfrm>
          <a:prstGeom prst="rect">
            <a:avLst/>
          </a:prstGeom>
          <a:noFill/>
          <a:ln/>
        </p:spPr>
        <p:txBody>
          <a:bodyPr wrap="square" lIns="0" tIns="0" rIns="0" bIns="0" rtlCol="0" anchor="ctr"/>
          <a:lstStyle/>
          <a:p>
            <a:pPr indent="0" marL="0">
              <a:buNone/>
            </a:pPr>
            <a:r>
              <a:rPr lang="en-US" sz="1100" b="1" dirty="0">
                <a:solidFill>
                  <a:srgbClr val="6B7785"/>
                </a:solidFill>
                <a:latin typeface="Calibri" pitchFamily="34" charset="0"/>
                <a:ea typeface="Calibri" pitchFamily="34" charset="-122"/>
                <a:cs typeface="Calibri" pitchFamily="34" charset="-120"/>
              </a:rPr>
              <a:t>optimized</a:t>
            </a:r>
            <a:endParaRPr lang="en-US" sz="1100" dirty="0"/>
          </a:p>
        </p:txBody>
      </p:sp>
      <p:sp>
        <p:nvSpPr>
          <p:cNvPr id="16" name="Text 14"/>
          <p:cNvSpPr txBox="1"/>
          <p:nvPr/>
        </p:nvSpPr>
        <p:spPr>
          <a:xfrm>
            <a:off x="8138160" y="2697480"/>
            <a:ext cx="2377440" cy="274320"/>
          </a:xfrm>
          <a:prstGeom prst="rect">
            <a:avLst/>
          </a:prstGeom>
          <a:noFill/>
          <a:ln/>
        </p:spPr>
        <p:txBody>
          <a:bodyPr wrap="square" lIns="0" tIns="0" rIns="0" bIns="0" rtlCol="0" anchor="ctr"/>
          <a:lstStyle/>
          <a:p>
            <a:pPr indent="0" marL="0">
              <a:buNone/>
            </a:pPr>
            <a:r>
              <a:rPr lang="en-US" sz="1100" b="1" dirty="0">
                <a:solidFill>
                  <a:srgbClr val="6B7785"/>
                </a:solidFill>
                <a:latin typeface="Calibri" pitchFamily="34" charset="0"/>
                <a:ea typeface="Calibri" pitchFamily="34" charset="-122"/>
                <a:cs typeface="Calibri" pitchFamily="34" charset="-120"/>
              </a:rPr>
              <a:t>ratio</a:t>
            </a:r>
            <a:endParaRPr lang="en-US" sz="1100" dirty="0"/>
          </a:p>
        </p:txBody>
      </p:sp>
      <p:sp>
        <p:nvSpPr>
          <p:cNvPr id="17" name="Text 15"/>
          <p:cNvSpPr txBox="1"/>
          <p:nvPr/>
        </p:nvSpPr>
        <p:spPr>
          <a:xfrm>
            <a:off x="548640" y="3017520"/>
            <a:ext cx="3017520" cy="310896"/>
          </a:xfrm>
          <a:prstGeom prst="rect">
            <a:avLst/>
          </a:prstGeom>
          <a:noFill/>
          <a:ln/>
        </p:spPr>
        <p:txBody>
          <a:bodyPr wrap="square" lIns="0" tIns="0" rIns="0" bIns="0" rtlCol="0" anchor="ctr"/>
          <a:lstStyle/>
          <a:p>
            <a:pPr indent="0" marL="0">
              <a:buNone/>
            </a:pPr>
            <a:r>
              <a:rPr lang="en-US" sz="1200" dirty="0">
                <a:solidFill>
                  <a:srgbClr val="1B2430"/>
                </a:solidFill>
                <a:latin typeface="Courier New" pitchFamily="34" charset="0"/>
                <a:ea typeface="Courier New" pitchFamily="34" charset="-122"/>
                <a:cs typeface="Courier New" pitchFamily="34" charset="-120"/>
              </a:rPr>
              <a:t>cycles</a:t>
            </a:r>
            <a:endParaRPr lang="en-US" sz="1200" dirty="0"/>
          </a:p>
        </p:txBody>
      </p:sp>
      <p:sp>
        <p:nvSpPr>
          <p:cNvPr id="18" name="Text 16"/>
          <p:cNvSpPr txBox="1"/>
          <p:nvPr/>
        </p:nvSpPr>
        <p:spPr>
          <a:xfrm>
            <a:off x="3566160" y="3017520"/>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8.30 G</a:t>
            </a:r>
            <a:endParaRPr lang="en-US" sz="1200" dirty="0"/>
          </a:p>
        </p:txBody>
      </p:sp>
      <p:sp>
        <p:nvSpPr>
          <p:cNvPr id="19" name="Text 17"/>
          <p:cNvSpPr txBox="1"/>
          <p:nvPr/>
        </p:nvSpPr>
        <p:spPr>
          <a:xfrm>
            <a:off x="5852160" y="3017520"/>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3.30 G</a:t>
            </a:r>
            <a:endParaRPr lang="en-US" sz="1200" dirty="0"/>
          </a:p>
        </p:txBody>
      </p:sp>
      <p:sp>
        <p:nvSpPr>
          <p:cNvPr id="20" name="Text 18"/>
          <p:cNvSpPr txBox="1"/>
          <p:nvPr/>
        </p:nvSpPr>
        <p:spPr>
          <a:xfrm>
            <a:off x="8138160" y="3017520"/>
            <a:ext cx="2377440" cy="310896"/>
          </a:xfrm>
          <a:prstGeom prst="rect">
            <a:avLst/>
          </a:prstGeom>
          <a:noFill/>
          <a:ln/>
        </p:spPr>
        <p:txBody>
          <a:bodyPr wrap="square" lIns="0" tIns="0" rIns="0" bIns="0" rtlCol="0" anchor="ctr"/>
          <a:lstStyle/>
          <a:p>
            <a:pPr indent="0" marL="0">
              <a:buNone/>
            </a:pPr>
            <a:r>
              <a:rPr lang="en-US" sz="1200" dirty="0">
                <a:solidFill>
                  <a:srgbClr val="2D9B8A"/>
                </a:solidFill>
                <a:latin typeface="Calibri" pitchFamily="34" charset="0"/>
                <a:ea typeface="Calibri" pitchFamily="34" charset="-122"/>
                <a:cs typeface="Calibri" pitchFamily="34" charset="-120"/>
              </a:rPr>
              <a:t>2.51× fewer</a:t>
            </a:r>
            <a:endParaRPr lang="en-US" sz="1200" dirty="0"/>
          </a:p>
        </p:txBody>
      </p:sp>
      <p:sp>
        <p:nvSpPr>
          <p:cNvPr id="21" name="Text 19"/>
          <p:cNvSpPr txBox="1"/>
          <p:nvPr/>
        </p:nvSpPr>
        <p:spPr>
          <a:xfrm>
            <a:off x="548640" y="3401568"/>
            <a:ext cx="3017520" cy="310896"/>
          </a:xfrm>
          <a:prstGeom prst="rect">
            <a:avLst/>
          </a:prstGeom>
          <a:noFill/>
          <a:ln/>
        </p:spPr>
        <p:txBody>
          <a:bodyPr wrap="square" lIns="0" tIns="0" rIns="0" bIns="0" rtlCol="0" anchor="ctr"/>
          <a:lstStyle/>
          <a:p>
            <a:pPr indent="0" marL="0">
              <a:buNone/>
            </a:pPr>
            <a:r>
              <a:rPr lang="en-US" sz="1200" dirty="0">
                <a:solidFill>
                  <a:srgbClr val="1B2430"/>
                </a:solidFill>
                <a:latin typeface="Courier New" pitchFamily="34" charset="0"/>
                <a:ea typeface="Courier New" pitchFamily="34" charset="-122"/>
                <a:cs typeface="Courier New" pitchFamily="34" charset="-120"/>
              </a:rPr>
              <a:t>instructions</a:t>
            </a:r>
            <a:endParaRPr lang="en-US" sz="1200" dirty="0"/>
          </a:p>
        </p:txBody>
      </p:sp>
      <p:sp>
        <p:nvSpPr>
          <p:cNvPr id="22" name="Text 20"/>
          <p:cNvSpPr txBox="1"/>
          <p:nvPr/>
        </p:nvSpPr>
        <p:spPr>
          <a:xfrm>
            <a:off x="3566160" y="3401568"/>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21.56 G</a:t>
            </a:r>
            <a:endParaRPr lang="en-US" sz="1200" dirty="0"/>
          </a:p>
        </p:txBody>
      </p:sp>
      <p:sp>
        <p:nvSpPr>
          <p:cNvPr id="23" name="Text 21"/>
          <p:cNvSpPr txBox="1"/>
          <p:nvPr/>
        </p:nvSpPr>
        <p:spPr>
          <a:xfrm>
            <a:off x="5852160" y="3401568"/>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9.49 G</a:t>
            </a:r>
            <a:endParaRPr lang="en-US" sz="1200" dirty="0"/>
          </a:p>
        </p:txBody>
      </p:sp>
      <p:sp>
        <p:nvSpPr>
          <p:cNvPr id="24" name="Text 22"/>
          <p:cNvSpPr txBox="1"/>
          <p:nvPr/>
        </p:nvSpPr>
        <p:spPr>
          <a:xfrm>
            <a:off x="8138160" y="3401568"/>
            <a:ext cx="2377440" cy="310896"/>
          </a:xfrm>
          <a:prstGeom prst="rect">
            <a:avLst/>
          </a:prstGeom>
          <a:noFill/>
          <a:ln/>
        </p:spPr>
        <p:txBody>
          <a:bodyPr wrap="square" lIns="0" tIns="0" rIns="0" bIns="0" rtlCol="0" anchor="ctr"/>
          <a:lstStyle/>
          <a:p>
            <a:pPr indent="0" marL="0">
              <a:buNone/>
            </a:pPr>
            <a:r>
              <a:rPr lang="en-US" sz="1200" dirty="0">
                <a:solidFill>
                  <a:srgbClr val="2D9B8A"/>
                </a:solidFill>
                <a:latin typeface="Calibri" pitchFamily="34" charset="0"/>
                <a:ea typeface="Calibri" pitchFamily="34" charset="-122"/>
                <a:cs typeface="Calibri" pitchFamily="34" charset="-120"/>
              </a:rPr>
              <a:t>2.27× fewer</a:t>
            </a:r>
            <a:endParaRPr lang="en-US" sz="1200" dirty="0"/>
          </a:p>
        </p:txBody>
      </p:sp>
      <p:sp>
        <p:nvSpPr>
          <p:cNvPr id="25" name="Shape 23"/>
          <p:cNvSpPr/>
          <p:nvPr/>
        </p:nvSpPr>
        <p:spPr>
          <a:xfrm>
            <a:off x="457200" y="3749040"/>
            <a:ext cx="10149840" cy="365760"/>
          </a:xfrm>
          <a:prstGeom prst="rect">
            <a:avLst/>
          </a:prstGeom>
          <a:solidFill>
            <a:srgbClr val="FDF3EC"/>
          </a:solidFill>
          <a:ln w="12700">
            <a:solidFill>
              <a:srgbClr val="FDF3EC"/>
            </a:solidFill>
            <a:prstDash val="solid"/>
          </a:ln>
        </p:spPr>
      </p:sp>
      <p:sp>
        <p:nvSpPr>
          <p:cNvPr id="26" name="Text 24"/>
          <p:cNvSpPr txBox="1"/>
          <p:nvPr/>
        </p:nvSpPr>
        <p:spPr>
          <a:xfrm>
            <a:off x="548640" y="3785616"/>
            <a:ext cx="3017520" cy="310896"/>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IPC</a:t>
            </a:r>
            <a:endParaRPr lang="en-US" sz="1200" dirty="0"/>
          </a:p>
        </p:txBody>
      </p:sp>
      <p:sp>
        <p:nvSpPr>
          <p:cNvPr id="27" name="Text 25"/>
          <p:cNvSpPr txBox="1"/>
          <p:nvPr/>
        </p:nvSpPr>
        <p:spPr>
          <a:xfrm>
            <a:off x="3566160" y="3785616"/>
            <a:ext cx="2286000" cy="310896"/>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2.60</a:t>
            </a:r>
            <a:endParaRPr lang="en-US" sz="1200" dirty="0"/>
          </a:p>
        </p:txBody>
      </p:sp>
      <p:sp>
        <p:nvSpPr>
          <p:cNvPr id="28" name="Text 26"/>
          <p:cNvSpPr txBox="1"/>
          <p:nvPr/>
        </p:nvSpPr>
        <p:spPr>
          <a:xfrm>
            <a:off x="5852160" y="3785616"/>
            <a:ext cx="2286000" cy="310896"/>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2.87</a:t>
            </a:r>
            <a:endParaRPr lang="en-US" sz="1200" dirty="0"/>
          </a:p>
        </p:txBody>
      </p:sp>
      <p:sp>
        <p:nvSpPr>
          <p:cNvPr id="29" name="Text 27"/>
          <p:cNvSpPr txBox="1"/>
          <p:nvPr/>
        </p:nvSpPr>
        <p:spPr>
          <a:xfrm>
            <a:off x="8138160" y="3785616"/>
            <a:ext cx="2377440" cy="310896"/>
          </a:xfrm>
          <a:prstGeom prst="rect">
            <a:avLst/>
          </a:prstGeom>
          <a:noFill/>
          <a:ln/>
        </p:spPr>
        <p:txBody>
          <a:bodyPr wrap="square" lIns="0" tIns="0" rIns="0" bIns="0" rtlCol="0" anchor="ctr"/>
          <a:lstStyle/>
          <a:p>
            <a:pPr indent="0" marL="0">
              <a:buNone/>
            </a:pPr>
            <a:r>
              <a:rPr lang="en-US" sz="1200" b="1" dirty="0">
                <a:solidFill>
                  <a:srgbClr val="2D9B8A"/>
                </a:solidFill>
                <a:latin typeface="Calibri" pitchFamily="34" charset="0"/>
                <a:ea typeface="Calibri" pitchFamily="34" charset="-122"/>
                <a:cs typeface="Calibri" pitchFamily="34" charset="-120"/>
              </a:rPr>
              <a:t>+10% only</a:t>
            </a:r>
            <a:endParaRPr lang="en-US" sz="1200" dirty="0"/>
          </a:p>
        </p:txBody>
      </p:sp>
      <p:sp>
        <p:nvSpPr>
          <p:cNvPr id="30" name="Text 28"/>
          <p:cNvSpPr txBox="1"/>
          <p:nvPr/>
        </p:nvSpPr>
        <p:spPr>
          <a:xfrm>
            <a:off x="548640" y="4169664"/>
            <a:ext cx="3017520" cy="310896"/>
          </a:xfrm>
          <a:prstGeom prst="rect">
            <a:avLst/>
          </a:prstGeom>
          <a:noFill/>
          <a:ln/>
        </p:spPr>
        <p:txBody>
          <a:bodyPr wrap="square" lIns="0" tIns="0" rIns="0" bIns="0" rtlCol="0" anchor="ctr"/>
          <a:lstStyle/>
          <a:p>
            <a:pPr indent="0" marL="0">
              <a:buNone/>
            </a:pPr>
            <a:r>
              <a:rPr lang="en-US" sz="1200" dirty="0">
                <a:solidFill>
                  <a:srgbClr val="1B2430"/>
                </a:solidFill>
                <a:latin typeface="Courier New" pitchFamily="34" charset="0"/>
                <a:ea typeface="Courier New" pitchFamily="34" charset="-122"/>
                <a:cs typeface="Courier New" pitchFamily="34" charset="-120"/>
              </a:rPr>
              <a:t>cache-misses</a:t>
            </a:r>
            <a:endParaRPr lang="en-US" sz="1200" dirty="0"/>
          </a:p>
        </p:txBody>
      </p:sp>
      <p:sp>
        <p:nvSpPr>
          <p:cNvPr id="31" name="Text 29"/>
          <p:cNvSpPr txBox="1"/>
          <p:nvPr/>
        </p:nvSpPr>
        <p:spPr>
          <a:xfrm>
            <a:off x="3566160" y="4169664"/>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2.78 M</a:t>
            </a:r>
            <a:endParaRPr lang="en-US" sz="1200" dirty="0"/>
          </a:p>
        </p:txBody>
      </p:sp>
      <p:sp>
        <p:nvSpPr>
          <p:cNvPr id="32" name="Text 30"/>
          <p:cNvSpPr txBox="1"/>
          <p:nvPr/>
        </p:nvSpPr>
        <p:spPr>
          <a:xfrm>
            <a:off x="5852160" y="4169664"/>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526 K</a:t>
            </a:r>
            <a:endParaRPr lang="en-US" sz="1200" dirty="0"/>
          </a:p>
        </p:txBody>
      </p:sp>
      <p:sp>
        <p:nvSpPr>
          <p:cNvPr id="33" name="Text 31"/>
          <p:cNvSpPr txBox="1"/>
          <p:nvPr/>
        </p:nvSpPr>
        <p:spPr>
          <a:xfrm>
            <a:off x="8138160" y="4169664"/>
            <a:ext cx="2377440" cy="310896"/>
          </a:xfrm>
          <a:prstGeom prst="rect">
            <a:avLst/>
          </a:prstGeom>
          <a:noFill/>
          <a:ln/>
        </p:spPr>
        <p:txBody>
          <a:bodyPr wrap="square" lIns="0" tIns="0" rIns="0" bIns="0" rtlCol="0" anchor="ctr"/>
          <a:lstStyle/>
          <a:p>
            <a:pPr indent="0" marL="0">
              <a:buNone/>
            </a:pPr>
            <a:r>
              <a:rPr lang="en-US" sz="1200" dirty="0">
                <a:solidFill>
                  <a:srgbClr val="2D9B8A"/>
                </a:solidFill>
                <a:latin typeface="Calibri" pitchFamily="34" charset="0"/>
                <a:ea typeface="Calibri" pitchFamily="34" charset="-122"/>
                <a:cs typeface="Calibri" pitchFamily="34" charset="-120"/>
              </a:rPr>
              <a:t>5.3× fewer</a:t>
            </a:r>
            <a:endParaRPr lang="en-US" sz="1200" dirty="0"/>
          </a:p>
        </p:txBody>
      </p:sp>
      <p:sp>
        <p:nvSpPr>
          <p:cNvPr id="34" name="Shape 32"/>
          <p:cNvSpPr/>
          <p:nvPr/>
        </p:nvSpPr>
        <p:spPr>
          <a:xfrm>
            <a:off x="548640" y="4800600"/>
            <a:ext cx="11091672" cy="1188720"/>
          </a:xfrm>
          <a:prstGeom prst="roundRect">
            <a:avLst>
              <a:gd name="adj" fmla="val 4615"/>
            </a:avLst>
          </a:prstGeom>
          <a:solidFill>
            <a:srgbClr val="1B2430"/>
          </a:solidFill>
          <a:ln w="12700">
            <a:solidFill>
              <a:srgbClr val="1B2430"/>
            </a:solidFill>
            <a:prstDash val="solid"/>
          </a:ln>
        </p:spPr>
      </p:sp>
      <p:sp>
        <p:nvSpPr>
          <p:cNvPr id="35" name="Text 33"/>
          <p:cNvSpPr txBox="1"/>
          <p:nvPr/>
        </p:nvSpPr>
        <p:spPr>
          <a:xfrm>
            <a:off x="822960" y="4937760"/>
            <a:ext cx="10543032" cy="292608"/>
          </a:xfrm>
          <a:prstGeom prst="rect">
            <a:avLst/>
          </a:prstGeom>
          <a:noFill/>
          <a:ln/>
        </p:spPr>
        <p:txBody>
          <a:bodyPr wrap="square" lIns="0" tIns="0" rIns="0" bIns="0" rtlCol="0" anchor="ctr"/>
          <a:lstStyle/>
          <a:p>
            <a:pPr indent="0" marL="0">
              <a:buNone/>
            </a:pPr>
            <a:r>
              <a:rPr lang="en-US" sz="1500" b="1" dirty="0">
                <a:solidFill>
                  <a:srgbClr val="E8833A"/>
                </a:solidFill>
                <a:latin typeface="Calibri" pitchFamily="34" charset="0"/>
                <a:ea typeface="Calibri" pitchFamily="34" charset="-122"/>
                <a:cs typeface="Calibri" pitchFamily="34" charset="-120"/>
              </a:rPr>
              <a:t>IPC barely moved. The machine did not get smarter — it was asked to do less.</a:t>
            </a:r>
            <a:endParaRPr lang="en-US" sz="1500" dirty="0"/>
          </a:p>
        </p:txBody>
      </p:sp>
      <p:sp>
        <p:nvSpPr>
          <p:cNvPr id="36" name="Text 34"/>
          <p:cNvSpPr txBox="1"/>
          <p:nvPr/>
        </p:nvSpPr>
        <p:spPr>
          <a:xfrm>
            <a:off x="822960" y="5257800"/>
            <a:ext cx="10543032" cy="640080"/>
          </a:xfrm>
          <a:prstGeom prst="rect">
            <a:avLst/>
          </a:prstGeom>
          <a:noFill/>
          <a:ln/>
        </p:spPr>
        <p:txBody>
          <a:bodyPr wrap="square" lIns="0" tIns="0" rIns="0" bIns="0" rtlCol="0" anchor="ctr"/>
          <a:lstStyle/>
          <a:p>
            <a:pPr indent="0" marL="0">
              <a:lnSpc>
                <a:spcPts val="1700"/>
              </a:lnSpc>
              <a:buNone/>
            </a:pPr>
            <a:r>
              <a:rPr lang="en-US" sz="1250" dirty="0">
                <a:solidFill>
                  <a:srgbClr val="E8EDF2"/>
                </a:solidFill>
                <a:latin typeface="Calibri" pitchFamily="34" charset="0"/>
                <a:ea typeface="Calibri" pitchFamily="34" charset="-122"/>
                <a:cs typeface="Calibri" pitchFamily="34" charset="-120"/>
              </a:rPr>
              <a:t>Cycles fell 2.51x and runtime fell 2.51x — the counters and the stopwatch agree. Instructions fell 2.27x while IPC gained only 10%, so the speedup is 2.27 × 1.10 = 2.50: overwhelmingly execute-fewer-instructions. The win came from deleting interpreter work, not microarchitectural cleverness.</a:t>
            </a:r>
            <a:endParaRPr lang="en-US" sz="1250" dirty="0"/>
          </a:p>
        </p:txBody>
      </p:sp>
      <p:sp>
        <p:nvSpPr>
          <p:cNvPr id="37" name="Text 3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38" name="Text 3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HARDWARE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A dataflow decoder: 20 comparators, one encoder</a:t>
            </a:r>
            <a:endParaRPr lang="en-US" sz="2900" dirty="0"/>
          </a:p>
        </p:txBody>
      </p:sp>
      <p:sp>
        <p:nvSpPr>
          <p:cNvPr id="4" name="Text 2"/>
          <p:cNvSpPr txBox="1"/>
          <p:nvPr/>
        </p:nvSpPr>
        <p:spPr>
          <a:xfrm>
            <a:off x="548640" y="1325880"/>
            <a:ext cx="6537960" cy="50292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In software, canonical decoding is a short serial loop — one iteration per extra code length. In hardware all 20 candidate lengths are evaluated at once:</a:t>
            </a:r>
            <a:endParaRPr lang="en-US" sz="1300" dirty="0"/>
          </a:p>
        </p:txBody>
      </p:sp>
      <p:sp>
        <p:nvSpPr>
          <p:cNvPr id="5" name="Shape 3"/>
          <p:cNvSpPr/>
          <p:nvPr/>
        </p:nvSpPr>
        <p:spPr>
          <a:xfrm>
            <a:off x="548640" y="1901952"/>
            <a:ext cx="6537960" cy="1371600"/>
          </a:xfrm>
          <a:prstGeom prst="roundRect">
            <a:avLst>
              <a:gd name="adj" fmla="val 3333"/>
            </a:avLst>
          </a:prstGeom>
          <a:solidFill>
            <a:srgbClr val="1B2430"/>
          </a:solidFill>
          <a:ln w="12700">
            <a:solidFill>
              <a:srgbClr val="1B2430"/>
            </a:solidFill>
            <a:prstDash val="solid"/>
          </a:ln>
        </p:spPr>
      </p:sp>
      <p:sp>
        <p:nvSpPr>
          <p:cNvPr id="6" name="Text 4"/>
          <p:cNvSpPr txBox="1"/>
          <p:nvPr/>
        </p:nvSpPr>
        <p:spPr>
          <a:xfrm>
            <a:off x="777240" y="2011680"/>
            <a:ext cx="6080760" cy="1188720"/>
          </a:xfrm>
          <a:prstGeom prst="rect">
            <a:avLst/>
          </a:prstGeom>
          <a:noFill/>
          <a:ln/>
        </p:spPr>
        <p:txBody>
          <a:bodyPr wrap="square" lIns="0" tIns="0" rIns="0" bIns="0" rtlCol="0" anchor="ctr"/>
          <a:lstStyle/>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for L in 1..20  (in parallel):</a:t>
            </a:r>
            <a:endParaRPr lang="en-US" sz="1150" dirty="0"/>
          </a:p>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    code_L = window[19 -: L]</a:t>
            </a:r>
            <a:endParaRPr lang="en-US" sz="1150" dirty="0"/>
          </a:p>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    hit_L  = code_L &lt;= limit[L]</a:t>
            </a:r>
            <a:endParaRPr lang="en-US" sz="1150" dirty="0"/>
          </a:p>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sel = lowest L with hit_L      // priority encoder</a:t>
            </a:r>
            <a:endParaRPr lang="en-US" sz="1150" dirty="0"/>
          </a:p>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sym = perm[code_sel - base[sel]]</a:t>
            </a:r>
            <a:endParaRPr lang="en-US" sz="1150" dirty="0"/>
          </a:p>
        </p:txBody>
      </p:sp>
      <p:sp>
        <p:nvSpPr>
          <p:cNvPr id="7" name="Text 5"/>
          <p:cNvSpPr txBox="1"/>
          <p:nvPr/>
        </p:nvSpPr>
        <p:spPr>
          <a:xfrm>
            <a:off x="548640" y="3401568"/>
            <a:ext cx="6537960" cy="73152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Huffman codes are prefix-free, so the SHORTEST accepting length is the unique correct one. That is what makes a priority encoder exact — no backtracking. One symbol per cycle, independent of code length.</a:t>
            </a:r>
            <a:endParaRPr lang="en-US" sz="1250" dirty="0"/>
          </a:p>
        </p:txBody>
      </p:sp>
      <p:sp>
        <p:nvSpPr>
          <p:cNvPr id="8" name="Shape 6"/>
          <p:cNvSpPr/>
          <p:nvPr/>
        </p:nvSpPr>
        <p:spPr>
          <a:xfrm>
            <a:off x="7498080" y="1325880"/>
            <a:ext cx="4142232" cy="658368"/>
          </a:xfrm>
          <a:prstGeom prst="roundRect">
            <a:avLst>
              <a:gd name="adj" fmla="val 8333"/>
            </a:avLst>
          </a:prstGeom>
          <a:solidFill>
            <a:srgbClr val="F3F6F8"/>
          </a:solidFill>
          <a:ln w="9525">
            <a:solidFill>
              <a:srgbClr val="DBE2E8"/>
            </a:solidFill>
            <a:prstDash val="solid"/>
          </a:ln>
        </p:spPr>
      </p:sp>
      <p:sp>
        <p:nvSpPr>
          <p:cNvPr id="9" name="Text 7"/>
          <p:cNvSpPr txBox="1"/>
          <p:nvPr/>
        </p:nvSpPr>
        <p:spPr>
          <a:xfrm>
            <a:off x="7726680" y="1417320"/>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bit_window</a:t>
            </a:r>
            <a:endParaRPr lang="en-US" sz="1200" dirty="0"/>
          </a:p>
        </p:txBody>
      </p:sp>
      <p:sp>
        <p:nvSpPr>
          <p:cNvPr id="10" name="Text 8"/>
          <p:cNvSpPr txBox="1"/>
          <p:nvPr/>
        </p:nvSpPr>
        <p:spPr>
          <a:xfrm>
            <a:off x="7726680" y="1673352"/>
            <a:ext cx="3657600" cy="256032"/>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64-bit, variable retire</a:t>
            </a:r>
            <a:endParaRPr lang="en-US" sz="1100" dirty="0"/>
          </a:p>
        </p:txBody>
      </p:sp>
      <p:sp>
        <p:nvSpPr>
          <p:cNvPr id="11" name="Shape 9"/>
          <p:cNvSpPr/>
          <p:nvPr/>
        </p:nvSpPr>
        <p:spPr>
          <a:xfrm>
            <a:off x="9555480" y="1984248"/>
            <a:ext cx="0" cy="137160"/>
          </a:xfrm>
          <a:prstGeom prst="line">
            <a:avLst/>
          </a:prstGeom>
          <a:noFill/>
          <a:ln w="22225">
            <a:solidFill>
              <a:srgbClr val="6B7785"/>
            </a:solidFill>
            <a:prstDash val="solid"/>
            <a:tailEnd type="triangle"/>
          </a:ln>
        </p:spPr>
      </p:sp>
      <p:sp>
        <p:nvSpPr>
          <p:cNvPr id="12" name="Shape 10"/>
          <p:cNvSpPr/>
          <p:nvPr/>
        </p:nvSpPr>
        <p:spPr>
          <a:xfrm>
            <a:off x="7498080" y="2130552"/>
            <a:ext cx="4142232" cy="658368"/>
          </a:xfrm>
          <a:prstGeom prst="roundRect">
            <a:avLst>
              <a:gd name="adj" fmla="val 8333"/>
            </a:avLst>
          </a:prstGeom>
          <a:solidFill>
            <a:srgbClr val="F3F6F8"/>
          </a:solidFill>
          <a:ln w="9525">
            <a:solidFill>
              <a:srgbClr val="DBE2E8"/>
            </a:solidFill>
            <a:prstDash val="solid"/>
          </a:ln>
        </p:spPr>
      </p:sp>
      <p:sp>
        <p:nvSpPr>
          <p:cNvPr id="13" name="Text 11"/>
          <p:cNvSpPr txBox="1"/>
          <p:nvPr/>
        </p:nvSpPr>
        <p:spPr>
          <a:xfrm>
            <a:off x="7726680" y="2221992"/>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huffman_decoder</a:t>
            </a:r>
            <a:endParaRPr lang="en-US" sz="1200" dirty="0"/>
          </a:p>
        </p:txBody>
      </p:sp>
      <p:sp>
        <p:nvSpPr>
          <p:cNvPr id="14" name="Text 12"/>
          <p:cNvSpPr txBox="1"/>
          <p:nvPr/>
        </p:nvSpPr>
        <p:spPr>
          <a:xfrm>
            <a:off x="7726680" y="2478024"/>
            <a:ext cx="3657600" cy="256032"/>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1 symbol / cycle</a:t>
            </a:r>
            <a:endParaRPr lang="en-US" sz="1100" dirty="0"/>
          </a:p>
        </p:txBody>
      </p:sp>
      <p:sp>
        <p:nvSpPr>
          <p:cNvPr id="15" name="Shape 13"/>
          <p:cNvSpPr/>
          <p:nvPr/>
        </p:nvSpPr>
        <p:spPr>
          <a:xfrm>
            <a:off x="9555480" y="2788920"/>
            <a:ext cx="0" cy="137160"/>
          </a:xfrm>
          <a:prstGeom prst="line">
            <a:avLst/>
          </a:prstGeom>
          <a:noFill/>
          <a:ln w="22225">
            <a:solidFill>
              <a:srgbClr val="6B7785"/>
            </a:solidFill>
            <a:prstDash val="solid"/>
            <a:tailEnd type="triangle"/>
          </a:ln>
        </p:spPr>
      </p:sp>
      <p:sp>
        <p:nvSpPr>
          <p:cNvPr id="16" name="Shape 14"/>
          <p:cNvSpPr/>
          <p:nvPr/>
        </p:nvSpPr>
        <p:spPr>
          <a:xfrm>
            <a:off x="7498080" y="2935224"/>
            <a:ext cx="4142232" cy="658368"/>
          </a:xfrm>
          <a:prstGeom prst="roundRect">
            <a:avLst>
              <a:gd name="adj" fmla="val 8333"/>
            </a:avLst>
          </a:prstGeom>
          <a:solidFill>
            <a:srgbClr val="F3F6F8"/>
          </a:solidFill>
          <a:ln w="9525">
            <a:solidFill>
              <a:srgbClr val="DBE2E8"/>
            </a:solidFill>
            <a:prstDash val="solid"/>
          </a:ln>
        </p:spPr>
      </p:sp>
      <p:sp>
        <p:nvSpPr>
          <p:cNvPr id="17" name="Text 15"/>
          <p:cNvSpPr txBox="1"/>
          <p:nvPr/>
        </p:nvSpPr>
        <p:spPr>
          <a:xfrm>
            <a:off x="7726680" y="3026664"/>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mtf_unit</a:t>
            </a:r>
            <a:endParaRPr lang="en-US" sz="1200" dirty="0"/>
          </a:p>
        </p:txBody>
      </p:sp>
      <p:sp>
        <p:nvSpPr>
          <p:cNvPr id="18" name="Text 16"/>
          <p:cNvSpPr txBox="1"/>
          <p:nvPr/>
        </p:nvSpPr>
        <p:spPr>
          <a:xfrm>
            <a:off x="7726680" y="3282696"/>
            <a:ext cx="3657600" cy="256032"/>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256-entry 1-cycle shift</a:t>
            </a:r>
            <a:endParaRPr lang="en-US" sz="1100" dirty="0"/>
          </a:p>
        </p:txBody>
      </p:sp>
      <p:sp>
        <p:nvSpPr>
          <p:cNvPr id="19" name="Shape 17"/>
          <p:cNvSpPr/>
          <p:nvPr/>
        </p:nvSpPr>
        <p:spPr>
          <a:xfrm>
            <a:off x="9555480" y="3593592"/>
            <a:ext cx="0" cy="137160"/>
          </a:xfrm>
          <a:prstGeom prst="line">
            <a:avLst/>
          </a:prstGeom>
          <a:noFill/>
          <a:ln w="22225">
            <a:solidFill>
              <a:srgbClr val="6B7785"/>
            </a:solidFill>
            <a:prstDash val="solid"/>
            <a:tailEnd type="triangle"/>
          </a:ln>
        </p:spPr>
      </p:sp>
      <p:sp>
        <p:nvSpPr>
          <p:cNvPr id="20" name="Shape 18"/>
          <p:cNvSpPr/>
          <p:nvPr/>
        </p:nvSpPr>
        <p:spPr>
          <a:xfrm>
            <a:off x="7498080" y="3739896"/>
            <a:ext cx="4142232" cy="658368"/>
          </a:xfrm>
          <a:prstGeom prst="roundRect">
            <a:avLst>
              <a:gd name="adj" fmla="val 8333"/>
            </a:avLst>
          </a:prstGeom>
          <a:solidFill>
            <a:srgbClr val="F3F6F8"/>
          </a:solidFill>
          <a:ln w="9525">
            <a:solidFill>
              <a:srgbClr val="DBE2E8"/>
            </a:solidFill>
            <a:prstDash val="solid"/>
          </a:ln>
        </p:spPr>
      </p:sp>
      <p:sp>
        <p:nvSpPr>
          <p:cNvPr id="21" name="Text 19"/>
          <p:cNvSpPr txBox="1"/>
          <p:nvPr/>
        </p:nvSpPr>
        <p:spPr>
          <a:xfrm>
            <a:off x="7726680" y="3831336"/>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bwt_index_builder</a:t>
            </a:r>
            <a:endParaRPr lang="en-US" sz="1200" dirty="0"/>
          </a:p>
        </p:txBody>
      </p:sp>
      <p:sp>
        <p:nvSpPr>
          <p:cNvPr id="22" name="Text 20"/>
          <p:cNvSpPr txBox="1"/>
          <p:nvPr/>
        </p:nvSpPr>
        <p:spPr>
          <a:xfrm>
            <a:off x="7726680" y="4087368"/>
            <a:ext cx="3657600" cy="256032"/>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builds T[]: 256 + 2n</a:t>
            </a:r>
            <a:endParaRPr lang="en-US" sz="1100" dirty="0"/>
          </a:p>
        </p:txBody>
      </p:sp>
      <p:sp>
        <p:nvSpPr>
          <p:cNvPr id="23" name="Shape 21"/>
          <p:cNvSpPr/>
          <p:nvPr/>
        </p:nvSpPr>
        <p:spPr>
          <a:xfrm>
            <a:off x="9555480" y="4398264"/>
            <a:ext cx="0" cy="137160"/>
          </a:xfrm>
          <a:prstGeom prst="line">
            <a:avLst/>
          </a:prstGeom>
          <a:noFill/>
          <a:ln w="22225">
            <a:solidFill>
              <a:srgbClr val="6B7785"/>
            </a:solidFill>
            <a:prstDash val="solid"/>
            <a:tailEnd type="triangle"/>
          </a:ln>
        </p:spPr>
      </p:sp>
      <p:sp>
        <p:nvSpPr>
          <p:cNvPr id="24" name="Shape 22"/>
          <p:cNvSpPr/>
          <p:nvPr/>
        </p:nvSpPr>
        <p:spPr>
          <a:xfrm>
            <a:off x="7498080" y="4544568"/>
            <a:ext cx="4142232" cy="658368"/>
          </a:xfrm>
          <a:prstGeom prst="roundRect">
            <a:avLst>
              <a:gd name="adj" fmla="val 8333"/>
            </a:avLst>
          </a:prstGeom>
          <a:solidFill>
            <a:srgbClr val="F3F6F8"/>
          </a:solidFill>
          <a:ln w="9525">
            <a:solidFill>
              <a:srgbClr val="DBE2E8"/>
            </a:solidFill>
            <a:prstDash val="solid"/>
          </a:ln>
        </p:spPr>
      </p:sp>
      <p:sp>
        <p:nvSpPr>
          <p:cNvPr id="25" name="Text 23"/>
          <p:cNvSpPr txBox="1"/>
          <p:nvPr/>
        </p:nvSpPr>
        <p:spPr>
          <a:xfrm>
            <a:off x="7726680" y="4636008"/>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bwt_reverse_engine</a:t>
            </a:r>
            <a:endParaRPr lang="en-US" sz="1200" dirty="0"/>
          </a:p>
        </p:txBody>
      </p:sp>
      <p:sp>
        <p:nvSpPr>
          <p:cNvPr id="26" name="Text 24"/>
          <p:cNvSpPr txBox="1"/>
          <p:nvPr/>
        </p:nvSpPr>
        <p:spPr>
          <a:xfrm>
            <a:off x="7726680" y="4892040"/>
            <a:ext cx="3657600" cy="256032"/>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on-chip SRAM chase</a:t>
            </a:r>
            <a:endParaRPr lang="en-US" sz="1100" dirty="0"/>
          </a:p>
        </p:txBody>
      </p:sp>
      <p:sp>
        <p:nvSpPr>
          <p:cNvPr id="27" name="Shape 25"/>
          <p:cNvSpPr/>
          <p:nvPr/>
        </p:nvSpPr>
        <p:spPr>
          <a:xfrm>
            <a:off x="548640" y="4297680"/>
            <a:ext cx="6537960" cy="1691640"/>
          </a:xfrm>
          <a:prstGeom prst="roundRect">
            <a:avLst>
              <a:gd name="adj" fmla="val 3243"/>
            </a:avLst>
          </a:prstGeom>
          <a:solidFill>
            <a:srgbClr val="F3F6F8"/>
          </a:solidFill>
          <a:ln w="9525">
            <a:solidFill>
              <a:srgbClr val="DBE2E8"/>
            </a:solidFill>
            <a:prstDash val="solid"/>
          </a:ln>
        </p:spPr>
      </p:sp>
      <p:sp>
        <p:nvSpPr>
          <p:cNvPr id="28" name="Text 26"/>
          <p:cNvSpPr txBox="1"/>
          <p:nvPr/>
        </p:nvSpPr>
        <p:spPr>
          <a:xfrm>
            <a:off x="804672" y="4434840"/>
            <a:ext cx="603504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Verified, not asserted</a:t>
            </a:r>
            <a:endParaRPr lang="en-US" sz="1300" dirty="0"/>
          </a:p>
        </p:txBody>
      </p:sp>
      <p:sp>
        <p:nvSpPr>
          <p:cNvPr id="29" name="Text 27"/>
          <p:cNvSpPr txBox="1"/>
          <p:nvPr/>
        </p:nvSpPr>
        <p:spPr>
          <a:xfrm>
            <a:off x="804672" y="4736592"/>
            <a:ext cx="6035040" cy="114300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Golden model: the RTL decision function, reimplemented in Python, decoded all 148,271 real symbols — MD5 matches</a:t>
            </a:r>
            <a:endParaRPr lang="en-US" sz="1150" dirty="0"/>
          </a:p>
          <a:p>
            <a:pPr marL="342900" indent="-342900">
              <a:lnSpc>
                <a:spcPts val="1900"/>
              </a:lnSpc>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tb_huffman_decoder checks the symbol AND the retired bit count</a:t>
            </a:r>
            <a:endParaRPr lang="en-US" sz="1150" dirty="0"/>
          </a:p>
          <a:p>
            <a:pPr marL="342900" indent="-342900">
              <a:lnSpc>
                <a:spcPts val="1900"/>
              </a:lnSpc>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Simulated under Icarus Verilog 11.0 inside the QEMU guest</a:t>
            </a:r>
            <a:endParaRPr lang="en-US" sz="1150" dirty="0"/>
          </a:p>
        </p:txBody>
      </p:sp>
      <p:sp>
        <p:nvSpPr>
          <p:cNvPr id="30" name="Text 28"/>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31" name="Text 29"/>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RAYTRACE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A recursive ray tracer, 100×100, eight objects</a:t>
            </a:r>
            <a:endParaRPr lang="en-US" sz="2900" dirty="0"/>
          </a:p>
        </p:txBody>
      </p:sp>
      <p:sp>
        <p:nvSpPr>
          <p:cNvPr id="4" name="Text 2"/>
          <p:cNvSpPr txBox="1"/>
          <p:nvPr/>
        </p:nvSpPr>
        <p:spPr>
          <a:xfrm>
            <a:off x="548640" y="1371600"/>
            <a:ext cx="6675120" cy="50292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One large sphere, six small spheres, a checkerboard plane, two point lights. Lambert diffuse plus a specular reflection, recursing to depth 3.</a:t>
            </a:r>
            <a:endParaRPr lang="en-US" sz="1400" dirty="0"/>
          </a:p>
        </p:txBody>
      </p:sp>
      <p:sp>
        <p:nvSpPr>
          <p:cNvPr id="5" name="Shape 3"/>
          <p:cNvSpPr/>
          <p:nvPr/>
        </p:nvSpPr>
        <p:spPr>
          <a:xfrm>
            <a:off x="548640" y="2011680"/>
            <a:ext cx="6675120" cy="2377440"/>
          </a:xfrm>
          <a:prstGeom prst="roundRect">
            <a:avLst>
              <a:gd name="adj" fmla="val 1923"/>
            </a:avLst>
          </a:prstGeom>
          <a:solidFill>
            <a:srgbClr val="1B2430"/>
          </a:solidFill>
          <a:ln w="12700">
            <a:solidFill>
              <a:srgbClr val="1B2430"/>
            </a:solidFill>
            <a:prstDash val="solid"/>
          </a:ln>
        </p:spPr>
      </p:sp>
      <p:sp>
        <p:nvSpPr>
          <p:cNvPr id="6" name="Text 4"/>
          <p:cNvSpPr txBox="1"/>
          <p:nvPr/>
        </p:nvSpPr>
        <p:spPr>
          <a:xfrm>
            <a:off x="822960" y="2148840"/>
            <a:ext cx="2743200" cy="256032"/>
          </a:xfrm>
          <a:prstGeom prst="rect">
            <a:avLst/>
          </a:prstGeom>
          <a:noFill/>
          <a:ln/>
        </p:spPr>
        <p:txBody>
          <a:bodyPr wrap="square" lIns="0" tIns="0" rIns="0" bIns="0" rtlCol="0" anchor="ctr"/>
          <a:lstStyle/>
          <a:p>
            <a:pPr indent="0" marL="0">
              <a:buNone/>
            </a:pPr>
            <a:r>
              <a:rPr lang="en-US" sz="1200" dirty="0">
                <a:solidFill>
                  <a:srgbClr val="8A97A6"/>
                </a:solidFill>
                <a:latin typeface="Courier New" pitchFamily="34" charset="0"/>
                <a:ea typeface="Courier New" pitchFamily="34" charset="-122"/>
                <a:cs typeface="Courier New" pitchFamily="34" charset="-120"/>
              </a:rPr>
              <a:t>per pixel:</a:t>
            </a:r>
            <a:endParaRPr lang="en-US" sz="1200" dirty="0"/>
          </a:p>
        </p:txBody>
      </p:sp>
      <p:sp>
        <p:nvSpPr>
          <p:cNvPr id="7" name="Text 5"/>
          <p:cNvSpPr txBox="1"/>
          <p:nvPr/>
        </p:nvSpPr>
        <p:spPr>
          <a:xfrm>
            <a:off x="822960" y="2450592"/>
            <a:ext cx="6126480" cy="1737360"/>
          </a:xfrm>
          <a:prstGeom prst="rect">
            <a:avLst/>
          </a:prstGeom>
          <a:noFill/>
          <a:ln/>
        </p:spPr>
        <p:txBody>
          <a:bodyPr wrap="square" lIns="0" tIns="0" rIns="0" bIns="0" rtlCol="0" anchor="ctr"/>
          <a:lstStyle/>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build primary ray          → normalized()  [sqrt]</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test against all 8 objects → nearest hit</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shade it:</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    1 reflection ray       → recurse</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    2 lights × shadow rays → 8 objects each</a:t>
            </a:r>
            <a:endParaRPr lang="en-US" sz="1200" dirty="0"/>
          </a:p>
        </p:txBody>
      </p:sp>
      <p:sp>
        <p:nvSpPr>
          <p:cNvPr id="8" name="Shape 6"/>
          <p:cNvSpPr/>
          <p:nvPr/>
        </p:nvSpPr>
        <p:spPr>
          <a:xfrm>
            <a:off x="7315200" y="2011680"/>
            <a:ext cx="4325112" cy="2377440"/>
          </a:xfrm>
          <a:prstGeom prst="roundRect">
            <a:avLst>
              <a:gd name="adj" fmla="val 2308"/>
            </a:avLst>
          </a:prstGeom>
          <a:solidFill>
            <a:srgbClr val="F3F6F8"/>
          </a:solidFill>
          <a:ln w="9525">
            <a:solidFill>
              <a:srgbClr val="DBE2E8"/>
            </a:solidFill>
            <a:prstDash val="solid"/>
          </a:ln>
        </p:spPr>
      </p:sp>
      <p:sp>
        <p:nvSpPr>
          <p:cNvPr id="9" name="Text 7"/>
          <p:cNvSpPr txBox="1"/>
          <p:nvPr/>
        </p:nvSpPr>
        <p:spPr>
          <a:xfrm>
            <a:off x="7543800" y="2176272"/>
            <a:ext cx="3840480" cy="749808"/>
          </a:xfrm>
          <a:prstGeom prst="rect">
            <a:avLst/>
          </a:prstGeom>
          <a:noFill/>
          <a:ln/>
        </p:spPr>
        <p:txBody>
          <a:bodyPr wrap="square" lIns="0" tIns="0" rIns="0" bIns="0" rtlCol="0" anchor="ctr"/>
          <a:lstStyle/>
          <a:p>
            <a:pPr indent="0" marL="0">
              <a:buNone/>
            </a:pPr>
            <a:r>
              <a:rPr lang="en-US" sz="4400" b="1" dirty="0">
                <a:solidFill>
                  <a:srgbClr val="E8833A"/>
                </a:solidFill>
                <a:latin typeface="Cambria" pitchFamily="34" charset="0"/>
                <a:ea typeface="Cambria" pitchFamily="34" charset="-122"/>
                <a:cs typeface="Cambria" pitchFamily="34" charset="-120"/>
              </a:rPr>
              <a:t>18</a:t>
            </a:r>
            <a:endParaRPr lang="en-US" sz="4400" dirty="0"/>
          </a:p>
        </p:txBody>
      </p:sp>
      <p:sp>
        <p:nvSpPr>
          <p:cNvPr id="10" name="Text 8"/>
          <p:cNvSpPr txBox="1"/>
          <p:nvPr/>
        </p:nvSpPr>
        <p:spPr>
          <a:xfrm>
            <a:off x="7543800" y="2962656"/>
            <a:ext cx="384048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intersection tests per pixel</a:t>
            </a:r>
            <a:endParaRPr lang="en-US" sz="1300" dirty="0"/>
          </a:p>
        </p:txBody>
      </p:sp>
      <p:sp>
        <p:nvSpPr>
          <p:cNvPr id="11" name="Text 9"/>
          <p:cNvSpPr txBox="1"/>
          <p:nvPr/>
        </p:nvSpPr>
        <p:spPr>
          <a:xfrm>
            <a:off x="7543800" y="3291840"/>
            <a:ext cx="3840480" cy="96012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Not 8. The extra ones are shadow rays and reflection rays — 179,457 calls for 10,000 pixels. Intersection is THE kernel, and that is what we later put in hardware.</a:t>
            </a:r>
            <a:endParaRPr lang="en-US" sz="1200" dirty="0"/>
          </a:p>
        </p:txBody>
      </p:sp>
      <p:sp>
        <p:nvSpPr>
          <p:cNvPr id="12" name="Text 10"/>
          <p:cNvSpPr txBox="1"/>
          <p:nvPr/>
        </p:nvSpPr>
        <p:spPr>
          <a:xfrm>
            <a:off x="548640" y="466344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Why this one, next to a decompressor</a:t>
            </a:r>
            <a:endParaRPr lang="en-US" sz="1400" dirty="0"/>
          </a:p>
        </p:txBody>
      </p:sp>
      <p:sp>
        <p:nvSpPr>
          <p:cNvPr id="13" name="Text 11"/>
          <p:cNvSpPr txBox="1"/>
          <p:nvPr/>
        </p:nvSpPr>
        <p:spPr>
          <a:xfrm>
            <a:off x="548640" y="4983480"/>
            <a:ext cx="11091672" cy="54864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pyflate is integer and control-flow bound. This is floating point and allocation bound. Same interpreter, opposite bottleneck — and, as we will show, opposite accelerator.</a:t>
            </a:r>
            <a:endParaRPr lang="en-US" sz="1300" dirty="0"/>
          </a:p>
        </p:txBody>
      </p:sp>
      <p:sp>
        <p:nvSpPr>
          <p:cNvPr id="14" name="Text 12"/>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15" name="Text 13"/>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ANALYSIS</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Half the runtime is in three-float wrappers</a:t>
            </a:r>
            <a:endParaRPr lang="en-US" sz="2900" dirty="0"/>
          </a:p>
        </p:txBody>
      </p:sp>
      <p:sp>
        <p:nvSpPr>
          <p:cNvPr id="4" name="Text 2"/>
          <p:cNvSpPr txBox="1"/>
          <p:nvPr/>
        </p:nvSpPr>
        <p:spPr>
          <a:xfrm>
            <a:off x="548640" y="141732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dot</a:t>
            </a:r>
            <a:endParaRPr lang="en-US" sz="1100" dirty="0"/>
          </a:p>
        </p:txBody>
      </p:sp>
      <p:sp>
        <p:nvSpPr>
          <p:cNvPr id="5" name="Shape 3"/>
          <p:cNvSpPr/>
          <p:nvPr/>
        </p:nvSpPr>
        <p:spPr>
          <a:xfrm>
            <a:off x="4206240" y="1481328"/>
            <a:ext cx="3219073" cy="182880"/>
          </a:xfrm>
          <a:prstGeom prst="rect">
            <a:avLst/>
          </a:prstGeom>
          <a:solidFill>
            <a:srgbClr val="E8833A"/>
          </a:solidFill>
          <a:ln w="12700">
            <a:solidFill>
              <a:srgbClr val="E8833A"/>
            </a:solidFill>
            <a:prstDash val="solid"/>
          </a:ln>
        </p:spPr>
      </p:sp>
      <p:sp>
        <p:nvSpPr>
          <p:cNvPr id="6" name="Text 4"/>
          <p:cNvSpPr txBox="1"/>
          <p:nvPr/>
        </p:nvSpPr>
        <p:spPr>
          <a:xfrm>
            <a:off x="7607808" y="141732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18.58%</a:t>
            </a:r>
            <a:endParaRPr lang="en-US" sz="1100" dirty="0"/>
          </a:p>
        </p:txBody>
      </p:sp>
      <p:sp>
        <p:nvSpPr>
          <p:cNvPr id="7" name="Text 5"/>
          <p:cNvSpPr txBox="1"/>
          <p:nvPr/>
        </p:nvSpPr>
        <p:spPr>
          <a:xfrm>
            <a:off x="548640" y="183794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__sub__</a:t>
            </a:r>
            <a:endParaRPr lang="en-US" sz="1100" dirty="0"/>
          </a:p>
        </p:txBody>
      </p:sp>
      <p:sp>
        <p:nvSpPr>
          <p:cNvPr id="8" name="Shape 6"/>
          <p:cNvSpPr/>
          <p:nvPr/>
        </p:nvSpPr>
        <p:spPr>
          <a:xfrm>
            <a:off x="4206240" y="1901952"/>
            <a:ext cx="2721832" cy="182880"/>
          </a:xfrm>
          <a:prstGeom prst="rect">
            <a:avLst/>
          </a:prstGeom>
          <a:solidFill>
            <a:srgbClr val="E8833A"/>
          </a:solidFill>
          <a:ln w="12700">
            <a:solidFill>
              <a:srgbClr val="E8833A"/>
            </a:solidFill>
            <a:prstDash val="solid"/>
          </a:ln>
        </p:spPr>
      </p:sp>
      <p:sp>
        <p:nvSpPr>
          <p:cNvPr id="9" name="Text 7"/>
          <p:cNvSpPr txBox="1"/>
          <p:nvPr/>
        </p:nvSpPr>
        <p:spPr>
          <a:xfrm>
            <a:off x="7607808" y="183794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15.71%</a:t>
            </a:r>
            <a:endParaRPr lang="en-US" sz="1100" dirty="0"/>
          </a:p>
        </p:txBody>
      </p:sp>
      <p:sp>
        <p:nvSpPr>
          <p:cNvPr id="10" name="Text 8"/>
          <p:cNvSpPr txBox="1"/>
          <p:nvPr/>
        </p:nvSpPr>
        <p:spPr>
          <a:xfrm>
            <a:off x="548640" y="225856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__init__</a:t>
            </a:r>
            <a:endParaRPr lang="en-US" sz="1100" dirty="0"/>
          </a:p>
        </p:txBody>
      </p:sp>
      <p:sp>
        <p:nvSpPr>
          <p:cNvPr id="11" name="Shape 9"/>
          <p:cNvSpPr/>
          <p:nvPr/>
        </p:nvSpPr>
        <p:spPr>
          <a:xfrm>
            <a:off x="4206240" y="2322576"/>
            <a:ext cx="2631739" cy="182880"/>
          </a:xfrm>
          <a:prstGeom prst="rect">
            <a:avLst/>
          </a:prstGeom>
          <a:solidFill>
            <a:srgbClr val="E8833A"/>
          </a:solidFill>
          <a:ln w="12700">
            <a:solidFill>
              <a:srgbClr val="E8833A"/>
            </a:solidFill>
            <a:prstDash val="solid"/>
          </a:ln>
        </p:spPr>
      </p:sp>
      <p:sp>
        <p:nvSpPr>
          <p:cNvPr id="12" name="Text 10"/>
          <p:cNvSpPr txBox="1"/>
          <p:nvPr/>
        </p:nvSpPr>
        <p:spPr>
          <a:xfrm>
            <a:off x="7607808" y="225856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15.19%</a:t>
            </a:r>
            <a:endParaRPr lang="en-US" sz="1100" dirty="0"/>
          </a:p>
        </p:txBody>
      </p:sp>
      <p:sp>
        <p:nvSpPr>
          <p:cNvPr id="13" name="Text 11"/>
          <p:cNvSpPr txBox="1"/>
          <p:nvPr/>
        </p:nvSpPr>
        <p:spPr>
          <a:xfrm>
            <a:off x="548640" y="2679192"/>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intersectionTime</a:t>
            </a:r>
            <a:endParaRPr lang="en-US" sz="1100" dirty="0"/>
          </a:p>
        </p:txBody>
      </p:sp>
      <p:sp>
        <p:nvSpPr>
          <p:cNvPr id="14" name="Shape 12"/>
          <p:cNvSpPr/>
          <p:nvPr/>
        </p:nvSpPr>
        <p:spPr>
          <a:xfrm>
            <a:off x="4206240" y="2743200"/>
            <a:ext cx="2046138" cy="182880"/>
          </a:xfrm>
          <a:prstGeom prst="rect">
            <a:avLst/>
          </a:prstGeom>
          <a:solidFill>
            <a:srgbClr val="C3CBD3"/>
          </a:solidFill>
          <a:ln w="12700">
            <a:solidFill>
              <a:srgbClr val="C3CBD3"/>
            </a:solidFill>
            <a:prstDash val="solid"/>
          </a:ln>
        </p:spPr>
      </p:sp>
      <p:sp>
        <p:nvSpPr>
          <p:cNvPr id="15" name="Text 13"/>
          <p:cNvSpPr txBox="1"/>
          <p:nvPr/>
        </p:nvSpPr>
        <p:spPr>
          <a:xfrm>
            <a:off x="7607808" y="2679192"/>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11.81%</a:t>
            </a:r>
            <a:endParaRPr lang="en-US" sz="1100" dirty="0"/>
          </a:p>
        </p:txBody>
      </p:sp>
      <p:sp>
        <p:nvSpPr>
          <p:cNvPr id="16" name="Text 14"/>
          <p:cNvSpPr txBox="1"/>
          <p:nvPr/>
        </p:nvSpPr>
        <p:spPr>
          <a:xfrm>
            <a:off x="548640" y="3099816"/>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_lightIsVisible</a:t>
            </a:r>
            <a:endParaRPr lang="en-US" sz="1100" dirty="0"/>
          </a:p>
        </p:txBody>
      </p:sp>
      <p:sp>
        <p:nvSpPr>
          <p:cNvPr id="17" name="Shape 15"/>
          <p:cNvSpPr/>
          <p:nvPr/>
        </p:nvSpPr>
        <p:spPr>
          <a:xfrm>
            <a:off x="4206240" y="3163824"/>
            <a:ext cx="1386038" cy="182880"/>
          </a:xfrm>
          <a:prstGeom prst="rect">
            <a:avLst/>
          </a:prstGeom>
          <a:solidFill>
            <a:srgbClr val="C3CBD3"/>
          </a:solidFill>
          <a:ln w="12700">
            <a:solidFill>
              <a:srgbClr val="C3CBD3"/>
            </a:solidFill>
            <a:prstDash val="solid"/>
          </a:ln>
        </p:spPr>
      </p:sp>
      <p:sp>
        <p:nvSpPr>
          <p:cNvPr id="18" name="Text 16"/>
          <p:cNvSpPr txBox="1"/>
          <p:nvPr/>
        </p:nvSpPr>
        <p:spPr>
          <a:xfrm>
            <a:off x="7607808" y="3099816"/>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8.00%</a:t>
            </a:r>
            <a:endParaRPr lang="en-US" sz="1100" dirty="0"/>
          </a:p>
        </p:txBody>
      </p:sp>
      <p:sp>
        <p:nvSpPr>
          <p:cNvPr id="19" name="Text 17"/>
          <p:cNvSpPr txBox="1"/>
          <p:nvPr/>
        </p:nvSpPr>
        <p:spPr>
          <a:xfrm>
            <a:off x="548640" y="352044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scale</a:t>
            </a:r>
            <a:endParaRPr lang="en-US" sz="1100" dirty="0"/>
          </a:p>
        </p:txBody>
      </p:sp>
      <p:sp>
        <p:nvSpPr>
          <p:cNvPr id="20" name="Shape 18"/>
          <p:cNvSpPr/>
          <p:nvPr/>
        </p:nvSpPr>
        <p:spPr>
          <a:xfrm>
            <a:off x="4206240" y="3584448"/>
            <a:ext cx="765786" cy="182880"/>
          </a:xfrm>
          <a:prstGeom prst="rect">
            <a:avLst/>
          </a:prstGeom>
          <a:solidFill>
            <a:srgbClr val="E8833A"/>
          </a:solidFill>
          <a:ln w="12700">
            <a:solidFill>
              <a:srgbClr val="E8833A"/>
            </a:solidFill>
            <a:prstDash val="solid"/>
          </a:ln>
        </p:spPr>
      </p:sp>
      <p:sp>
        <p:nvSpPr>
          <p:cNvPr id="21" name="Text 19"/>
          <p:cNvSpPr txBox="1"/>
          <p:nvPr/>
        </p:nvSpPr>
        <p:spPr>
          <a:xfrm>
            <a:off x="7607808" y="352044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4.42%</a:t>
            </a:r>
            <a:endParaRPr lang="en-US" sz="1100" dirty="0"/>
          </a:p>
        </p:txBody>
      </p:sp>
      <p:sp>
        <p:nvSpPr>
          <p:cNvPr id="22" name="Text 20"/>
          <p:cNvSpPr txBox="1"/>
          <p:nvPr/>
        </p:nvSpPr>
        <p:spPr>
          <a:xfrm>
            <a:off x="548640" y="394106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normalized</a:t>
            </a:r>
            <a:endParaRPr lang="en-US" sz="1100" dirty="0"/>
          </a:p>
        </p:txBody>
      </p:sp>
      <p:sp>
        <p:nvSpPr>
          <p:cNvPr id="23" name="Shape 21"/>
          <p:cNvSpPr/>
          <p:nvPr/>
        </p:nvSpPr>
        <p:spPr>
          <a:xfrm>
            <a:off x="4206240" y="4005072"/>
            <a:ext cx="530159" cy="182880"/>
          </a:xfrm>
          <a:prstGeom prst="rect">
            <a:avLst/>
          </a:prstGeom>
          <a:solidFill>
            <a:srgbClr val="E8833A"/>
          </a:solidFill>
          <a:ln w="12700">
            <a:solidFill>
              <a:srgbClr val="E8833A"/>
            </a:solidFill>
            <a:prstDash val="solid"/>
          </a:ln>
        </p:spPr>
      </p:sp>
      <p:sp>
        <p:nvSpPr>
          <p:cNvPr id="24" name="Text 22"/>
          <p:cNvSpPr txBox="1"/>
          <p:nvPr/>
        </p:nvSpPr>
        <p:spPr>
          <a:xfrm>
            <a:off x="7607808" y="394106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3.06%</a:t>
            </a:r>
            <a:endParaRPr lang="en-US" sz="1100" dirty="0"/>
          </a:p>
        </p:txBody>
      </p:sp>
      <p:sp>
        <p:nvSpPr>
          <p:cNvPr id="25" name="Text 23"/>
          <p:cNvSpPr txBox="1"/>
          <p:nvPr/>
        </p:nvSpPr>
        <p:spPr>
          <a:xfrm>
            <a:off x="548640" y="436168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magnitude</a:t>
            </a:r>
            <a:endParaRPr lang="en-US" sz="1100" dirty="0"/>
          </a:p>
        </p:txBody>
      </p:sp>
      <p:sp>
        <p:nvSpPr>
          <p:cNvPr id="26" name="Shape 24"/>
          <p:cNvSpPr/>
          <p:nvPr/>
        </p:nvSpPr>
        <p:spPr>
          <a:xfrm>
            <a:off x="4206240" y="4425696"/>
            <a:ext cx="481648" cy="182880"/>
          </a:xfrm>
          <a:prstGeom prst="rect">
            <a:avLst/>
          </a:prstGeom>
          <a:solidFill>
            <a:srgbClr val="E8833A"/>
          </a:solidFill>
          <a:ln w="12700">
            <a:solidFill>
              <a:srgbClr val="E8833A"/>
            </a:solidFill>
            <a:prstDash val="solid"/>
          </a:ln>
        </p:spPr>
      </p:sp>
      <p:sp>
        <p:nvSpPr>
          <p:cNvPr id="27" name="Text 25"/>
          <p:cNvSpPr txBox="1"/>
          <p:nvPr/>
        </p:nvSpPr>
        <p:spPr>
          <a:xfrm>
            <a:off x="7607808" y="436168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2.78%</a:t>
            </a:r>
            <a:endParaRPr lang="en-US" sz="1100" dirty="0"/>
          </a:p>
        </p:txBody>
      </p:sp>
      <p:sp>
        <p:nvSpPr>
          <p:cNvPr id="28" name="Shape 26"/>
          <p:cNvSpPr/>
          <p:nvPr/>
        </p:nvSpPr>
        <p:spPr>
          <a:xfrm>
            <a:off x="8686800" y="1417320"/>
            <a:ext cx="2953512" cy="2011680"/>
          </a:xfrm>
          <a:prstGeom prst="roundRect">
            <a:avLst>
              <a:gd name="adj" fmla="val 2727"/>
            </a:avLst>
          </a:prstGeom>
          <a:solidFill>
            <a:srgbClr val="E8833A"/>
          </a:solidFill>
          <a:ln w="12700">
            <a:solidFill>
              <a:srgbClr val="E8833A"/>
            </a:solidFill>
            <a:prstDash val="solid"/>
          </a:ln>
        </p:spPr>
      </p:sp>
      <p:sp>
        <p:nvSpPr>
          <p:cNvPr id="29" name="Text 27"/>
          <p:cNvSpPr txBox="1"/>
          <p:nvPr/>
        </p:nvSpPr>
        <p:spPr>
          <a:xfrm>
            <a:off x="8915400" y="1645920"/>
            <a:ext cx="2514600" cy="658368"/>
          </a:xfrm>
          <a:prstGeom prst="rect">
            <a:avLst/>
          </a:prstGeom>
          <a:noFill/>
          <a:ln/>
        </p:spPr>
        <p:txBody>
          <a:bodyPr wrap="square" lIns="0" tIns="0" rIns="0" bIns="0" rtlCol="0" anchor="ctr"/>
          <a:lstStyle/>
          <a:p>
            <a:pPr indent="0" marL="0">
              <a:buNone/>
            </a:pPr>
            <a:r>
              <a:rPr lang="en-US" sz="3600" b="1" dirty="0">
                <a:solidFill>
                  <a:srgbClr val="1B2430"/>
                </a:solidFill>
                <a:latin typeface="Cambria" pitchFamily="34" charset="0"/>
                <a:ea typeface="Cambria" pitchFamily="34" charset="-122"/>
                <a:cs typeface="Cambria" pitchFamily="34" charset="-120"/>
              </a:rPr>
              <a:t>59.74%</a:t>
            </a:r>
            <a:endParaRPr lang="en-US" sz="3600" dirty="0"/>
          </a:p>
        </p:txBody>
      </p:sp>
      <p:sp>
        <p:nvSpPr>
          <p:cNvPr id="30" name="Text 28"/>
          <p:cNvSpPr txBox="1"/>
          <p:nvPr/>
        </p:nvSpPr>
        <p:spPr>
          <a:xfrm>
            <a:off x="8915400" y="2331720"/>
            <a:ext cx="2514600" cy="960120"/>
          </a:xfrm>
          <a:prstGeom prst="rect">
            <a:avLst/>
          </a:prstGeom>
          <a:noFill/>
          <a:ln/>
        </p:spPr>
        <p:txBody>
          <a:bodyPr wrap="square" lIns="0" tIns="0" rIns="0" bIns="0" rtlCol="0" anchor="ctr"/>
          <a:lstStyle/>
          <a:p>
            <a:pPr indent="0" marL="0">
              <a:lnSpc>
                <a:spcPts val="1500"/>
              </a:lnSpc>
              <a:buNone/>
            </a:pPr>
            <a:r>
              <a:rPr lang="en-US" sz="1150" dirty="0">
                <a:solidFill>
                  <a:srgbClr val="3A2412"/>
                </a:solidFill>
                <a:latin typeface="Calibri" pitchFamily="34" charset="0"/>
                <a:ea typeface="Calibri" pitchFamily="34" charset="-122"/>
                <a:cs typeface="Calibri" pitchFamily="34" charset="-120"/>
              </a:rPr>
              <a:t>of runtime is in Vector/Point wrappers (orange bars), not in the ray tracing algorithm itself</a:t>
            </a:r>
            <a:endParaRPr lang="en-US" sz="1150" dirty="0"/>
          </a:p>
        </p:txBody>
      </p:sp>
      <p:sp>
        <p:nvSpPr>
          <p:cNvPr id="31" name="Shape 29"/>
          <p:cNvSpPr/>
          <p:nvPr/>
        </p:nvSpPr>
        <p:spPr>
          <a:xfrm>
            <a:off x="8686800" y="3611880"/>
            <a:ext cx="2953512" cy="1554480"/>
          </a:xfrm>
          <a:prstGeom prst="roundRect">
            <a:avLst>
              <a:gd name="adj" fmla="val 3529"/>
            </a:avLst>
          </a:prstGeom>
          <a:solidFill>
            <a:srgbClr val="F3F6F8"/>
          </a:solidFill>
          <a:ln w="9525">
            <a:solidFill>
              <a:srgbClr val="DBE2E8"/>
            </a:solidFill>
            <a:prstDash val="solid"/>
          </a:ln>
        </p:spPr>
      </p:sp>
      <p:sp>
        <p:nvSpPr>
          <p:cNvPr id="32" name="Text 30"/>
          <p:cNvSpPr txBox="1"/>
          <p:nvPr/>
        </p:nvSpPr>
        <p:spPr>
          <a:xfrm>
            <a:off x="8915400" y="3749040"/>
            <a:ext cx="2514600" cy="457200"/>
          </a:xfrm>
          <a:prstGeom prst="rect">
            <a:avLst/>
          </a:prstGeom>
          <a:noFill/>
          <a:ln/>
        </p:spPr>
        <p:txBody>
          <a:bodyPr wrap="square" lIns="0" tIns="0" rIns="0" bIns="0" rtlCol="0" anchor="ctr"/>
          <a:lstStyle/>
          <a:p>
            <a:pPr indent="0" marL="0">
              <a:buNone/>
            </a:pPr>
            <a:r>
              <a:rPr lang="en-US" sz="2400" b="1" dirty="0">
                <a:solidFill>
                  <a:srgbClr val="1B2430"/>
                </a:solidFill>
                <a:latin typeface="Cambria" pitchFamily="34" charset="0"/>
                <a:ea typeface="Cambria" pitchFamily="34" charset="-122"/>
                <a:cs typeface="Cambria" pitchFamily="34" charset="-120"/>
              </a:rPr>
              <a:t>509,871</a:t>
            </a:r>
            <a:endParaRPr lang="en-US" sz="2400" dirty="0"/>
          </a:p>
        </p:txBody>
      </p:sp>
      <p:sp>
        <p:nvSpPr>
          <p:cNvPr id="33" name="Text 31"/>
          <p:cNvSpPr txBox="1"/>
          <p:nvPr/>
        </p:nvSpPr>
        <p:spPr>
          <a:xfrm>
            <a:off x="8915400" y="4206240"/>
            <a:ext cx="2514600" cy="82296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calls to Vector.dot — every one of them starts with a mustBeVector() type assertion</a:t>
            </a:r>
            <a:endParaRPr lang="en-US" sz="1100" dirty="0"/>
          </a:p>
        </p:txBody>
      </p:sp>
      <p:sp>
        <p:nvSpPr>
          <p:cNvPr id="34" name="Text 32"/>
          <p:cNvSpPr txBox="1"/>
          <p:nvPr/>
        </p:nvSpPr>
        <p:spPr>
          <a:xfrm>
            <a:off x="548640" y="5376672"/>
            <a:ext cx="11091672" cy="47548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The leaves of this flame graph are type checks and operator dispatch — not floating-point work. 307 function calls per pixel.</a:t>
            </a:r>
            <a:endParaRPr lang="en-US" sz="1400" dirty="0"/>
          </a:p>
        </p:txBody>
      </p:sp>
      <p:sp>
        <p:nvSpPr>
          <p:cNvPr id="35" name="Text 3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36" name="Text 3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THE FINDING</a:t>
            </a:r>
            <a:endParaRPr lang="en-US" sz="1100" dirty="0"/>
          </a:p>
        </p:txBody>
      </p:sp>
      <p:sp>
        <p:nvSpPr>
          <p:cNvPr id="3" name="Text 1"/>
          <p:cNvSpPr txBox="1"/>
          <p:nvPr/>
        </p:nvSpPr>
        <p:spPr>
          <a:xfrm>
            <a:off x="548640" y="713232"/>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One line, in the wrong place, cost 44%</a:t>
            </a:r>
            <a:endParaRPr lang="en-US" sz="3200" dirty="0"/>
          </a:p>
        </p:txBody>
      </p:sp>
      <p:sp>
        <p:nvSpPr>
          <p:cNvPr id="4" name="Text 2"/>
          <p:cNvSpPr txBox="1"/>
          <p:nvPr/>
        </p:nvSpPr>
        <p:spPr>
          <a:xfrm>
            <a:off x="548640" y="1463040"/>
            <a:ext cx="5303520" cy="237744"/>
          </a:xfrm>
          <a:prstGeom prst="rect">
            <a:avLst/>
          </a:prstGeom>
          <a:noFill/>
          <a:ln/>
        </p:spPr>
        <p:txBody>
          <a:bodyPr wrap="square" lIns="0" tIns="0" rIns="0" bIns="0" rtlCol="0" anchor="ctr"/>
          <a:lstStyle/>
          <a:p>
            <a:pPr indent="0" marL="0">
              <a:buNone/>
            </a:pPr>
            <a:r>
              <a:rPr lang="en-US" sz="1000" b="1" spc="140" kern="0" dirty="0">
                <a:solidFill>
                  <a:srgbClr val="E8833A"/>
                </a:solidFill>
                <a:latin typeface="Calibri" pitchFamily="34" charset="0"/>
                <a:ea typeface="Calibri" pitchFamily="34" charset="-122"/>
                <a:cs typeface="Calibri" pitchFamily="34" charset="-120"/>
              </a:rPr>
              <a:t>BEFORE</a:t>
            </a:r>
            <a:endParaRPr lang="en-US" sz="1000" dirty="0"/>
          </a:p>
        </p:txBody>
      </p:sp>
      <p:sp>
        <p:nvSpPr>
          <p:cNvPr id="5" name="Shape 3"/>
          <p:cNvSpPr/>
          <p:nvPr/>
        </p:nvSpPr>
        <p:spPr>
          <a:xfrm>
            <a:off x="548640" y="1719072"/>
            <a:ext cx="5349240" cy="1371600"/>
          </a:xfrm>
          <a:prstGeom prst="roundRect">
            <a:avLst>
              <a:gd name="adj" fmla="val 3333"/>
            </a:avLst>
          </a:prstGeom>
          <a:solidFill>
            <a:srgbClr val="2B3A4A"/>
          </a:solidFill>
          <a:ln w="15875">
            <a:solidFill>
              <a:srgbClr val="E8833A"/>
            </a:solidFill>
            <a:prstDash val="solid"/>
          </a:ln>
        </p:spPr>
      </p:sp>
      <p:sp>
        <p:nvSpPr>
          <p:cNvPr id="6" name="Text 4"/>
          <p:cNvSpPr txBox="1"/>
          <p:nvPr/>
        </p:nvSpPr>
        <p:spPr>
          <a:xfrm>
            <a:off x="777240" y="1847088"/>
            <a:ext cx="4892040" cy="1097280"/>
          </a:xfrm>
          <a:prstGeom prst="rect">
            <a:avLst/>
          </a:prstGeom>
          <a:noFill/>
          <a:ln/>
        </p:spPr>
        <p:txBody>
          <a:bodyPr wrap="square" lIns="0" tIns="0" rIns="0" bIns="0" rtlCol="0" anchor="ctr"/>
          <a:lstStyle/>
          <a:p>
            <a:pPr indent="0" marL="0">
              <a:lnSpc>
                <a:spcPts val="1900"/>
              </a:lnSpc>
              <a:buNone/>
            </a:pPr>
            <a:r>
              <a:rPr lang="en-US" sz="1200" dirty="0">
                <a:solidFill>
                  <a:srgbClr val="FFD9B8"/>
                </a:solidFill>
                <a:latin typeface="Courier New" pitchFamily="34" charset="0"/>
                <a:ea typeface="Courier New" pitchFamily="34" charset="-122"/>
                <a:cs typeface="Courier New" pitchFamily="34" charset="-120"/>
              </a:rPr>
              <a:t>for (o, s) in self.objects:</a:t>
            </a:r>
            <a:endParaRPr lang="en-US" sz="1200" dirty="0"/>
          </a:p>
          <a:p>
            <a:pPr indent="0" marL="0">
              <a:lnSpc>
                <a:spcPts val="1900"/>
              </a:lnSpc>
              <a:buNone/>
            </a:pPr>
            <a:r>
              <a:rPr lang="en-US" sz="1200" dirty="0">
                <a:solidFill>
                  <a:srgbClr val="FFD9B8"/>
                </a:solidFill>
                <a:latin typeface="Courier New" pitchFamily="34" charset="0"/>
                <a:ea typeface="Courier New" pitchFamily="34" charset="-122"/>
                <a:cs typeface="Courier New" pitchFamily="34" charset="-120"/>
              </a:rPr>
              <a:t>    t = o.intersectionTime(</a:t>
            </a:r>
            <a:endParaRPr lang="en-US" sz="1200" dirty="0"/>
          </a:p>
          <a:p>
            <a:pPr indent="0" marL="0">
              <a:lnSpc>
                <a:spcPts val="1900"/>
              </a:lnSpc>
              <a:buNone/>
            </a:pPr>
            <a:r>
              <a:rPr lang="en-US" sz="1200" dirty="0">
                <a:solidFill>
                  <a:srgbClr val="FFD9B8"/>
                </a:solidFill>
                <a:latin typeface="Courier New" pitchFamily="34" charset="0"/>
                <a:ea typeface="Courier New" pitchFamily="34" charset="-122"/>
                <a:cs typeface="Courier New" pitchFamily="34" charset="-120"/>
              </a:rPr>
              <a:t>            Ray(p, l - p))   ← inside</a:t>
            </a:r>
            <a:endParaRPr lang="en-US" sz="1200" dirty="0"/>
          </a:p>
        </p:txBody>
      </p:sp>
      <p:sp>
        <p:nvSpPr>
          <p:cNvPr id="7" name="Text 5"/>
          <p:cNvSpPr txBox="1"/>
          <p:nvPr/>
        </p:nvSpPr>
        <p:spPr>
          <a:xfrm>
            <a:off x="6309360" y="1463040"/>
            <a:ext cx="5303520" cy="237744"/>
          </a:xfrm>
          <a:prstGeom prst="rect">
            <a:avLst/>
          </a:prstGeom>
          <a:noFill/>
          <a:ln/>
        </p:spPr>
        <p:txBody>
          <a:bodyPr wrap="square" lIns="0" tIns="0" rIns="0" bIns="0" rtlCol="0" anchor="ctr"/>
          <a:lstStyle/>
          <a:p>
            <a:pPr indent="0" marL="0">
              <a:buNone/>
            </a:pPr>
            <a:r>
              <a:rPr lang="en-US" sz="1000" b="1" spc="140" kern="0" dirty="0">
                <a:solidFill>
                  <a:srgbClr val="2D9B8A"/>
                </a:solidFill>
                <a:latin typeface="Calibri" pitchFamily="34" charset="0"/>
                <a:ea typeface="Calibri" pitchFamily="34" charset="-122"/>
                <a:cs typeface="Calibri" pitchFamily="34" charset="-120"/>
              </a:rPr>
              <a:t>AFTER</a:t>
            </a:r>
            <a:endParaRPr lang="en-US" sz="1000" dirty="0"/>
          </a:p>
        </p:txBody>
      </p:sp>
      <p:sp>
        <p:nvSpPr>
          <p:cNvPr id="8" name="Shape 6"/>
          <p:cNvSpPr/>
          <p:nvPr/>
        </p:nvSpPr>
        <p:spPr>
          <a:xfrm>
            <a:off x="6309360" y="1719072"/>
            <a:ext cx="5330952" cy="1371600"/>
          </a:xfrm>
          <a:prstGeom prst="roundRect">
            <a:avLst>
              <a:gd name="adj" fmla="val 3333"/>
            </a:avLst>
          </a:prstGeom>
          <a:solidFill>
            <a:srgbClr val="2B3A4A"/>
          </a:solidFill>
          <a:ln w="15875">
            <a:solidFill>
              <a:srgbClr val="2D9B8A"/>
            </a:solidFill>
            <a:prstDash val="solid"/>
          </a:ln>
        </p:spPr>
      </p:sp>
      <p:sp>
        <p:nvSpPr>
          <p:cNvPr id="9" name="Text 7"/>
          <p:cNvSpPr txBox="1"/>
          <p:nvPr/>
        </p:nvSpPr>
        <p:spPr>
          <a:xfrm>
            <a:off x="6537960" y="1847088"/>
            <a:ext cx="4873752" cy="1097280"/>
          </a:xfrm>
          <a:prstGeom prst="rect">
            <a:avLst/>
          </a:prstGeom>
          <a:noFill/>
          <a:ln/>
        </p:spPr>
        <p:txBody>
          <a:bodyPr wrap="square" lIns="0" tIns="0" rIns="0" bIns="0" rtlCol="0" anchor="ctr"/>
          <a:lstStyle/>
          <a:p>
            <a:pPr indent="0" marL="0">
              <a:lnSpc>
                <a:spcPts val="1900"/>
              </a:lnSpc>
              <a:buNone/>
            </a:pPr>
            <a:r>
              <a:rPr lang="en-US" sz="1200" dirty="0">
                <a:solidFill>
                  <a:srgbClr val="A9EDDD"/>
                </a:solidFill>
                <a:latin typeface="Courier New" pitchFamily="34" charset="0"/>
                <a:ea typeface="Courier New" pitchFamily="34" charset="-122"/>
                <a:cs typeface="Courier New" pitchFamily="34" charset="-120"/>
              </a:rPr>
              <a:t>shadowRay = Ray(p, l - p)   ← hoisted</a:t>
            </a:r>
            <a:endParaRPr lang="en-US" sz="1200" dirty="0"/>
          </a:p>
          <a:p>
            <a:pPr indent="0" marL="0">
              <a:lnSpc>
                <a:spcPts val="1900"/>
              </a:lnSpc>
              <a:buNone/>
            </a:pPr>
            <a:r>
              <a:rPr lang="en-US" sz="1200" dirty="0">
                <a:solidFill>
                  <a:srgbClr val="A9EDDD"/>
                </a:solidFill>
                <a:latin typeface="Courier New" pitchFamily="34" charset="0"/>
                <a:ea typeface="Courier New" pitchFamily="34" charset="-122"/>
                <a:cs typeface="Courier New" pitchFamily="34" charset="-120"/>
              </a:rPr>
              <a:t>for (o, s) in self.objects:</a:t>
            </a:r>
            <a:endParaRPr lang="en-US" sz="1200" dirty="0"/>
          </a:p>
          <a:p>
            <a:pPr indent="0" marL="0">
              <a:lnSpc>
                <a:spcPts val="1900"/>
              </a:lnSpc>
              <a:buNone/>
            </a:pPr>
            <a:r>
              <a:rPr lang="en-US" sz="1200" dirty="0">
                <a:solidFill>
                  <a:srgbClr val="A9EDDD"/>
                </a:solidFill>
                <a:latin typeface="Courier New" pitchFamily="34" charset="0"/>
                <a:ea typeface="Courier New" pitchFamily="34" charset="-122"/>
                <a:cs typeface="Courier New" pitchFamily="34" charset="-120"/>
              </a:rPr>
              <a:t>    t = o.intersectionTime(shadowRay)</a:t>
            </a:r>
            <a:endParaRPr lang="en-US" sz="1200" dirty="0"/>
          </a:p>
        </p:txBody>
      </p:sp>
      <p:sp>
        <p:nvSpPr>
          <p:cNvPr id="10" name="Text 8"/>
          <p:cNvSpPr txBox="1"/>
          <p:nvPr/>
        </p:nvSpPr>
        <p:spPr>
          <a:xfrm>
            <a:off x="548640" y="3291840"/>
            <a:ext cx="10972800" cy="548640"/>
          </a:xfrm>
          <a:prstGeom prst="rect">
            <a:avLst/>
          </a:prstGeom>
          <a:noFill/>
          <a:ln/>
        </p:spPr>
        <p:txBody>
          <a:bodyPr wrap="square" lIns="0" tIns="0" rIns="0" bIns="0" rtlCol="0" anchor="ctr"/>
          <a:lstStyle/>
          <a:p>
            <a:pPr indent="0" marL="0">
              <a:lnSpc>
                <a:spcPts val="1900"/>
              </a:lnSpc>
              <a:buNone/>
            </a:pPr>
            <a:r>
              <a:rPr lang="en-US" sz="1400" dirty="0">
                <a:solidFill>
                  <a:srgbClr val="E8EDF2"/>
                </a:solidFill>
                <a:latin typeface="Calibri" pitchFamily="34" charset="0"/>
                <a:ea typeface="Calibri" pitchFamily="34" charset="-122"/>
                <a:cs typeface="Calibri" pitchFamily="34" charset="-120"/>
              </a:rPr>
              <a:t>Ray(p, l - p) does not depend on o. Its constructor calls normalized() → magnitude() → sqrt(). So the same shadow ray, square root included, was rebuilt 8 times per light per shading point.</a:t>
            </a:r>
            <a:endParaRPr lang="en-US" sz="1400" dirty="0"/>
          </a:p>
        </p:txBody>
      </p:sp>
      <p:sp>
        <p:nvSpPr>
          <p:cNvPr id="11" name="Shape 9"/>
          <p:cNvSpPr/>
          <p:nvPr/>
        </p:nvSpPr>
        <p:spPr>
          <a:xfrm>
            <a:off x="548640" y="4023360"/>
            <a:ext cx="5349240" cy="1828800"/>
          </a:xfrm>
          <a:prstGeom prst="roundRect">
            <a:avLst>
              <a:gd name="adj" fmla="val 3000"/>
            </a:avLst>
          </a:prstGeom>
          <a:solidFill>
            <a:srgbClr val="2B3A4A"/>
          </a:solidFill>
          <a:ln w="9525">
            <a:solidFill>
              <a:srgbClr val="3C4E61"/>
            </a:solidFill>
            <a:prstDash val="solid"/>
          </a:ln>
        </p:spPr>
      </p:sp>
      <p:sp>
        <p:nvSpPr>
          <p:cNvPr id="12" name="Text 10"/>
          <p:cNvSpPr txBox="1"/>
          <p:nvPr/>
        </p:nvSpPr>
        <p:spPr>
          <a:xfrm>
            <a:off x="822960" y="4206240"/>
            <a:ext cx="4754880" cy="594360"/>
          </a:xfrm>
          <a:prstGeom prst="rect">
            <a:avLst/>
          </a:prstGeom>
          <a:noFill/>
          <a:ln/>
        </p:spPr>
        <p:txBody>
          <a:bodyPr wrap="square" lIns="0" tIns="0" rIns="0" bIns="0" rtlCol="0" anchor="ctr"/>
          <a:lstStyle/>
          <a:p>
            <a:pPr indent="0" marL="0">
              <a:buNone/>
            </a:pPr>
            <a:r>
              <a:rPr lang="en-US" sz="3600" b="1" dirty="0">
                <a:solidFill>
                  <a:srgbClr val="E8833A"/>
                </a:solidFill>
                <a:latin typeface="Cambria" pitchFamily="34" charset="0"/>
                <a:ea typeface="Cambria" pitchFamily="34" charset="-122"/>
                <a:cs typeface="Cambria" pitchFamily="34" charset="-120"/>
              </a:rPr>
              <a:t>+44%</a:t>
            </a:r>
            <a:endParaRPr lang="en-US" sz="3600" dirty="0"/>
          </a:p>
        </p:txBody>
      </p:sp>
      <p:sp>
        <p:nvSpPr>
          <p:cNvPr id="13" name="Text 11"/>
          <p:cNvSpPr txBox="1"/>
          <p:nvPr/>
        </p:nvSpPr>
        <p:spPr>
          <a:xfrm>
            <a:off x="822960" y="4846320"/>
            <a:ext cx="4754880" cy="777240"/>
          </a:xfrm>
          <a:prstGeom prst="rect">
            <a:avLst/>
          </a:prstGeom>
          <a:noFill/>
          <a:ln/>
        </p:spPr>
        <p:txBody>
          <a:bodyPr wrap="square" lIns="0" tIns="0" rIns="0" bIns="0" rtlCol="0" anchor="ctr"/>
          <a:lstStyle/>
          <a:p>
            <a:pPr indent="0" marL="0">
              <a:lnSpc>
                <a:spcPts val="1800"/>
              </a:lnSpc>
              <a:buNone/>
            </a:pPr>
            <a:r>
              <a:rPr lang="en-US" sz="1300" dirty="0">
                <a:solidFill>
                  <a:srgbClr val="AFBECD"/>
                </a:solidFill>
                <a:latin typeface="Calibri" pitchFamily="34" charset="0"/>
                <a:ea typeface="Calibri" pitchFamily="34" charset="-122"/>
                <a:cs typeface="Calibri" pitchFamily="34" charset="-120"/>
              </a:rPr>
              <a:t>slower when we revert just this one hoist. A three-line change, with no cleverness in it at all.</a:t>
            </a:r>
            <a:endParaRPr lang="en-US" sz="1300" dirty="0"/>
          </a:p>
        </p:txBody>
      </p:sp>
      <p:sp>
        <p:nvSpPr>
          <p:cNvPr id="14" name="Shape 12"/>
          <p:cNvSpPr/>
          <p:nvPr/>
        </p:nvSpPr>
        <p:spPr>
          <a:xfrm>
            <a:off x="6309360" y="4023360"/>
            <a:ext cx="5330952" cy="1828800"/>
          </a:xfrm>
          <a:prstGeom prst="roundRect">
            <a:avLst>
              <a:gd name="adj" fmla="val 3000"/>
            </a:avLst>
          </a:prstGeom>
          <a:solidFill>
            <a:srgbClr val="2B3A4A"/>
          </a:solidFill>
          <a:ln w="19050">
            <a:solidFill>
              <a:srgbClr val="2D9B8A"/>
            </a:solidFill>
            <a:prstDash val="solid"/>
          </a:ln>
        </p:spPr>
      </p:sp>
      <p:sp>
        <p:nvSpPr>
          <p:cNvPr id="15" name="Text 13"/>
          <p:cNvSpPr txBox="1"/>
          <p:nvPr/>
        </p:nvSpPr>
        <p:spPr>
          <a:xfrm>
            <a:off x="6583680" y="4187952"/>
            <a:ext cx="4754880" cy="274320"/>
          </a:xfrm>
          <a:prstGeom prst="rect">
            <a:avLst/>
          </a:prstGeom>
          <a:noFill/>
          <a:ln/>
        </p:spPr>
        <p:txBody>
          <a:bodyPr wrap="square" lIns="0" tIns="0" rIns="0" bIns="0" rtlCol="0" anchor="ctr"/>
          <a:lstStyle/>
          <a:p>
            <a:pPr indent="0" marL="0">
              <a:buNone/>
            </a:pPr>
            <a:r>
              <a:rPr lang="en-US" sz="1300" b="1" dirty="0">
                <a:solidFill>
                  <a:srgbClr val="2D9B8A"/>
                </a:solidFill>
                <a:latin typeface="Calibri" pitchFamily="34" charset="0"/>
                <a:ea typeface="Calibri" pitchFamily="34" charset="-122"/>
                <a:cs typeface="Calibri" pitchFamily="34" charset="-120"/>
              </a:rPr>
              <a:t>The lesson</a:t>
            </a:r>
            <a:endParaRPr lang="en-US" sz="1300" dirty="0"/>
          </a:p>
        </p:txBody>
      </p:sp>
      <p:sp>
        <p:nvSpPr>
          <p:cNvPr id="16" name="Text 14"/>
          <p:cNvSpPr txBox="1"/>
          <p:nvPr/>
        </p:nvSpPr>
        <p:spPr>
          <a:xfrm>
            <a:off x="6583680" y="4498848"/>
            <a:ext cx="4754880" cy="1143000"/>
          </a:xfrm>
          <a:prstGeom prst="rect">
            <a:avLst/>
          </a:prstGeom>
          <a:noFill/>
          <a:ln/>
        </p:spPr>
        <p:txBody>
          <a:bodyPr wrap="square" lIns="0" tIns="0" rIns="0" bIns="0" rtlCol="0" anchor="ctr"/>
          <a:lstStyle/>
          <a:p>
            <a:pPr indent="0" marL="0">
              <a:lnSpc>
                <a:spcPts val="1800"/>
              </a:lnSpc>
              <a:buNone/>
            </a:pPr>
            <a:r>
              <a:rPr lang="en-US" sz="1300" dirty="0">
                <a:solidFill>
                  <a:srgbClr val="E8EDF2"/>
                </a:solidFill>
                <a:latin typeface="Calibri" pitchFamily="34" charset="0"/>
                <a:ea typeface="Calibri" pitchFamily="34" charset="-122"/>
                <a:cs typeface="Calibri" pitchFamily="34" charset="-120"/>
              </a:rPr>
              <a:t>This is a plain bug, not a subtle trade-off — and reading the code at normal speed does not reveal it. Profiling did. That is the whole argument for measuring before optimizing.</a:t>
            </a:r>
            <a:endParaRPr lang="en-US" sz="1300" dirty="0"/>
          </a:p>
        </p:txBody>
      </p:sp>
      <p:sp>
        <p:nvSpPr>
          <p:cNvPr id="17" name="Text 1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Lana</a:t>
            </a:r>
            <a:endParaRPr lang="en-US" sz="1000" dirty="0"/>
          </a:p>
        </p:txBody>
      </p:sp>
      <p:sp>
        <p:nvSpPr>
          <p:cNvPr id="18" name="Text 1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OPTIMIZATION</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What we changed — and what each change was worth</a:t>
            </a:r>
            <a:endParaRPr lang="en-US" sz="2900" dirty="0"/>
          </a:p>
        </p:txBody>
      </p:sp>
      <p:sp>
        <p:nvSpPr>
          <p:cNvPr id="4" name="Text 2"/>
          <p:cNvSpPr txBox="1"/>
          <p:nvPr/>
        </p:nvSpPr>
        <p:spPr>
          <a:xfrm>
            <a:off x="548640" y="1325880"/>
            <a:ext cx="11091672" cy="50292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We measured each one by ABLATION: take the finished build and revert exactly one optimization. Marginal costs do not sum to the total, because the optimizations interact — so this is a ranking, not a decomposition.</a:t>
            </a:r>
            <a:endParaRPr lang="en-US" sz="1300" dirty="0"/>
          </a:p>
        </p:txBody>
      </p:sp>
      <p:sp>
        <p:nvSpPr>
          <p:cNvPr id="5" name="Shape 3"/>
          <p:cNvSpPr/>
          <p:nvPr/>
        </p:nvSpPr>
        <p:spPr>
          <a:xfrm>
            <a:off x="548640" y="1965960"/>
            <a:ext cx="7406640" cy="731520"/>
          </a:xfrm>
          <a:prstGeom prst="roundRect">
            <a:avLst>
              <a:gd name="adj" fmla="val 7500"/>
            </a:avLst>
          </a:prstGeom>
          <a:solidFill>
            <a:srgbClr val="F3F6F8"/>
          </a:solidFill>
          <a:ln w="9525">
            <a:solidFill>
              <a:srgbClr val="DBE2E8"/>
            </a:solidFill>
            <a:prstDash val="solid"/>
          </a:ln>
        </p:spPr>
      </p:sp>
      <p:sp>
        <p:nvSpPr>
          <p:cNvPr id="6" name="Text 4"/>
          <p:cNvSpPr txBox="1"/>
          <p:nvPr/>
        </p:nvSpPr>
        <p:spPr>
          <a:xfrm>
            <a:off x="777240" y="2075688"/>
            <a:ext cx="100584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O3 / O5</a:t>
            </a:r>
            <a:endParaRPr lang="en-US" sz="1300" dirty="0"/>
          </a:p>
        </p:txBody>
      </p:sp>
      <p:sp>
        <p:nvSpPr>
          <p:cNvPr id="7" name="Text 5"/>
          <p:cNvSpPr txBox="1"/>
          <p:nvPr/>
        </p:nvSpPr>
        <p:spPr>
          <a:xfrm>
            <a:off x="1874520" y="2075688"/>
            <a:ext cx="3931920" cy="502920"/>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Inlined intersection, cached radius²</a:t>
            </a:r>
            <a:endParaRPr lang="en-US" sz="1200" dirty="0"/>
          </a:p>
        </p:txBody>
      </p:sp>
      <p:sp>
        <p:nvSpPr>
          <p:cNvPr id="8" name="Shape 6"/>
          <p:cNvSpPr/>
          <p:nvPr/>
        </p:nvSpPr>
        <p:spPr>
          <a:xfrm>
            <a:off x="5897880" y="2221992"/>
            <a:ext cx="1280160" cy="219456"/>
          </a:xfrm>
          <a:prstGeom prst="rect">
            <a:avLst/>
          </a:prstGeom>
          <a:solidFill>
            <a:srgbClr val="2D9B8A"/>
          </a:solidFill>
          <a:ln w="12700">
            <a:solidFill>
              <a:srgbClr val="2D9B8A"/>
            </a:solidFill>
            <a:prstDash val="solid"/>
          </a:ln>
        </p:spPr>
      </p:sp>
      <p:sp>
        <p:nvSpPr>
          <p:cNvPr id="9" name="Text 7"/>
          <p:cNvSpPr txBox="1"/>
          <p:nvPr/>
        </p:nvSpPr>
        <p:spPr>
          <a:xfrm>
            <a:off x="7315200" y="2075688"/>
            <a:ext cx="594360" cy="502920"/>
          </a:xfrm>
          <a:prstGeom prst="rect">
            <a:avLst/>
          </a:prstGeom>
          <a:noFill/>
          <a:ln/>
        </p:spPr>
        <p:txBody>
          <a:bodyPr wrap="square" lIns="0" tIns="0" rIns="0" bIns="0" rtlCol="0" anchor="ctr"/>
          <a:lstStyle/>
          <a:p>
            <a:pPr algn="r" indent="0" marL="0">
              <a:buNone/>
            </a:pPr>
            <a:r>
              <a:rPr lang="en-US" sz="1400" b="1" dirty="0">
                <a:solidFill>
                  <a:srgbClr val="1B2430"/>
                </a:solidFill>
                <a:latin typeface="Calibri" pitchFamily="34" charset="0"/>
                <a:ea typeface="Calibri" pitchFamily="34" charset="-122"/>
                <a:cs typeface="Calibri" pitchFamily="34" charset="-120"/>
              </a:rPr>
              <a:t>+56%</a:t>
            </a:r>
            <a:endParaRPr lang="en-US" sz="1400" dirty="0"/>
          </a:p>
        </p:txBody>
      </p:sp>
      <p:sp>
        <p:nvSpPr>
          <p:cNvPr id="10" name="Shape 8"/>
          <p:cNvSpPr/>
          <p:nvPr/>
        </p:nvSpPr>
        <p:spPr>
          <a:xfrm>
            <a:off x="548640" y="2834640"/>
            <a:ext cx="7406640" cy="731520"/>
          </a:xfrm>
          <a:prstGeom prst="roundRect">
            <a:avLst>
              <a:gd name="adj" fmla="val 7500"/>
            </a:avLst>
          </a:prstGeom>
          <a:solidFill>
            <a:srgbClr val="F3F6F8"/>
          </a:solidFill>
          <a:ln w="9525">
            <a:solidFill>
              <a:srgbClr val="DBE2E8"/>
            </a:solidFill>
            <a:prstDash val="solid"/>
          </a:ln>
        </p:spPr>
      </p:sp>
      <p:sp>
        <p:nvSpPr>
          <p:cNvPr id="11" name="Text 9"/>
          <p:cNvSpPr txBox="1"/>
          <p:nvPr/>
        </p:nvSpPr>
        <p:spPr>
          <a:xfrm>
            <a:off x="777240" y="2944368"/>
            <a:ext cx="100584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O1</a:t>
            </a:r>
            <a:endParaRPr lang="en-US" sz="1300" dirty="0"/>
          </a:p>
        </p:txBody>
      </p:sp>
      <p:sp>
        <p:nvSpPr>
          <p:cNvPr id="12" name="Text 10"/>
          <p:cNvSpPr txBox="1"/>
          <p:nvPr/>
        </p:nvSpPr>
        <p:spPr>
          <a:xfrm>
            <a:off x="1874520" y="2944368"/>
            <a:ext cx="3931920" cy="502920"/>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Shadow-ray hoist (previous slide)</a:t>
            </a:r>
            <a:endParaRPr lang="en-US" sz="1200" dirty="0"/>
          </a:p>
        </p:txBody>
      </p:sp>
      <p:sp>
        <p:nvSpPr>
          <p:cNvPr id="13" name="Shape 11"/>
          <p:cNvSpPr/>
          <p:nvPr/>
        </p:nvSpPr>
        <p:spPr>
          <a:xfrm>
            <a:off x="5897880" y="3090672"/>
            <a:ext cx="1005840" cy="219456"/>
          </a:xfrm>
          <a:prstGeom prst="rect">
            <a:avLst/>
          </a:prstGeom>
          <a:solidFill>
            <a:srgbClr val="2D9B8A"/>
          </a:solidFill>
          <a:ln w="12700">
            <a:solidFill>
              <a:srgbClr val="2D9B8A"/>
            </a:solidFill>
            <a:prstDash val="solid"/>
          </a:ln>
        </p:spPr>
      </p:sp>
      <p:sp>
        <p:nvSpPr>
          <p:cNvPr id="14" name="Text 12"/>
          <p:cNvSpPr txBox="1"/>
          <p:nvPr/>
        </p:nvSpPr>
        <p:spPr>
          <a:xfrm>
            <a:off x="7315200" y="2944368"/>
            <a:ext cx="594360" cy="502920"/>
          </a:xfrm>
          <a:prstGeom prst="rect">
            <a:avLst/>
          </a:prstGeom>
          <a:noFill/>
          <a:ln/>
        </p:spPr>
        <p:txBody>
          <a:bodyPr wrap="square" lIns="0" tIns="0" rIns="0" bIns="0" rtlCol="0" anchor="ctr"/>
          <a:lstStyle/>
          <a:p>
            <a:pPr algn="r" indent="0" marL="0">
              <a:buNone/>
            </a:pPr>
            <a:r>
              <a:rPr lang="en-US" sz="1400" b="1" dirty="0">
                <a:solidFill>
                  <a:srgbClr val="1B2430"/>
                </a:solidFill>
                <a:latin typeface="Calibri" pitchFamily="34" charset="0"/>
                <a:ea typeface="Calibri" pitchFamily="34" charset="-122"/>
                <a:cs typeface="Calibri" pitchFamily="34" charset="-120"/>
              </a:rPr>
              <a:t>+44%</a:t>
            </a:r>
            <a:endParaRPr lang="en-US" sz="1400" dirty="0"/>
          </a:p>
        </p:txBody>
      </p:sp>
      <p:sp>
        <p:nvSpPr>
          <p:cNvPr id="15" name="Shape 13"/>
          <p:cNvSpPr/>
          <p:nvPr/>
        </p:nvSpPr>
        <p:spPr>
          <a:xfrm>
            <a:off x="548640" y="3703320"/>
            <a:ext cx="7406640" cy="731520"/>
          </a:xfrm>
          <a:prstGeom prst="roundRect">
            <a:avLst>
              <a:gd name="adj" fmla="val 7500"/>
            </a:avLst>
          </a:prstGeom>
          <a:solidFill>
            <a:srgbClr val="F3F6F8"/>
          </a:solidFill>
          <a:ln w="9525">
            <a:solidFill>
              <a:srgbClr val="DBE2E8"/>
            </a:solidFill>
            <a:prstDash val="solid"/>
          </a:ln>
        </p:spPr>
      </p:sp>
      <p:sp>
        <p:nvSpPr>
          <p:cNvPr id="16" name="Text 14"/>
          <p:cNvSpPr txBox="1"/>
          <p:nvPr/>
        </p:nvSpPr>
        <p:spPr>
          <a:xfrm>
            <a:off x="777240" y="3813048"/>
            <a:ext cx="100584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O2</a:t>
            </a:r>
            <a:endParaRPr lang="en-US" sz="1300" dirty="0"/>
          </a:p>
        </p:txBody>
      </p:sp>
      <p:sp>
        <p:nvSpPr>
          <p:cNvPr id="17" name="Text 15"/>
          <p:cNvSpPr txBox="1"/>
          <p:nvPr/>
        </p:nvSpPr>
        <p:spPr>
          <a:xfrm>
            <a:off x="1874520" y="3813048"/>
            <a:ext cx="3931920" cy="502920"/>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Running minimum, no per-ray list</a:t>
            </a:r>
            <a:endParaRPr lang="en-US" sz="1200" dirty="0"/>
          </a:p>
        </p:txBody>
      </p:sp>
      <p:sp>
        <p:nvSpPr>
          <p:cNvPr id="18" name="Shape 16"/>
          <p:cNvSpPr/>
          <p:nvPr/>
        </p:nvSpPr>
        <p:spPr>
          <a:xfrm>
            <a:off x="5897880" y="3959352"/>
            <a:ext cx="182880" cy="219456"/>
          </a:xfrm>
          <a:prstGeom prst="rect">
            <a:avLst/>
          </a:prstGeom>
          <a:solidFill>
            <a:srgbClr val="C3CBD3"/>
          </a:solidFill>
          <a:ln w="12700">
            <a:solidFill>
              <a:srgbClr val="C3CBD3"/>
            </a:solidFill>
            <a:prstDash val="solid"/>
          </a:ln>
        </p:spPr>
      </p:sp>
      <p:sp>
        <p:nvSpPr>
          <p:cNvPr id="19" name="Text 17"/>
          <p:cNvSpPr txBox="1"/>
          <p:nvPr/>
        </p:nvSpPr>
        <p:spPr>
          <a:xfrm>
            <a:off x="7315200" y="3813048"/>
            <a:ext cx="594360" cy="502920"/>
          </a:xfrm>
          <a:prstGeom prst="rect">
            <a:avLst/>
          </a:prstGeom>
          <a:noFill/>
          <a:ln/>
        </p:spPr>
        <p:txBody>
          <a:bodyPr wrap="square" lIns="0" tIns="0" rIns="0" bIns="0" rtlCol="0" anchor="ctr"/>
          <a:lstStyle/>
          <a:p>
            <a:pPr algn="r" indent="0" marL="0">
              <a:buNone/>
            </a:pPr>
            <a:r>
              <a:rPr lang="en-US" sz="1400" b="1" dirty="0">
                <a:solidFill>
                  <a:srgbClr val="1B2430"/>
                </a:solidFill>
                <a:latin typeface="Calibri" pitchFamily="34" charset="0"/>
                <a:ea typeface="Calibri" pitchFamily="34" charset="-122"/>
                <a:cs typeface="Calibri" pitchFamily="34" charset="-120"/>
              </a:rPr>
              <a:t>+8%</a:t>
            </a:r>
            <a:endParaRPr lang="en-US" sz="1400" dirty="0"/>
          </a:p>
        </p:txBody>
      </p:sp>
      <p:sp>
        <p:nvSpPr>
          <p:cNvPr id="20" name="Shape 18"/>
          <p:cNvSpPr/>
          <p:nvPr/>
        </p:nvSpPr>
        <p:spPr>
          <a:xfrm>
            <a:off x="8229600" y="1965960"/>
            <a:ext cx="3410712" cy="2514600"/>
          </a:xfrm>
          <a:prstGeom prst="roundRect">
            <a:avLst>
              <a:gd name="adj" fmla="val 2182"/>
            </a:avLst>
          </a:prstGeom>
          <a:solidFill>
            <a:srgbClr val="FDF3EC"/>
          </a:solidFill>
          <a:ln w="9525">
            <a:solidFill>
              <a:srgbClr val="DBE2E8"/>
            </a:solidFill>
            <a:prstDash val="solid"/>
          </a:ln>
        </p:spPr>
      </p:sp>
      <p:sp>
        <p:nvSpPr>
          <p:cNvPr id="21" name="Text 19"/>
          <p:cNvSpPr txBox="1"/>
          <p:nvPr/>
        </p:nvSpPr>
        <p:spPr>
          <a:xfrm>
            <a:off x="8458200" y="2121408"/>
            <a:ext cx="297180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The counter-intuitive one</a:t>
            </a:r>
            <a:endParaRPr lang="en-US" sz="1300" dirty="0"/>
          </a:p>
        </p:txBody>
      </p:sp>
      <p:sp>
        <p:nvSpPr>
          <p:cNvPr id="22" name="Text 20"/>
          <p:cNvSpPr txBox="1"/>
          <p:nvPr/>
        </p:nvSpPr>
        <p:spPr>
          <a:xfrm>
            <a:off x="8458200" y="2450592"/>
            <a:ext cx="2971800" cy="1828800"/>
          </a:xfrm>
          <a:prstGeom prst="rect">
            <a:avLst/>
          </a:prstGeom>
          <a:noFill/>
          <a:ln/>
        </p:spPr>
        <p:txBody>
          <a:bodyPr wrap="square" lIns="0" tIns="0" rIns="0" bIns="0" rtlCol="0" anchor="ctr"/>
          <a:lstStyle/>
          <a:p>
            <a:pPr indent="0" marL="0">
              <a:lnSpc>
                <a:spcPts val="1700"/>
              </a:lnSpc>
              <a:buNone/>
            </a:pPr>
            <a:r>
              <a:rPr lang="en-US" sz="1200" dirty="0">
                <a:solidFill>
                  <a:srgbClr val="1B2430"/>
                </a:solidFill>
                <a:latin typeface="Calibri" pitchFamily="34" charset="0"/>
                <a:ea typeface="Calibri" pitchFamily="34" charset="-122"/>
                <a:cs typeface="Calibri" pitchFamily="34" charset="-120"/>
              </a:rPr>
              <a:t>Removing ~200,000 allocations per frame — the thing you instinctively reach for — was worth only 8%.</a:t>
            </a:r>
            <a:endParaRPr lang="en-US" sz="1200" dirty="0"/>
          </a:p>
          <a:p>
            <a:pPr indent="0" marL="0">
              <a:lnSpc>
                <a:spcPts val="1700"/>
              </a:lnSpc>
              <a:buNone/>
            </a:pPr>
            <a:endParaRPr lang="en-US" sz="1200" dirty="0"/>
          </a:p>
          <a:p>
            <a:pPr indent="0" marL="0">
              <a:lnSpc>
                <a:spcPts val="1700"/>
              </a:lnSpc>
              <a:buNone/>
            </a:pPr>
            <a:r>
              <a:rPr lang="en-US" sz="1200" dirty="0">
                <a:solidFill>
                  <a:srgbClr val="1B2430"/>
                </a:solidFill>
                <a:latin typeface="Calibri" pitchFamily="34" charset="0"/>
                <a:ea typeface="Calibri" pitchFamily="34" charset="-122"/>
                <a:cs typeface="Calibri" pitchFamily="34" charset="-120"/>
              </a:rPr>
              <a:t>The type-check and call overhead cost seven times more than the garbage did.</a:t>
            </a:r>
            <a:endParaRPr lang="en-US" sz="1200" dirty="0"/>
          </a:p>
        </p:txBody>
      </p:sp>
      <p:sp>
        <p:nvSpPr>
          <p:cNvPr id="23" name="Text 21"/>
          <p:cNvSpPr txBox="1"/>
          <p:nvPr/>
        </p:nvSpPr>
        <p:spPr>
          <a:xfrm>
            <a:off x="548640" y="4800600"/>
            <a:ext cx="11091672" cy="411480"/>
          </a:xfrm>
          <a:prstGeom prst="rect">
            <a:avLst/>
          </a:prstGeom>
          <a:noFill/>
          <a:ln/>
        </p:spPr>
        <p:txBody>
          <a:bodyPr wrap="square" lIns="0" tIns="0" rIns="0" bIns="0" rtlCol="0" anchor="ctr"/>
          <a:lstStyle/>
          <a:p>
            <a:pPr indent="0" marL="0">
              <a:lnSpc>
                <a:spcPts val="1800"/>
              </a:lnSpc>
              <a:buNone/>
            </a:pPr>
            <a:r>
              <a:rPr lang="en-US" sz="1300" b="1" dirty="0">
                <a:solidFill>
                  <a:srgbClr val="2D9B8A"/>
                </a:solidFill>
                <a:latin typeface="Calibri" pitchFamily="34" charset="0"/>
                <a:ea typeface="Calibri" pitchFamily="34" charset="-122"/>
                <a:cs typeface="Calibri" pitchFamily="34" charset="-120"/>
              </a:rPr>
              <a:t>Everything preserves the baseline's floating-point operand ORDER and GROUPING — FP addition is not associative, and that is what keeps the image bit-identical.</a:t>
            </a:r>
            <a:endParaRPr lang="en-US" sz="1300" dirty="0"/>
          </a:p>
        </p:txBody>
      </p:sp>
      <p:sp>
        <p:nvSpPr>
          <p:cNvPr id="24" name="Text 22"/>
          <p:cNvSpPr txBox="1"/>
          <p:nvPr/>
        </p:nvSpPr>
        <p:spPr>
          <a:xfrm>
            <a:off x="548640" y="5257800"/>
            <a:ext cx="11091672" cy="685800"/>
          </a:xfrm>
          <a:prstGeom prst="rect">
            <a:avLst/>
          </a:prstGeom>
          <a:noFill/>
          <a:ln/>
        </p:spPr>
        <p:txBody>
          <a:bodyPr wrap="square" lIns="0" tIns="0" rIns="0" bIns="0" rtlCol="0" anchor="ctr"/>
          <a:lstStyle/>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Also deliberately NOT fixed: CheckerboardSurface.baseColourAt() calls v.scale() and discards the result, so checkSize never takes effect. It is a real bug in the original — but fixing it would change the image, and the brief requires identical output. We flagged it in the report instead of silently preserving it.</a:t>
            </a:r>
            <a:endParaRPr lang="en-US" sz="1200" dirty="0"/>
          </a:p>
        </p:txBody>
      </p:sp>
      <p:sp>
        <p:nvSpPr>
          <p:cNvPr id="25" name="Text 2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26" name="Text 2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2D9B8A"/>
                </a:solidFill>
                <a:latin typeface="Calibri" pitchFamily="34" charset="0"/>
                <a:ea typeface="Calibri" pitchFamily="34" charset="-122"/>
                <a:cs typeface="Calibri" pitchFamily="34" charset="-120"/>
              </a:rPr>
              <a:t>BENCHMARK 2  ·  RESULT</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2.87× faster — and a trap in reading counters</a:t>
            </a:r>
            <a:endParaRPr lang="en-US" sz="2900" dirty="0"/>
          </a:p>
        </p:txBody>
      </p:sp>
      <p:sp>
        <p:nvSpPr>
          <p:cNvPr id="4" name="Text 2"/>
          <p:cNvSpPr txBox="1"/>
          <p:nvPr/>
        </p:nvSpPr>
        <p:spPr>
          <a:xfrm>
            <a:off x="548640" y="1325880"/>
            <a:ext cx="2377440" cy="658368"/>
          </a:xfrm>
          <a:prstGeom prst="rect">
            <a:avLst/>
          </a:prstGeom>
          <a:noFill/>
          <a:ln/>
        </p:spPr>
        <p:txBody>
          <a:bodyPr wrap="square" lIns="0" tIns="0" rIns="0" bIns="0" rtlCol="0" anchor="ctr"/>
          <a:lstStyle/>
          <a:p>
            <a:pPr algn="ctr" indent="0" marL="0">
              <a:buNone/>
            </a:pPr>
            <a:r>
              <a:rPr lang="en-US" sz="4000" b="1" dirty="0">
                <a:solidFill>
                  <a:srgbClr val="E8833A"/>
                </a:solidFill>
                <a:latin typeface="Cambria" pitchFamily="34" charset="0"/>
                <a:ea typeface="Cambria" pitchFamily="34" charset="-122"/>
                <a:cs typeface="Cambria" pitchFamily="34" charset="-120"/>
              </a:rPr>
              <a:t>809 ms</a:t>
            </a:r>
            <a:endParaRPr lang="en-US" sz="4000" dirty="0"/>
          </a:p>
        </p:txBody>
      </p:sp>
      <p:sp>
        <p:nvSpPr>
          <p:cNvPr id="5" name="Text 3"/>
          <p:cNvSpPr txBox="1"/>
          <p:nvPr/>
        </p:nvSpPr>
        <p:spPr>
          <a:xfrm>
            <a:off x="548640" y="198424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baseline</a:t>
            </a:r>
            <a:endParaRPr lang="en-US" sz="1100" dirty="0"/>
          </a:p>
        </p:txBody>
      </p:sp>
      <p:sp>
        <p:nvSpPr>
          <p:cNvPr id="6" name="Shape 4"/>
          <p:cNvSpPr/>
          <p:nvPr/>
        </p:nvSpPr>
        <p:spPr>
          <a:xfrm>
            <a:off x="3063240" y="1645920"/>
            <a:ext cx="502920" cy="0"/>
          </a:xfrm>
          <a:prstGeom prst="line">
            <a:avLst/>
          </a:prstGeom>
          <a:noFill/>
          <a:ln w="22225">
            <a:solidFill>
              <a:srgbClr val="6B7785"/>
            </a:solidFill>
            <a:prstDash val="solid"/>
            <a:tailEnd type="triangle"/>
          </a:ln>
        </p:spPr>
      </p:sp>
      <p:sp>
        <p:nvSpPr>
          <p:cNvPr id="7" name="Text 5"/>
          <p:cNvSpPr txBox="1"/>
          <p:nvPr/>
        </p:nvSpPr>
        <p:spPr>
          <a:xfrm>
            <a:off x="3657600" y="1325880"/>
            <a:ext cx="2377440" cy="658368"/>
          </a:xfrm>
          <a:prstGeom prst="rect">
            <a:avLst/>
          </a:prstGeom>
          <a:noFill/>
          <a:ln/>
        </p:spPr>
        <p:txBody>
          <a:bodyPr wrap="square" lIns="0" tIns="0" rIns="0" bIns="0" rtlCol="0" anchor="ctr"/>
          <a:lstStyle/>
          <a:p>
            <a:pPr algn="ctr" indent="0" marL="0">
              <a:buNone/>
            </a:pPr>
            <a:r>
              <a:rPr lang="en-US" sz="4000" b="1" dirty="0">
                <a:solidFill>
                  <a:srgbClr val="2D9B8A"/>
                </a:solidFill>
                <a:latin typeface="Cambria" pitchFamily="34" charset="0"/>
                <a:ea typeface="Cambria" pitchFamily="34" charset="-122"/>
                <a:cs typeface="Cambria" pitchFamily="34" charset="-120"/>
              </a:rPr>
              <a:t>282 ms</a:t>
            </a:r>
            <a:endParaRPr lang="en-US" sz="4000" dirty="0"/>
          </a:p>
        </p:txBody>
      </p:sp>
      <p:sp>
        <p:nvSpPr>
          <p:cNvPr id="8" name="Text 6"/>
          <p:cNvSpPr txBox="1"/>
          <p:nvPr/>
        </p:nvSpPr>
        <p:spPr>
          <a:xfrm>
            <a:off x="3657600" y="198424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optimized</a:t>
            </a:r>
            <a:endParaRPr lang="en-US" sz="1100" dirty="0"/>
          </a:p>
        </p:txBody>
      </p:sp>
      <p:sp>
        <p:nvSpPr>
          <p:cNvPr id="9" name="Shape 7"/>
          <p:cNvSpPr/>
          <p:nvPr/>
        </p:nvSpPr>
        <p:spPr>
          <a:xfrm>
            <a:off x="6400800" y="1280160"/>
            <a:ext cx="2377440" cy="960120"/>
          </a:xfrm>
          <a:prstGeom prst="roundRect">
            <a:avLst>
              <a:gd name="adj" fmla="val 5714"/>
            </a:avLst>
          </a:prstGeom>
          <a:solidFill>
            <a:srgbClr val="2D9B8A"/>
          </a:solidFill>
          <a:ln w="12700">
            <a:solidFill>
              <a:srgbClr val="2D9B8A"/>
            </a:solidFill>
            <a:prstDash val="solid"/>
          </a:ln>
        </p:spPr>
      </p:sp>
      <p:sp>
        <p:nvSpPr>
          <p:cNvPr id="10" name="Text 8"/>
          <p:cNvSpPr txBox="1"/>
          <p:nvPr/>
        </p:nvSpPr>
        <p:spPr>
          <a:xfrm>
            <a:off x="6400800" y="1344168"/>
            <a:ext cx="2377440" cy="54864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2.87×</a:t>
            </a:r>
            <a:endParaRPr lang="en-US" sz="3200" dirty="0"/>
          </a:p>
        </p:txBody>
      </p:sp>
      <p:sp>
        <p:nvSpPr>
          <p:cNvPr id="11" name="Text 9"/>
          <p:cNvSpPr txBox="1"/>
          <p:nvPr/>
        </p:nvSpPr>
        <p:spPr>
          <a:xfrm>
            <a:off x="6400800" y="1874520"/>
            <a:ext cx="2377440" cy="274320"/>
          </a:xfrm>
          <a:prstGeom prst="rect">
            <a:avLst/>
          </a:prstGeom>
          <a:noFill/>
          <a:ln/>
        </p:spPr>
        <p:txBody>
          <a:bodyPr wrap="square" lIns="0" tIns="0" rIns="0" bIns="0" rtlCol="0" anchor="ctr"/>
          <a:lstStyle/>
          <a:p>
            <a:pPr algn="ctr" indent="0" marL="0">
              <a:buNone/>
            </a:pPr>
            <a:r>
              <a:rPr lang="en-US" sz="1100" dirty="0">
                <a:solidFill>
                  <a:srgbClr val="D6F0EA"/>
                </a:solidFill>
                <a:latin typeface="Calibri" pitchFamily="34" charset="0"/>
                <a:ea typeface="Calibri" pitchFamily="34" charset="-122"/>
                <a:cs typeface="Calibri" pitchFamily="34" charset="-120"/>
              </a:rPr>
              <a:t>65.1% cut  ·  t = 315</a:t>
            </a:r>
            <a:endParaRPr lang="en-US" sz="1100" dirty="0"/>
          </a:p>
        </p:txBody>
      </p:sp>
      <p:sp>
        <p:nvSpPr>
          <p:cNvPr id="12" name="Text 10"/>
          <p:cNvSpPr txBox="1"/>
          <p:nvPr/>
        </p:nvSpPr>
        <p:spPr>
          <a:xfrm>
            <a:off x="9098280" y="1325880"/>
            <a:ext cx="2560320" cy="914400"/>
          </a:xfrm>
          <a:prstGeom prst="rect">
            <a:avLst/>
          </a:prstGeom>
          <a:noFill/>
          <a:ln/>
        </p:spPr>
        <p:txBody>
          <a:bodyPr wrap="square" lIns="0" tIns="0" rIns="0" bIns="0" rtlCol="0" anchor="ctr"/>
          <a:lstStyle/>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IPC 2.59 → 2.70</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instructions 2.78× fewer</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Same story as pyflate.</a:t>
            </a:r>
            <a:endParaRPr lang="en-US" sz="1200" dirty="0"/>
          </a:p>
        </p:txBody>
      </p:sp>
      <p:sp>
        <p:nvSpPr>
          <p:cNvPr id="13" name="Shape 11"/>
          <p:cNvSpPr/>
          <p:nvPr/>
        </p:nvSpPr>
        <p:spPr>
          <a:xfrm>
            <a:off x="548640" y="2514600"/>
            <a:ext cx="11091672" cy="3291840"/>
          </a:xfrm>
          <a:prstGeom prst="roundRect">
            <a:avLst>
              <a:gd name="adj" fmla="val 1667"/>
            </a:avLst>
          </a:prstGeom>
          <a:solidFill>
            <a:srgbClr val="1B2430"/>
          </a:solidFill>
          <a:ln w="12700">
            <a:solidFill>
              <a:srgbClr val="1B2430"/>
            </a:solidFill>
            <a:prstDash val="solid"/>
          </a:ln>
        </p:spPr>
      </p:sp>
      <p:sp>
        <p:nvSpPr>
          <p:cNvPr id="14" name="Text 12"/>
          <p:cNvSpPr txBox="1"/>
          <p:nvPr/>
        </p:nvSpPr>
        <p:spPr>
          <a:xfrm>
            <a:off x="868680" y="2697480"/>
            <a:ext cx="10424160" cy="320040"/>
          </a:xfrm>
          <a:prstGeom prst="rect">
            <a:avLst/>
          </a:prstGeom>
          <a:noFill/>
          <a:ln/>
        </p:spPr>
        <p:txBody>
          <a:bodyPr wrap="square" lIns="0" tIns="0" rIns="0" bIns="0" rtlCol="0" anchor="ctr"/>
          <a:lstStyle/>
          <a:p>
            <a:pPr indent="0" marL="0">
              <a:buNone/>
            </a:pPr>
            <a:r>
              <a:rPr lang="en-US" sz="1600" b="1" dirty="0">
                <a:solidFill>
                  <a:srgbClr val="E8833A"/>
                </a:solidFill>
                <a:latin typeface="Calibri" pitchFamily="34" charset="0"/>
                <a:ea typeface="Calibri" pitchFamily="34" charset="-122"/>
                <a:cs typeface="Calibri" pitchFamily="34" charset="-120"/>
              </a:rPr>
              <a:t>One row looks like a regression — and is not</a:t>
            </a:r>
            <a:endParaRPr lang="en-US" sz="1600" dirty="0"/>
          </a:p>
        </p:txBody>
      </p:sp>
      <p:sp>
        <p:nvSpPr>
          <p:cNvPr id="15" name="Text 13"/>
          <p:cNvSpPr txBox="1"/>
          <p:nvPr/>
        </p:nvSpPr>
        <p:spPr>
          <a:xfrm>
            <a:off x="868680" y="3200400"/>
            <a:ext cx="3200400" cy="320040"/>
          </a:xfrm>
          <a:prstGeom prst="rect">
            <a:avLst/>
          </a:prstGeom>
          <a:noFill/>
          <a:ln/>
        </p:spPr>
        <p:txBody>
          <a:bodyPr wrap="square" lIns="0" tIns="0" rIns="0" bIns="0" rtlCol="0" anchor="ctr"/>
          <a:lstStyle/>
          <a:p>
            <a:pPr indent="0" marL="0">
              <a:buNone/>
            </a:pPr>
            <a:r>
              <a:rPr lang="en-US" sz="1250" dirty="0">
                <a:solidFill>
                  <a:srgbClr val="E8EDF2"/>
                </a:solidFill>
                <a:latin typeface="Courier New" pitchFamily="34" charset="0"/>
                <a:ea typeface="Courier New" pitchFamily="34" charset="-122"/>
                <a:cs typeface="Courier New" pitchFamily="34" charset="-120"/>
              </a:rPr>
              <a:t>cache-miss RATE</a:t>
            </a:r>
            <a:endParaRPr lang="en-US" sz="1250" dirty="0"/>
          </a:p>
        </p:txBody>
      </p:sp>
      <p:sp>
        <p:nvSpPr>
          <p:cNvPr id="16" name="Text 14"/>
          <p:cNvSpPr txBox="1"/>
          <p:nvPr/>
        </p:nvSpPr>
        <p:spPr>
          <a:xfrm>
            <a:off x="4069080" y="3200400"/>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1.02%</a:t>
            </a:r>
            <a:endParaRPr lang="en-US" sz="1250" dirty="0"/>
          </a:p>
        </p:txBody>
      </p:sp>
      <p:sp>
        <p:nvSpPr>
          <p:cNvPr id="17" name="Text 15"/>
          <p:cNvSpPr txBox="1"/>
          <p:nvPr/>
        </p:nvSpPr>
        <p:spPr>
          <a:xfrm>
            <a:off x="6263640" y="3200400"/>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2.91%</a:t>
            </a:r>
            <a:endParaRPr lang="en-US" sz="1250" dirty="0"/>
          </a:p>
        </p:txBody>
      </p:sp>
      <p:sp>
        <p:nvSpPr>
          <p:cNvPr id="18" name="Text 16"/>
          <p:cNvSpPr txBox="1"/>
          <p:nvPr/>
        </p:nvSpPr>
        <p:spPr>
          <a:xfrm>
            <a:off x="8458200" y="3200400"/>
            <a:ext cx="2743200" cy="320040"/>
          </a:xfrm>
          <a:prstGeom prst="rect">
            <a:avLst/>
          </a:prstGeom>
          <a:noFill/>
          <a:ln/>
        </p:spPr>
        <p:txBody>
          <a:bodyPr wrap="square" lIns="0" tIns="0" rIns="0" bIns="0" rtlCol="0" anchor="ctr"/>
          <a:lstStyle/>
          <a:p>
            <a:pPr indent="0" marL="0">
              <a:buNone/>
            </a:pPr>
            <a:r>
              <a:rPr lang="en-US" sz="1250" b="1" dirty="0">
                <a:solidFill>
                  <a:srgbClr val="E8833A"/>
                </a:solidFill>
                <a:latin typeface="Calibri" pitchFamily="34" charset="0"/>
                <a:ea typeface="Calibri" pitchFamily="34" charset="-122"/>
                <a:cs typeface="Calibri" pitchFamily="34" charset="-120"/>
              </a:rPr>
              <a:t>WORSE</a:t>
            </a:r>
            <a:endParaRPr lang="en-US" sz="1250" dirty="0"/>
          </a:p>
        </p:txBody>
      </p:sp>
      <p:sp>
        <p:nvSpPr>
          <p:cNvPr id="19" name="Text 17"/>
          <p:cNvSpPr txBox="1"/>
          <p:nvPr/>
        </p:nvSpPr>
        <p:spPr>
          <a:xfrm>
            <a:off x="868680" y="3639312"/>
            <a:ext cx="3200400" cy="320040"/>
          </a:xfrm>
          <a:prstGeom prst="rect">
            <a:avLst/>
          </a:prstGeom>
          <a:noFill/>
          <a:ln/>
        </p:spPr>
        <p:txBody>
          <a:bodyPr wrap="square" lIns="0" tIns="0" rIns="0" bIns="0" rtlCol="0" anchor="ctr"/>
          <a:lstStyle/>
          <a:p>
            <a:pPr indent="0" marL="0">
              <a:buNone/>
            </a:pPr>
            <a:r>
              <a:rPr lang="en-US" sz="1250" dirty="0">
                <a:solidFill>
                  <a:srgbClr val="E8EDF2"/>
                </a:solidFill>
                <a:latin typeface="Courier New" pitchFamily="34" charset="0"/>
                <a:ea typeface="Courier New" pitchFamily="34" charset="-122"/>
                <a:cs typeface="Courier New" pitchFamily="34" charset="-120"/>
              </a:rPr>
              <a:t>cache REFERENCES</a:t>
            </a:r>
            <a:endParaRPr lang="en-US" sz="1250" dirty="0"/>
          </a:p>
        </p:txBody>
      </p:sp>
      <p:sp>
        <p:nvSpPr>
          <p:cNvPr id="20" name="Text 18"/>
          <p:cNvSpPr txBox="1"/>
          <p:nvPr/>
        </p:nvSpPr>
        <p:spPr>
          <a:xfrm>
            <a:off x="4069080" y="3639312"/>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18.7 M</a:t>
            </a:r>
            <a:endParaRPr lang="en-US" sz="1250" dirty="0"/>
          </a:p>
        </p:txBody>
      </p:sp>
      <p:sp>
        <p:nvSpPr>
          <p:cNvPr id="21" name="Text 19"/>
          <p:cNvSpPr txBox="1"/>
          <p:nvPr/>
        </p:nvSpPr>
        <p:spPr>
          <a:xfrm>
            <a:off x="6263640" y="3639312"/>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3.00 M</a:t>
            </a:r>
            <a:endParaRPr lang="en-US" sz="1250" dirty="0"/>
          </a:p>
        </p:txBody>
      </p:sp>
      <p:sp>
        <p:nvSpPr>
          <p:cNvPr id="22" name="Text 20"/>
          <p:cNvSpPr txBox="1"/>
          <p:nvPr/>
        </p:nvSpPr>
        <p:spPr>
          <a:xfrm>
            <a:off x="8458200" y="3639312"/>
            <a:ext cx="2743200" cy="320040"/>
          </a:xfrm>
          <a:prstGeom prst="rect">
            <a:avLst/>
          </a:prstGeom>
          <a:noFill/>
          <a:ln/>
        </p:spPr>
        <p:txBody>
          <a:bodyPr wrap="square" lIns="0" tIns="0" rIns="0" bIns="0" rtlCol="0" anchor="ctr"/>
          <a:lstStyle/>
          <a:p>
            <a:pPr indent="0" marL="0">
              <a:buNone/>
            </a:pPr>
            <a:r>
              <a:rPr lang="en-US" sz="1250" b="1" dirty="0">
                <a:solidFill>
                  <a:srgbClr val="2D9B8A"/>
                </a:solidFill>
                <a:latin typeface="Calibri" pitchFamily="34" charset="0"/>
                <a:ea typeface="Calibri" pitchFamily="34" charset="-122"/>
                <a:cs typeface="Calibri" pitchFamily="34" charset="-120"/>
              </a:rPr>
              <a:t>6.23× fewer</a:t>
            </a:r>
            <a:endParaRPr lang="en-US" sz="1250" dirty="0"/>
          </a:p>
        </p:txBody>
      </p:sp>
      <p:sp>
        <p:nvSpPr>
          <p:cNvPr id="23" name="Text 21"/>
          <p:cNvSpPr txBox="1"/>
          <p:nvPr/>
        </p:nvSpPr>
        <p:spPr>
          <a:xfrm>
            <a:off x="868680" y="4078224"/>
            <a:ext cx="3200400" cy="320040"/>
          </a:xfrm>
          <a:prstGeom prst="rect">
            <a:avLst/>
          </a:prstGeom>
          <a:noFill/>
          <a:ln/>
        </p:spPr>
        <p:txBody>
          <a:bodyPr wrap="square" lIns="0" tIns="0" rIns="0" bIns="0" rtlCol="0" anchor="ctr"/>
          <a:lstStyle/>
          <a:p>
            <a:pPr indent="0" marL="0">
              <a:buNone/>
            </a:pPr>
            <a:r>
              <a:rPr lang="en-US" sz="1250" dirty="0">
                <a:solidFill>
                  <a:srgbClr val="E8EDF2"/>
                </a:solidFill>
                <a:latin typeface="Courier New" pitchFamily="34" charset="0"/>
                <a:ea typeface="Courier New" pitchFamily="34" charset="-122"/>
                <a:cs typeface="Courier New" pitchFamily="34" charset="-120"/>
              </a:rPr>
              <a:t>cache MISSES</a:t>
            </a:r>
            <a:endParaRPr lang="en-US" sz="1250" dirty="0"/>
          </a:p>
        </p:txBody>
      </p:sp>
      <p:sp>
        <p:nvSpPr>
          <p:cNvPr id="24" name="Text 22"/>
          <p:cNvSpPr txBox="1"/>
          <p:nvPr/>
        </p:nvSpPr>
        <p:spPr>
          <a:xfrm>
            <a:off x="4069080" y="4078224"/>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190 K</a:t>
            </a:r>
            <a:endParaRPr lang="en-US" sz="1250" dirty="0"/>
          </a:p>
        </p:txBody>
      </p:sp>
      <p:sp>
        <p:nvSpPr>
          <p:cNvPr id="25" name="Text 23"/>
          <p:cNvSpPr txBox="1"/>
          <p:nvPr/>
        </p:nvSpPr>
        <p:spPr>
          <a:xfrm>
            <a:off x="6263640" y="4078224"/>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87 K</a:t>
            </a:r>
            <a:endParaRPr lang="en-US" sz="1250" dirty="0"/>
          </a:p>
        </p:txBody>
      </p:sp>
      <p:sp>
        <p:nvSpPr>
          <p:cNvPr id="26" name="Text 24"/>
          <p:cNvSpPr txBox="1"/>
          <p:nvPr/>
        </p:nvSpPr>
        <p:spPr>
          <a:xfrm>
            <a:off x="8458200" y="4078224"/>
            <a:ext cx="2743200" cy="320040"/>
          </a:xfrm>
          <a:prstGeom prst="rect">
            <a:avLst/>
          </a:prstGeom>
          <a:noFill/>
          <a:ln/>
        </p:spPr>
        <p:txBody>
          <a:bodyPr wrap="square" lIns="0" tIns="0" rIns="0" bIns="0" rtlCol="0" anchor="ctr"/>
          <a:lstStyle/>
          <a:p>
            <a:pPr indent="0" marL="0">
              <a:buNone/>
            </a:pPr>
            <a:r>
              <a:rPr lang="en-US" sz="1250" b="1" dirty="0">
                <a:solidFill>
                  <a:srgbClr val="2D9B8A"/>
                </a:solidFill>
                <a:latin typeface="Calibri" pitchFamily="34" charset="0"/>
                <a:ea typeface="Calibri" pitchFamily="34" charset="-122"/>
                <a:cs typeface="Calibri" pitchFamily="34" charset="-120"/>
              </a:rPr>
              <a:t>2.18× fewer</a:t>
            </a:r>
            <a:endParaRPr lang="en-US" sz="1250" dirty="0"/>
          </a:p>
        </p:txBody>
      </p:sp>
      <p:sp>
        <p:nvSpPr>
          <p:cNvPr id="27" name="Text 25"/>
          <p:cNvSpPr txBox="1"/>
          <p:nvPr/>
        </p:nvSpPr>
        <p:spPr>
          <a:xfrm>
            <a:off x="868680" y="4572000"/>
            <a:ext cx="10424160" cy="685800"/>
          </a:xfrm>
          <a:prstGeom prst="rect">
            <a:avLst/>
          </a:prstGeom>
          <a:noFill/>
          <a:ln/>
        </p:spPr>
        <p:txBody>
          <a:bodyPr wrap="square" lIns="0" tIns="0" rIns="0" bIns="0" rtlCol="0" anchor="ctr"/>
          <a:lstStyle/>
          <a:p>
            <a:pPr indent="0" marL="0">
              <a:lnSpc>
                <a:spcPts val="1700"/>
              </a:lnSpc>
              <a:buNone/>
            </a:pPr>
            <a:r>
              <a:rPr lang="en-US" sz="1250" dirty="0">
                <a:solidFill>
                  <a:srgbClr val="AFBECD"/>
                </a:solidFill>
                <a:latin typeface="Calibri" pitchFamily="34" charset="0"/>
                <a:ea typeface="Calibri" pitchFamily="34" charset="-122"/>
                <a:cs typeface="Calibri" pitchFamily="34" charset="-120"/>
              </a:rPr>
              <a:t>The optimized code makes 6.23× fewer cache REFERENCES, because it no longer allocates and chases a swarm of short-lived Vector objects. The references that remain are the genuinely cold ones — so the ratio of misses to references rises even though the machine stalls far less often.</a:t>
            </a:r>
            <a:endParaRPr lang="en-US" sz="1250" dirty="0"/>
          </a:p>
        </p:txBody>
      </p:sp>
      <p:sp>
        <p:nvSpPr>
          <p:cNvPr id="28" name="Text 26"/>
          <p:cNvSpPr txBox="1"/>
          <p:nvPr/>
        </p:nvSpPr>
        <p:spPr>
          <a:xfrm>
            <a:off x="868680" y="5285232"/>
            <a:ext cx="10424160" cy="475488"/>
          </a:xfrm>
          <a:prstGeom prst="rect">
            <a:avLst/>
          </a:prstGeom>
          <a:noFill/>
          <a:ln/>
        </p:spPr>
        <p:txBody>
          <a:bodyPr wrap="square" lIns="0" tIns="0" rIns="0" bIns="0" rtlCol="0" anchor="ctr"/>
          <a:lstStyle/>
          <a:p>
            <a:pPr indent="0" marL="0">
              <a:buNone/>
            </a:pPr>
            <a:r>
              <a:rPr lang="en-US" sz="1300" b="1" i="1" dirty="0">
                <a:solidFill>
                  <a:srgbClr val="FFFFFF"/>
                </a:solidFill>
                <a:latin typeface="Calibri" pitchFamily="34" charset="0"/>
                <a:ea typeface="Calibri" pitchFamily="34" charset="-122"/>
                <a:cs typeface="Calibri" pitchFamily="34" charset="-120"/>
              </a:rPr>
              <a:t>This is the same trap the course's own perf tutorial sets with row-major vs column-major traversal. A rate is not a performance metric; misses per unit of work is.</a:t>
            </a:r>
            <a:endParaRPr lang="en-US" sz="1300" dirty="0"/>
          </a:p>
        </p:txBody>
      </p:sp>
      <p:sp>
        <p:nvSpPr>
          <p:cNvPr id="29" name="Text 27"/>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30" name="Text 28"/>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HARDWARE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A weight-stationary array — systolic in style</a:t>
            </a:r>
            <a:endParaRPr lang="en-US" sz="2900" dirty="0"/>
          </a:p>
        </p:txBody>
      </p:sp>
      <p:sp>
        <p:nvSpPr>
          <p:cNvPr id="4" name="Text 2"/>
          <p:cNvSpPr txBox="1"/>
          <p:nvPr/>
        </p:nvSpPr>
        <p:spPr>
          <a:xfrm>
            <a:off x="548640" y="1298448"/>
            <a:ext cx="11091672" cy="658368"/>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Every intersection test is the same fixed shape — 3 subtractions, 6 multiplies, 4 adds, one square root. Fixed operand count, fixed latency, no data-dependent control — exactly what a systolic array wants. We take two of its three properties: weights stationary, PEs with no control. The ray is BROADCAST to all 8, not pulsed neighbour to neighbour.</a:t>
            </a:r>
            <a:endParaRPr lang="en-US" sz="1300" dirty="0"/>
          </a:p>
        </p:txBody>
      </p:sp>
      <p:sp>
        <p:nvSpPr>
          <p:cNvPr id="5" name="Shape 3"/>
          <p:cNvSpPr/>
          <p:nvPr/>
        </p:nvSpPr>
        <p:spPr>
          <a:xfrm>
            <a:off x="548640" y="2011680"/>
            <a:ext cx="1298448" cy="1051560"/>
          </a:xfrm>
          <a:prstGeom prst="roundRect">
            <a:avLst>
              <a:gd name="adj" fmla="val 4348"/>
            </a:avLst>
          </a:prstGeom>
          <a:solidFill>
            <a:srgbClr val="2B3A4A"/>
          </a:solidFill>
          <a:ln w="9525">
            <a:solidFill>
              <a:srgbClr val="3C4E61"/>
            </a:solidFill>
            <a:prstDash val="solid"/>
          </a:ln>
        </p:spPr>
      </p:sp>
      <p:sp>
        <p:nvSpPr>
          <p:cNvPr id="6" name="Text 4"/>
          <p:cNvSpPr txBox="1"/>
          <p:nvPr/>
        </p:nvSpPr>
        <p:spPr>
          <a:xfrm>
            <a:off x="548640" y="2121408"/>
            <a:ext cx="1298448"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PE0</a:t>
            </a:r>
            <a:endParaRPr lang="en-US" sz="1200" dirty="0"/>
          </a:p>
        </p:txBody>
      </p:sp>
      <p:sp>
        <p:nvSpPr>
          <p:cNvPr id="7" name="Text 5"/>
          <p:cNvSpPr txBox="1"/>
          <p:nvPr/>
        </p:nvSpPr>
        <p:spPr>
          <a:xfrm>
            <a:off x="548640" y="2395728"/>
            <a:ext cx="1298448" cy="548640"/>
          </a:xfrm>
          <a:prstGeom prst="rect">
            <a:avLst/>
          </a:prstGeom>
          <a:noFill/>
          <a:ln/>
        </p:spPr>
        <p:txBody>
          <a:bodyPr wrap="square" lIns="0" tIns="0" rIns="0" bIns="0" rtlCol="0" anchor="ctr"/>
          <a:lstStyle/>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cx cy</a:t>
            </a:r>
            <a:endParaRPr lang="en-US" sz="1000" dirty="0"/>
          </a:p>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cz r²</a:t>
            </a:r>
            <a:endParaRPr lang="en-US" sz="1000" dirty="0"/>
          </a:p>
        </p:txBody>
      </p:sp>
      <p:sp>
        <p:nvSpPr>
          <p:cNvPr id="8" name="Shape 6"/>
          <p:cNvSpPr/>
          <p:nvPr/>
        </p:nvSpPr>
        <p:spPr>
          <a:xfrm>
            <a:off x="2029968" y="2011680"/>
            <a:ext cx="1298448" cy="1051560"/>
          </a:xfrm>
          <a:prstGeom prst="roundRect">
            <a:avLst>
              <a:gd name="adj" fmla="val 4348"/>
            </a:avLst>
          </a:prstGeom>
          <a:solidFill>
            <a:srgbClr val="2B3A4A"/>
          </a:solidFill>
          <a:ln w="9525">
            <a:solidFill>
              <a:srgbClr val="3C4E61"/>
            </a:solidFill>
            <a:prstDash val="solid"/>
          </a:ln>
        </p:spPr>
      </p:sp>
      <p:sp>
        <p:nvSpPr>
          <p:cNvPr id="9" name="Text 7"/>
          <p:cNvSpPr txBox="1"/>
          <p:nvPr/>
        </p:nvSpPr>
        <p:spPr>
          <a:xfrm>
            <a:off x="2029968" y="2121408"/>
            <a:ext cx="1298448"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PE1</a:t>
            </a:r>
            <a:endParaRPr lang="en-US" sz="1200" dirty="0"/>
          </a:p>
        </p:txBody>
      </p:sp>
      <p:sp>
        <p:nvSpPr>
          <p:cNvPr id="10" name="Text 8"/>
          <p:cNvSpPr txBox="1"/>
          <p:nvPr/>
        </p:nvSpPr>
        <p:spPr>
          <a:xfrm>
            <a:off x="2029968" y="2395728"/>
            <a:ext cx="1298448" cy="548640"/>
          </a:xfrm>
          <a:prstGeom prst="rect">
            <a:avLst/>
          </a:prstGeom>
          <a:noFill/>
          <a:ln/>
        </p:spPr>
        <p:txBody>
          <a:bodyPr wrap="square" lIns="0" tIns="0" rIns="0" bIns="0" rtlCol="0" anchor="ctr"/>
          <a:lstStyle/>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cx cy</a:t>
            </a:r>
            <a:endParaRPr lang="en-US" sz="1000" dirty="0"/>
          </a:p>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cz r²</a:t>
            </a:r>
            <a:endParaRPr lang="en-US" sz="1000" dirty="0"/>
          </a:p>
        </p:txBody>
      </p:sp>
      <p:sp>
        <p:nvSpPr>
          <p:cNvPr id="11" name="Shape 9"/>
          <p:cNvSpPr/>
          <p:nvPr/>
        </p:nvSpPr>
        <p:spPr>
          <a:xfrm>
            <a:off x="3511296" y="2011680"/>
            <a:ext cx="1298448" cy="1051560"/>
          </a:xfrm>
          <a:prstGeom prst="roundRect">
            <a:avLst>
              <a:gd name="adj" fmla="val 4348"/>
            </a:avLst>
          </a:prstGeom>
          <a:solidFill>
            <a:srgbClr val="2B3A4A"/>
          </a:solidFill>
          <a:ln w="9525">
            <a:solidFill>
              <a:srgbClr val="3C4E61"/>
            </a:solidFill>
            <a:prstDash val="solid"/>
          </a:ln>
        </p:spPr>
      </p:sp>
      <p:sp>
        <p:nvSpPr>
          <p:cNvPr id="12" name="Text 10"/>
          <p:cNvSpPr txBox="1"/>
          <p:nvPr/>
        </p:nvSpPr>
        <p:spPr>
          <a:xfrm>
            <a:off x="3511296" y="2121408"/>
            <a:ext cx="1298448"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PE2</a:t>
            </a:r>
            <a:endParaRPr lang="en-US" sz="1200" dirty="0"/>
          </a:p>
        </p:txBody>
      </p:sp>
      <p:sp>
        <p:nvSpPr>
          <p:cNvPr id="13" name="Text 11"/>
          <p:cNvSpPr txBox="1"/>
          <p:nvPr/>
        </p:nvSpPr>
        <p:spPr>
          <a:xfrm>
            <a:off x="3511296" y="2395728"/>
            <a:ext cx="1298448" cy="548640"/>
          </a:xfrm>
          <a:prstGeom prst="rect">
            <a:avLst/>
          </a:prstGeom>
          <a:noFill/>
          <a:ln/>
        </p:spPr>
        <p:txBody>
          <a:bodyPr wrap="square" lIns="0" tIns="0" rIns="0" bIns="0" rtlCol="0" anchor="ctr"/>
          <a:lstStyle/>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cx cy</a:t>
            </a:r>
            <a:endParaRPr lang="en-US" sz="1000" dirty="0"/>
          </a:p>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cz r²</a:t>
            </a:r>
            <a:endParaRPr lang="en-US" sz="1000" dirty="0"/>
          </a:p>
        </p:txBody>
      </p:sp>
      <p:sp>
        <p:nvSpPr>
          <p:cNvPr id="14" name="Shape 12"/>
          <p:cNvSpPr/>
          <p:nvPr/>
        </p:nvSpPr>
        <p:spPr>
          <a:xfrm>
            <a:off x="4992624" y="2011680"/>
            <a:ext cx="1298448" cy="1051560"/>
          </a:xfrm>
          <a:prstGeom prst="roundRect">
            <a:avLst>
              <a:gd name="adj" fmla="val 4348"/>
            </a:avLst>
          </a:prstGeom>
          <a:solidFill>
            <a:srgbClr val="C3CBD3"/>
          </a:solidFill>
          <a:ln w="9525">
            <a:solidFill>
              <a:srgbClr val="3C4E61"/>
            </a:solidFill>
            <a:prstDash val="solid"/>
          </a:ln>
        </p:spPr>
      </p:sp>
      <p:sp>
        <p:nvSpPr>
          <p:cNvPr id="15" name="Text 13"/>
          <p:cNvSpPr txBox="1"/>
          <p:nvPr/>
        </p:nvSpPr>
        <p:spPr>
          <a:xfrm>
            <a:off x="4992624" y="2121408"/>
            <a:ext cx="1298448" cy="256032"/>
          </a:xfrm>
          <a:prstGeom prst="rect">
            <a:avLst/>
          </a:prstGeom>
          <a:noFill/>
          <a:ln/>
        </p:spPr>
        <p:txBody>
          <a:bodyPr wrap="square" lIns="0" tIns="0" rIns="0" bIns="0" rtlCol="0" anchor="ctr"/>
          <a:lstStyle/>
          <a:p>
            <a:pPr algn="ctr" indent="0" marL="0">
              <a:buNone/>
            </a:pPr>
            <a:r>
              <a:rPr lang="en-US" sz="1200" b="1" dirty="0">
                <a:solidFill>
                  <a:srgbClr val="1B2430"/>
                </a:solidFill>
                <a:latin typeface="Courier New" pitchFamily="34" charset="0"/>
                <a:ea typeface="Courier New" pitchFamily="34" charset="-122"/>
                <a:cs typeface="Courier New" pitchFamily="34" charset="-120"/>
              </a:rPr>
              <a:t>PE7</a:t>
            </a:r>
            <a:endParaRPr lang="en-US" sz="1200" dirty="0"/>
          </a:p>
        </p:txBody>
      </p:sp>
      <p:sp>
        <p:nvSpPr>
          <p:cNvPr id="16" name="Text 14"/>
          <p:cNvSpPr txBox="1"/>
          <p:nvPr/>
        </p:nvSpPr>
        <p:spPr>
          <a:xfrm>
            <a:off x="4992624" y="2395728"/>
            <a:ext cx="1298448" cy="548640"/>
          </a:xfrm>
          <a:prstGeom prst="rect">
            <a:avLst/>
          </a:prstGeom>
          <a:noFill/>
          <a:ln/>
        </p:spPr>
        <p:txBody>
          <a:bodyPr wrap="square" lIns="0" tIns="0" rIns="0" bIns="0" rtlCol="0" anchor="ctr"/>
          <a:lstStyle/>
          <a:p>
            <a:pPr algn="ctr" indent="0" marL="0">
              <a:lnSpc>
                <a:spcPts val="1300"/>
              </a:lnSpc>
              <a:buNone/>
            </a:pPr>
            <a:r>
              <a:rPr lang="en-US" sz="1000" dirty="0">
                <a:solidFill>
                  <a:srgbClr val="6B7785"/>
                </a:solidFill>
                <a:latin typeface="Calibri" pitchFamily="34" charset="0"/>
                <a:ea typeface="Calibri" pitchFamily="34" charset="-122"/>
                <a:cs typeface="Calibri" pitchFamily="34" charset="-120"/>
              </a:rPr>
              <a:t>···</a:t>
            </a:r>
            <a:endParaRPr lang="en-US" sz="1000" dirty="0"/>
          </a:p>
        </p:txBody>
      </p:sp>
      <p:sp>
        <p:nvSpPr>
          <p:cNvPr id="17" name="Text 15"/>
          <p:cNvSpPr txBox="1"/>
          <p:nvPr/>
        </p:nvSpPr>
        <p:spPr>
          <a:xfrm>
            <a:off x="548640" y="3127248"/>
            <a:ext cx="5943600" cy="274320"/>
          </a:xfrm>
          <a:prstGeom prst="rect">
            <a:avLst/>
          </a:prstGeom>
          <a:noFill/>
          <a:ln/>
        </p:spPr>
        <p:txBody>
          <a:bodyPr wrap="square" lIns="0" tIns="0" rIns="0" bIns="0" rtlCol="0" anchor="ctr"/>
          <a:lstStyle/>
          <a:p>
            <a:pPr indent="0" marL="0">
              <a:buNone/>
            </a:pPr>
            <a:r>
              <a:rPr lang="en-US" sz="1100" i="1" dirty="0">
                <a:solidFill>
                  <a:srgbClr val="6B7785"/>
                </a:solidFill>
                <a:latin typeface="Calibri" pitchFamily="34" charset="0"/>
                <a:ea typeface="Calibri" pitchFamily="34" charset="-122"/>
                <a:cs typeface="Calibri" pitchFamily="34" charset="-120"/>
              </a:rPr>
              <a:t>sphere parameters preloaded once per frame  ·  rays stream through</a:t>
            </a:r>
            <a:endParaRPr lang="en-US" sz="1100" dirty="0"/>
          </a:p>
        </p:txBody>
      </p:sp>
      <p:sp>
        <p:nvSpPr>
          <p:cNvPr id="18" name="Shape 16"/>
          <p:cNvSpPr/>
          <p:nvPr/>
        </p:nvSpPr>
        <p:spPr>
          <a:xfrm>
            <a:off x="6309360" y="2514600"/>
            <a:ext cx="411480" cy="0"/>
          </a:xfrm>
          <a:prstGeom prst="line">
            <a:avLst/>
          </a:prstGeom>
          <a:noFill/>
          <a:ln w="22225">
            <a:solidFill>
              <a:srgbClr val="6B7785"/>
            </a:solidFill>
            <a:prstDash val="solid"/>
            <a:tailEnd type="triangle"/>
          </a:ln>
        </p:spPr>
      </p:sp>
      <p:sp>
        <p:nvSpPr>
          <p:cNvPr id="19" name="Shape 17"/>
          <p:cNvSpPr/>
          <p:nvPr/>
        </p:nvSpPr>
        <p:spPr>
          <a:xfrm>
            <a:off x="6812280" y="2011680"/>
            <a:ext cx="2194560" cy="1051560"/>
          </a:xfrm>
          <a:prstGeom prst="roundRect">
            <a:avLst>
              <a:gd name="adj" fmla="val 4348"/>
            </a:avLst>
          </a:prstGeom>
          <a:solidFill>
            <a:srgbClr val="E8833A"/>
          </a:solidFill>
          <a:ln w="12700">
            <a:solidFill>
              <a:srgbClr val="E8833A"/>
            </a:solidFill>
            <a:prstDash val="solid"/>
          </a:ln>
        </p:spPr>
      </p:sp>
      <p:sp>
        <p:nvSpPr>
          <p:cNvPr id="20" name="Text 18"/>
          <p:cNvSpPr txBox="1"/>
          <p:nvPr/>
        </p:nvSpPr>
        <p:spPr>
          <a:xfrm>
            <a:off x="6812280" y="2212848"/>
            <a:ext cx="2194560" cy="274320"/>
          </a:xfrm>
          <a:prstGeom prst="rect">
            <a:avLst/>
          </a:prstGeom>
          <a:noFill/>
          <a:ln/>
        </p:spPr>
        <p:txBody>
          <a:bodyPr wrap="square" lIns="0" tIns="0" rIns="0" bIns="0" rtlCol="0" anchor="ctr"/>
          <a:lstStyle/>
          <a:p>
            <a:pPr algn="ctr" indent="0" marL="0">
              <a:buNone/>
            </a:pPr>
            <a:r>
              <a:rPr lang="en-US" sz="1200" b="1" dirty="0">
                <a:solidFill>
                  <a:srgbClr val="1B2430"/>
                </a:solidFill>
                <a:latin typeface="Courier New" pitchFamily="34" charset="0"/>
                <a:ea typeface="Courier New" pitchFamily="34" charset="-122"/>
                <a:cs typeface="Courier New" pitchFamily="34" charset="-120"/>
              </a:rPr>
              <a:t>fp32_sqrt</a:t>
            </a:r>
            <a:endParaRPr lang="en-US" sz="1200" dirty="0"/>
          </a:p>
        </p:txBody>
      </p:sp>
      <p:sp>
        <p:nvSpPr>
          <p:cNvPr id="21" name="Text 19"/>
          <p:cNvSpPr txBox="1"/>
          <p:nvPr/>
        </p:nvSpPr>
        <p:spPr>
          <a:xfrm>
            <a:off x="6812280" y="2505456"/>
            <a:ext cx="2194560" cy="274320"/>
          </a:xfrm>
          <a:prstGeom prst="rect">
            <a:avLst/>
          </a:prstGeom>
          <a:noFill/>
          <a:ln/>
        </p:spPr>
        <p:txBody>
          <a:bodyPr wrap="square" lIns="0" tIns="0" rIns="0" bIns="0" rtlCol="0" anchor="ctr"/>
          <a:lstStyle/>
          <a:p>
            <a:pPr algn="ctr" indent="0" marL="0">
              <a:buNone/>
            </a:pPr>
            <a:r>
              <a:rPr lang="en-US" sz="1050" dirty="0">
                <a:solidFill>
                  <a:srgbClr val="3A2412"/>
                </a:solidFill>
                <a:latin typeface="Calibri" pitchFamily="34" charset="0"/>
                <a:ea typeface="Calibri" pitchFamily="34" charset="-122"/>
                <a:cs typeface="Calibri" pitchFamily="34" charset="-120"/>
              </a:rPr>
              <a:t>24 stages · SHARED</a:t>
            </a:r>
            <a:endParaRPr lang="en-US" sz="1050" dirty="0"/>
          </a:p>
        </p:txBody>
      </p:sp>
      <p:sp>
        <p:nvSpPr>
          <p:cNvPr id="22" name="Shape 20"/>
          <p:cNvSpPr/>
          <p:nvPr/>
        </p:nvSpPr>
        <p:spPr>
          <a:xfrm>
            <a:off x="9098280" y="2514600"/>
            <a:ext cx="365760" cy="0"/>
          </a:xfrm>
          <a:prstGeom prst="line">
            <a:avLst/>
          </a:prstGeom>
          <a:noFill/>
          <a:ln w="22225">
            <a:solidFill>
              <a:srgbClr val="6B7785"/>
            </a:solidFill>
            <a:prstDash val="solid"/>
            <a:tailEnd type="triangle"/>
          </a:ln>
        </p:spPr>
      </p:sp>
      <p:sp>
        <p:nvSpPr>
          <p:cNvPr id="23" name="Shape 21"/>
          <p:cNvSpPr/>
          <p:nvPr/>
        </p:nvSpPr>
        <p:spPr>
          <a:xfrm>
            <a:off x="9555480" y="2011680"/>
            <a:ext cx="2084832" cy="1051560"/>
          </a:xfrm>
          <a:prstGeom prst="roundRect">
            <a:avLst>
              <a:gd name="adj" fmla="val 4348"/>
            </a:avLst>
          </a:prstGeom>
          <a:solidFill>
            <a:srgbClr val="2D9B8A"/>
          </a:solidFill>
          <a:ln w="12700">
            <a:solidFill>
              <a:srgbClr val="2D9B8A"/>
            </a:solidFill>
            <a:prstDash val="solid"/>
          </a:ln>
        </p:spPr>
      </p:sp>
      <p:sp>
        <p:nvSpPr>
          <p:cNvPr id="24" name="Text 22"/>
          <p:cNvSpPr txBox="1"/>
          <p:nvPr/>
        </p:nvSpPr>
        <p:spPr>
          <a:xfrm>
            <a:off x="9555480" y="2212848"/>
            <a:ext cx="2084832"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nearest hit</a:t>
            </a:r>
            <a:endParaRPr lang="en-US" sz="1200" dirty="0"/>
          </a:p>
        </p:txBody>
      </p:sp>
      <p:sp>
        <p:nvSpPr>
          <p:cNvPr id="25" name="Text 23"/>
          <p:cNvSpPr txBox="1"/>
          <p:nvPr/>
        </p:nvSpPr>
        <p:spPr>
          <a:xfrm>
            <a:off x="9555480" y="2505456"/>
            <a:ext cx="2084832" cy="274320"/>
          </a:xfrm>
          <a:prstGeom prst="rect">
            <a:avLst/>
          </a:prstGeom>
          <a:noFill/>
          <a:ln/>
        </p:spPr>
        <p:txBody>
          <a:bodyPr wrap="square" lIns="0" tIns="0" rIns="0" bIns="0" rtlCol="0" anchor="ctr"/>
          <a:lstStyle/>
          <a:p>
            <a:pPr algn="ctr" indent="0" marL="0">
              <a:buNone/>
            </a:pPr>
            <a:r>
              <a:rPr lang="en-US" sz="1050" dirty="0">
                <a:solidFill>
                  <a:srgbClr val="D6F0EA"/>
                </a:solidFill>
                <a:latin typeface="Calibri" pitchFamily="34" charset="0"/>
                <a:ea typeface="Calibri" pitchFamily="34" charset="-122"/>
                <a:cs typeface="Calibri" pitchFamily="34" charset="-120"/>
              </a:rPr>
              <a:t>keeps the tie-break</a:t>
            </a:r>
            <a:endParaRPr lang="en-US" sz="1050" dirty="0"/>
          </a:p>
        </p:txBody>
      </p:sp>
      <p:sp>
        <p:nvSpPr>
          <p:cNvPr id="26" name="Shape 24"/>
          <p:cNvSpPr/>
          <p:nvPr/>
        </p:nvSpPr>
        <p:spPr>
          <a:xfrm>
            <a:off x="548640" y="3611880"/>
            <a:ext cx="5394960" cy="2286000"/>
          </a:xfrm>
          <a:prstGeom prst="roundRect">
            <a:avLst>
              <a:gd name="adj" fmla="val 2400"/>
            </a:avLst>
          </a:prstGeom>
          <a:solidFill>
            <a:srgbClr val="F3F6F8"/>
          </a:solidFill>
          <a:ln w="9525">
            <a:solidFill>
              <a:srgbClr val="DBE2E8"/>
            </a:solidFill>
            <a:prstDash val="solid"/>
          </a:ln>
        </p:spPr>
      </p:sp>
      <p:sp>
        <p:nvSpPr>
          <p:cNvPr id="27" name="Text 25"/>
          <p:cNvSpPr txBox="1"/>
          <p:nvPr/>
        </p:nvSpPr>
        <p:spPr>
          <a:xfrm>
            <a:off x="804672" y="3767328"/>
            <a:ext cx="484632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This is the TPU trick</a:t>
            </a:r>
            <a:endParaRPr lang="en-US" sz="1400" dirty="0"/>
          </a:p>
        </p:txBody>
      </p:sp>
      <p:sp>
        <p:nvSpPr>
          <p:cNvPr id="28" name="Text 26"/>
          <p:cNvSpPr txBox="1"/>
          <p:nvPr/>
        </p:nvSpPr>
        <p:spPr>
          <a:xfrm>
            <a:off x="804672" y="4096512"/>
            <a:ext cx="4846320" cy="164592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Sphere parameters are weight-stationary: preloaded into the PEs once per frame while rays stream past — structurally the same as the TPU preloading weights and streaming activations. We took the pattern straight from the Accelerator Design Patterns lecture.</a:t>
            </a:r>
            <a:endParaRPr lang="en-US" sz="1250" dirty="0"/>
          </a:p>
        </p:txBody>
      </p:sp>
      <p:sp>
        <p:nvSpPr>
          <p:cNvPr id="29" name="Shape 27"/>
          <p:cNvSpPr/>
          <p:nvPr/>
        </p:nvSpPr>
        <p:spPr>
          <a:xfrm>
            <a:off x="6245352" y="3611880"/>
            <a:ext cx="5394960" cy="2286000"/>
          </a:xfrm>
          <a:prstGeom prst="roundRect">
            <a:avLst>
              <a:gd name="adj" fmla="val 2400"/>
            </a:avLst>
          </a:prstGeom>
          <a:solidFill>
            <a:srgbClr val="FDF3EC"/>
          </a:solidFill>
          <a:ln w="9525">
            <a:solidFill>
              <a:srgbClr val="DBE2E8"/>
            </a:solidFill>
            <a:prstDash val="solid"/>
          </a:ln>
        </p:spPr>
      </p:sp>
      <p:sp>
        <p:nvSpPr>
          <p:cNvPr id="30" name="Text 28"/>
          <p:cNvSpPr txBox="1"/>
          <p:nvPr/>
        </p:nvSpPr>
        <p:spPr>
          <a:xfrm>
            <a:off x="6501384" y="3767328"/>
            <a:ext cx="484632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Amdahl, stated honestly</a:t>
            </a:r>
            <a:endParaRPr lang="en-US" sz="1400" dirty="0"/>
          </a:p>
        </p:txBody>
      </p:sp>
      <p:sp>
        <p:nvSpPr>
          <p:cNvPr id="31" name="Text 29"/>
          <p:cNvSpPr txBox="1"/>
          <p:nvPr/>
        </p:nvSpPr>
        <p:spPr>
          <a:xfrm>
            <a:off x="6501384" y="4096512"/>
            <a:ext cx="4846320" cy="164592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Intersection is 35.03% of the OPTIMIZED runtime. So even an infinitely fast intersection unit caps the whole-frame speedup at 1.54×. We report that instead of the ~12,000× kernel ratio, which would be meaningless. A real product would have to move shading onto the accelerator too — which is the path GPUs actually took.</a:t>
            </a:r>
            <a:endParaRPr lang="en-US" sz="1250" dirty="0"/>
          </a:p>
        </p:txBody>
      </p:sp>
      <p:sp>
        <p:nvSpPr>
          <p:cNvPr id="32" name="Text 3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33" name="Text 3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HARDWARE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The square root is the real design decision</a:t>
            </a:r>
            <a:endParaRPr lang="en-US" sz="2900" dirty="0"/>
          </a:p>
        </p:txBody>
      </p:sp>
      <p:sp>
        <p:nvSpPr>
          <p:cNvPr id="4" name="Text 2"/>
          <p:cNvSpPr txBox="1"/>
          <p:nvPr/>
        </p:nvSpPr>
        <p:spPr>
          <a:xfrm>
            <a:off x="548640" y="1325880"/>
            <a:ext cx="11091672" cy="502920"/>
          </a:xfrm>
          <a:prstGeom prst="rect">
            <a:avLst/>
          </a:prstGeom>
          <a:noFill/>
          <a:ln/>
        </p:spPr>
        <p:txBody>
          <a:bodyPr wrap="square" lIns="0" tIns="0" rIns="0" bIns="0" rtlCol="0" anchor="ctr"/>
          <a:lstStyle/>
          <a:p>
            <a:pPr indent="0" marL="0">
              <a:lnSpc>
                <a:spcPts val="1800"/>
              </a:lnSpc>
              <a:buNone/>
            </a:pPr>
            <a:r>
              <a:rPr lang="en-US" sz="1350" dirty="0">
                <a:solidFill>
                  <a:srgbClr val="1B2430"/>
                </a:solidFill>
                <a:latin typeface="Calibri" pitchFamily="34" charset="0"/>
                <a:ea typeface="Calibri" pitchFamily="34" charset="-122"/>
                <a:cs typeface="Calibri" pitchFamily="34" charset="-120"/>
              </a:rPr>
              <a:t>Not the multipliers. fp32_sqrt is 24 pipeline stages — by far the largest block — so whether it is shared or replicated sets both the throughput and roughly half the array area.</a:t>
            </a:r>
            <a:endParaRPr lang="en-US" sz="1350" dirty="0"/>
          </a:p>
        </p:txBody>
      </p:sp>
      <p:sp>
        <p:nvSpPr>
          <p:cNvPr id="5" name="Shape 3"/>
          <p:cNvSpPr/>
          <p:nvPr/>
        </p:nvSpPr>
        <p:spPr>
          <a:xfrm>
            <a:off x="548640" y="1965960"/>
            <a:ext cx="5394960" cy="1965960"/>
          </a:xfrm>
          <a:prstGeom prst="roundRect">
            <a:avLst>
              <a:gd name="adj" fmla="val 2791"/>
            </a:avLst>
          </a:prstGeom>
          <a:solidFill>
            <a:srgbClr val="F3F6F8"/>
          </a:solidFill>
          <a:ln w="9525">
            <a:solidFill>
              <a:srgbClr val="DBE2E8"/>
            </a:solidFill>
            <a:prstDash val="solid"/>
          </a:ln>
        </p:spPr>
      </p:sp>
      <p:sp>
        <p:nvSpPr>
          <p:cNvPr id="6" name="Text 4"/>
          <p:cNvSpPr txBox="1"/>
          <p:nvPr/>
        </p:nvSpPr>
        <p:spPr>
          <a:xfrm>
            <a:off x="822960" y="2121408"/>
            <a:ext cx="4846320" cy="292608"/>
          </a:xfrm>
          <a:prstGeom prst="rect">
            <a:avLst/>
          </a:prstGeom>
          <a:noFill/>
          <a:ln/>
        </p:spPr>
        <p:txBody>
          <a:bodyPr wrap="square" lIns="0" tIns="0" rIns="0" bIns="0" rtlCol="0" anchor="ctr"/>
          <a:lstStyle/>
          <a:p>
            <a:pPr indent="0" marL="0">
              <a:buNone/>
            </a:pPr>
            <a:r>
              <a:rPr lang="en-US" sz="1500" b="1" dirty="0">
                <a:solidFill>
                  <a:srgbClr val="2D9B8A"/>
                </a:solidFill>
                <a:latin typeface="Calibri" pitchFamily="34" charset="0"/>
                <a:ea typeface="Calibri" pitchFamily="34" charset="-122"/>
                <a:cs typeface="Calibri" pitchFamily="34" charset="-120"/>
              </a:rPr>
              <a:t>Shared  (what we built)</a:t>
            </a:r>
            <a:endParaRPr lang="en-US" sz="1500" dirty="0"/>
          </a:p>
        </p:txBody>
      </p:sp>
      <p:sp>
        <p:nvSpPr>
          <p:cNvPr id="7" name="Text 5"/>
          <p:cNvSpPr txBox="1"/>
          <p:nvPr/>
        </p:nvSpPr>
        <p:spPr>
          <a:xfrm>
            <a:off x="822960" y="2468880"/>
            <a:ext cx="4846320" cy="274320"/>
          </a:xfrm>
          <a:prstGeom prst="rect">
            <a:avLst/>
          </a:prstGeom>
          <a:noFill/>
          <a:ln/>
        </p:spPr>
        <p:txBody>
          <a:bodyPr wrap="square" lIns="0" tIns="0" rIns="0" bIns="0" rtlCol="0" anchor="ctr"/>
          <a:lstStyle/>
          <a:p>
            <a:pPr indent="0" marL="0">
              <a:buNone/>
            </a:pPr>
            <a:r>
              <a:rPr lang="en-US" sz="1300" dirty="0">
                <a:solidFill>
                  <a:srgbClr val="1B2430"/>
                </a:solidFill>
                <a:latin typeface="Courier New" pitchFamily="34" charset="0"/>
                <a:ea typeface="Courier New" pitchFamily="34" charset="-122"/>
                <a:cs typeface="Courier New" pitchFamily="34" charset="-120"/>
              </a:rPr>
              <a:t>1 sqrt unit  ·  1 ray / 8 cycles</a:t>
            </a:r>
            <a:endParaRPr lang="en-US" sz="1300" dirty="0"/>
          </a:p>
        </p:txBody>
      </p:sp>
      <p:sp>
        <p:nvSpPr>
          <p:cNvPr id="8" name="Text 6"/>
          <p:cNvSpPr txBox="1"/>
          <p:nvPr/>
        </p:nvSpPr>
        <p:spPr>
          <a:xfrm>
            <a:off x="822960" y="2788920"/>
            <a:ext cx="4846320" cy="96012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Smallest area. The sqrt sets the throughput: 8 spheres must drain through one pipeline before the next ray enters.</a:t>
            </a:r>
            <a:endParaRPr lang="en-US" sz="1200" dirty="0"/>
          </a:p>
        </p:txBody>
      </p:sp>
      <p:sp>
        <p:nvSpPr>
          <p:cNvPr id="9" name="Shape 7"/>
          <p:cNvSpPr/>
          <p:nvPr/>
        </p:nvSpPr>
        <p:spPr>
          <a:xfrm>
            <a:off x="6245352" y="1965960"/>
            <a:ext cx="5394960" cy="1965960"/>
          </a:xfrm>
          <a:prstGeom prst="roundRect">
            <a:avLst>
              <a:gd name="adj" fmla="val 2791"/>
            </a:avLst>
          </a:prstGeom>
          <a:solidFill>
            <a:srgbClr val="F3F6F8"/>
          </a:solidFill>
          <a:ln w="9525">
            <a:solidFill>
              <a:srgbClr val="DBE2E8"/>
            </a:solidFill>
            <a:prstDash val="solid"/>
          </a:ln>
        </p:spPr>
      </p:sp>
      <p:sp>
        <p:nvSpPr>
          <p:cNvPr id="10" name="Text 8"/>
          <p:cNvSpPr txBox="1"/>
          <p:nvPr/>
        </p:nvSpPr>
        <p:spPr>
          <a:xfrm>
            <a:off x="6519672" y="2121408"/>
            <a:ext cx="4846320" cy="292608"/>
          </a:xfrm>
          <a:prstGeom prst="rect">
            <a:avLst/>
          </a:prstGeom>
          <a:noFill/>
          <a:ln/>
        </p:spPr>
        <p:txBody>
          <a:bodyPr wrap="square" lIns="0" tIns="0" rIns="0" bIns="0" rtlCol="0" anchor="ctr"/>
          <a:lstStyle/>
          <a:p>
            <a:pPr indent="0" marL="0">
              <a:buNone/>
            </a:pPr>
            <a:r>
              <a:rPr lang="en-US" sz="1500" b="1" dirty="0">
                <a:solidFill>
                  <a:srgbClr val="E8833A"/>
                </a:solidFill>
                <a:latin typeface="Calibri" pitchFamily="34" charset="0"/>
                <a:ea typeface="Calibri" pitchFamily="34" charset="-122"/>
                <a:cs typeface="Calibri" pitchFamily="34" charset="-120"/>
              </a:rPr>
              <a:t>Replicated  (also buildable)</a:t>
            </a:r>
            <a:endParaRPr lang="en-US" sz="1500" dirty="0"/>
          </a:p>
        </p:txBody>
      </p:sp>
      <p:sp>
        <p:nvSpPr>
          <p:cNvPr id="11" name="Text 9"/>
          <p:cNvSpPr txBox="1"/>
          <p:nvPr/>
        </p:nvSpPr>
        <p:spPr>
          <a:xfrm>
            <a:off x="6519672" y="2468880"/>
            <a:ext cx="4846320" cy="274320"/>
          </a:xfrm>
          <a:prstGeom prst="rect">
            <a:avLst/>
          </a:prstGeom>
          <a:noFill/>
          <a:ln/>
        </p:spPr>
        <p:txBody>
          <a:bodyPr wrap="square" lIns="0" tIns="0" rIns="0" bIns="0" rtlCol="0" anchor="ctr"/>
          <a:lstStyle/>
          <a:p>
            <a:pPr indent="0" marL="0">
              <a:buNone/>
            </a:pPr>
            <a:r>
              <a:rPr lang="en-US" sz="1300" dirty="0">
                <a:solidFill>
                  <a:srgbClr val="1B2430"/>
                </a:solidFill>
                <a:latin typeface="Courier New" pitchFamily="34" charset="0"/>
                <a:ea typeface="Courier New" pitchFamily="34" charset="-122"/>
                <a:cs typeface="Courier New" pitchFamily="34" charset="-120"/>
              </a:rPr>
              <a:t>8 sqrt units  ·  1 ray / 1 cycle</a:t>
            </a:r>
            <a:endParaRPr lang="en-US" sz="1300" dirty="0"/>
          </a:p>
        </p:txBody>
      </p:sp>
      <p:sp>
        <p:nvSpPr>
          <p:cNvPr id="12" name="Text 10"/>
          <p:cNvSpPr txBox="1"/>
          <p:nvPr/>
        </p:nvSpPr>
        <p:spPr>
          <a:xfrm>
            <a:off x="6519672" y="2788920"/>
            <a:ext cx="4846320" cy="96012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8× the throughput for roughly double the total array area. The design is parameterized, so both points on the curve are real.</a:t>
            </a:r>
            <a:endParaRPr lang="en-US" sz="1200" dirty="0"/>
          </a:p>
        </p:txBody>
      </p:sp>
      <p:sp>
        <p:nvSpPr>
          <p:cNvPr id="13" name="Text 11"/>
          <p:cNvSpPr txBox="1"/>
          <p:nvPr/>
        </p:nvSpPr>
        <p:spPr>
          <a:xfrm>
            <a:off x="548640" y="411480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 second knob: accuracy against area</a:t>
            </a:r>
            <a:endParaRPr lang="en-US" sz="1400" dirty="0"/>
          </a:p>
        </p:txBody>
      </p:sp>
      <p:sp>
        <p:nvSpPr>
          <p:cNvPr id="14" name="Text 12"/>
          <p:cNvSpPr txBox="1"/>
          <p:nvPr/>
        </p:nvSpPr>
        <p:spPr>
          <a:xfrm>
            <a:off x="548640" y="4434840"/>
            <a:ext cx="11091672" cy="86868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Our root truncates rather than rounds. Measured against math.sqrt over 6,008 samples: 1.16 ulp worst case. A 25th stage plus a rounding incrementer brings that to 0.69 ulp. We kept truncation, because 1 ulp of a distance cannot move an 8-bit colour channel — but it does mean this accelerator is NOT bit-exact, unlike the pyflate one.</a:t>
            </a:r>
            <a:endParaRPr lang="en-US" sz="1300" dirty="0"/>
          </a:p>
        </p:txBody>
      </p:sp>
      <p:sp>
        <p:nvSpPr>
          <p:cNvPr id="15" name="Text 13"/>
          <p:cNvSpPr txBox="1"/>
          <p:nvPr/>
        </p:nvSpPr>
        <p:spPr>
          <a:xfrm>
            <a:off x="548640" y="5440680"/>
            <a:ext cx="11091672" cy="457200"/>
          </a:xfrm>
          <a:prstGeom prst="rect">
            <a:avLst/>
          </a:prstGeom>
          <a:noFill/>
          <a:ln/>
        </p:spPr>
        <p:txBody>
          <a:bodyPr wrap="square" lIns="0" tIns="0" rIns="0" bIns="0" rtlCol="0" anchor="ctr"/>
          <a:lstStyle/>
          <a:p>
            <a:pPr indent="0" marL="0">
              <a:lnSpc>
                <a:spcPts val="1700"/>
              </a:lnSpc>
              <a:buNone/>
            </a:pPr>
            <a:r>
              <a:rPr lang="en-US" sz="1250" i="1" dirty="0">
                <a:solidFill>
                  <a:srgbClr val="2D9B8A"/>
                </a:solidFill>
                <a:latin typeface="Calibri" pitchFamily="34" charset="0"/>
                <a:ea typeface="Calibri" pitchFamily="34" charset="-122"/>
                <a:cs typeface="Calibri" pitchFamily="34" charset="-120"/>
              </a:rPr>
              <a:t>And one place where precision is not negotiable: bfloat16 would halve the multiplier area, but 8 mantissa bits cannot survive the cancellation in (cc − v·v). We rejected it.</a:t>
            </a:r>
            <a:endParaRPr lang="en-US" sz="1250" dirty="0"/>
          </a:p>
        </p:txBody>
      </p:sp>
      <p:sp>
        <p:nvSpPr>
          <p:cNvPr id="16" name="Text 14"/>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17" name="Text 15"/>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B3543F"/>
                </a:solidFill>
                <a:latin typeface="Calibri" pitchFamily="34" charset="0"/>
                <a:ea typeface="Calibri" pitchFamily="34" charset="-122"/>
                <a:cs typeface="Calibri" pitchFamily="34" charset="-120"/>
              </a:rPr>
              <a:t>VERIFICATION</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We simulated the RTL — and it was wrong</a:t>
            </a:r>
            <a:endParaRPr lang="en-US" sz="2900" dirty="0"/>
          </a:p>
        </p:txBody>
      </p:sp>
      <p:sp>
        <p:nvSpPr>
          <p:cNvPr id="4" name="Shape 2"/>
          <p:cNvSpPr/>
          <p:nvPr/>
        </p:nvSpPr>
        <p:spPr>
          <a:xfrm>
            <a:off x="548640" y="1325880"/>
            <a:ext cx="11091672" cy="1691640"/>
          </a:xfrm>
          <a:prstGeom prst="roundRect">
            <a:avLst>
              <a:gd name="adj" fmla="val 3243"/>
            </a:avLst>
          </a:prstGeom>
          <a:solidFill>
            <a:srgbClr val="1B2430"/>
          </a:solidFill>
          <a:ln w="19050">
            <a:solidFill>
              <a:srgbClr val="B3543F"/>
            </a:solidFill>
            <a:prstDash val="solid"/>
          </a:ln>
        </p:spPr>
      </p:sp>
      <p:sp>
        <p:nvSpPr>
          <p:cNvPr id="5" name="Text 3"/>
          <p:cNvSpPr txBox="1"/>
          <p:nvPr/>
        </p:nvSpPr>
        <p:spPr>
          <a:xfrm>
            <a:off x="868680" y="1481328"/>
            <a:ext cx="10424160" cy="292608"/>
          </a:xfrm>
          <a:prstGeom prst="rect">
            <a:avLst/>
          </a:prstGeom>
          <a:noFill/>
          <a:ln/>
        </p:spPr>
        <p:txBody>
          <a:bodyPr wrap="square" lIns="0" tIns="0" rIns="0" bIns="0" rtlCol="0" anchor="ctr"/>
          <a:lstStyle/>
          <a:p>
            <a:pPr indent="0" marL="0">
              <a:buNone/>
            </a:pPr>
            <a:r>
              <a:rPr lang="en-US" sz="1500" b="1" dirty="0">
                <a:solidFill>
                  <a:srgbClr val="E8833A"/>
                </a:solidFill>
                <a:latin typeface="Calibri" pitchFamily="34" charset="0"/>
                <a:ea typeface="Calibri" pitchFamily="34" charset="-122"/>
                <a:cs typeface="Calibri" pitchFamily="34" charset="-120"/>
              </a:rPr>
              <a:t>tb_ray_sphere failed on its second test vector</a:t>
            </a:r>
            <a:endParaRPr lang="en-US" sz="1500" dirty="0"/>
          </a:p>
        </p:txBody>
      </p:sp>
      <p:sp>
        <p:nvSpPr>
          <p:cNvPr id="6" name="Text 4"/>
          <p:cNvSpPr txBox="1"/>
          <p:nvPr/>
        </p:nvSpPr>
        <p:spPr>
          <a:xfrm>
            <a:off x="868680" y="1828800"/>
            <a:ext cx="5029200" cy="320040"/>
          </a:xfrm>
          <a:prstGeom prst="rect">
            <a:avLst/>
          </a:prstGeom>
          <a:noFill/>
          <a:ln/>
        </p:spPr>
        <p:txBody>
          <a:bodyPr wrap="square" lIns="0" tIns="0" rIns="0" bIns="0" rtlCol="0" anchor="ctr"/>
          <a:lstStyle/>
          <a:p>
            <a:pPr indent="0" marL="0">
              <a:buNone/>
            </a:pPr>
            <a:r>
              <a:rPr lang="en-US" sz="1500" dirty="0">
                <a:solidFill>
                  <a:srgbClr val="FFD9B8"/>
                </a:solidFill>
                <a:latin typeface="Courier New" pitchFamily="34" charset="0"/>
                <a:ea typeface="Courier New" pitchFamily="34" charset="-122"/>
                <a:cs typeface="Courier New" pitchFamily="34" charset="-120"/>
              </a:rPr>
              <a:t>2 + 3  →  6.5          9 − 4  →  2.5</a:t>
            </a:r>
            <a:endParaRPr lang="en-US" sz="1500" dirty="0"/>
          </a:p>
        </p:txBody>
      </p:sp>
      <p:sp>
        <p:nvSpPr>
          <p:cNvPr id="7" name="Text 5"/>
          <p:cNvSpPr txBox="1"/>
          <p:nvPr/>
        </p:nvSpPr>
        <p:spPr>
          <a:xfrm>
            <a:off x="868680" y="2212848"/>
            <a:ext cx="10424160" cy="731520"/>
          </a:xfrm>
          <a:prstGeom prst="rect">
            <a:avLst/>
          </a:prstGeom>
          <a:noFill/>
          <a:ln/>
        </p:spPr>
        <p:txBody>
          <a:bodyPr wrap="square" lIns="0" tIns="0" rIns="0" bIns="0" rtlCol="0" anchor="ctr"/>
          <a:lstStyle/>
          <a:p>
            <a:pPr indent="0" marL="0">
              <a:lnSpc>
                <a:spcPts val="1700"/>
              </a:lnSpc>
              <a:buNone/>
            </a:pPr>
            <a:r>
              <a:rPr lang="en-US" sz="1250" dirty="0">
                <a:solidFill>
                  <a:srgbClr val="E8EDF2"/>
                </a:solidFill>
                <a:latin typeface="Calibri" pitchFamily="34" charset="0"/>
                <a:ea typeface="Calibri" pitchFamily="34" charset="-122"/>
                <a:cs typeface="Calibri" pitchFamily="34" charset="-120"/>
              </a:rPr>
              <a:t>fp32_add had two coupled off-by-one errors: the carry path normalized the leading one to bit 26 while the leading-zero path normalized it to bit 27 — and the mantissa slice matched neither convention. The module had been written carefully and reviewed. It was still flatly wrong.</a:t>
            </a:r>
            <a:endParaRPr lang="en-US" sz="1250" dirty="0"/>
          </a:p>
        </p:txBody>
      </p:sp>
      <p:sp>
        <p:nvSpPr>
          <p:cNvPr id="8" name="Text 6"/>
          <p:cNvSpPr txBox="1"/>
          <p:nvPr/>
        </p:nvSpPr>
        <p:spPr>
          <a:xfrm>
            <a:off x="548640" y="3072384"/>
            <a:ext cx="11091672" cy="64008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Three hand-picked vectors were enough to MISS it, so we added 400 randomized ones — a quarter of them near-cancelling subtractions, the case that exercises the long normalize path where the bug lived. It happened again later: a rewritten BWT chase looked right and ran at two cycles per hop until its new testbench caught it.</a:t>
            </a:r>
            <a:endParaRPr lang="en-US" sz="1300" dirty="0"/>
          </a:p>
        </p:txBody>
      </p:sp>
      <p:sp>
        <p:nvSpPr>
          <p:cNvPr id="9" name="Shape 7"/>
          <p:cNvSpPr/>
          <p:nvPr/>
        </p:nvSpPr>
        <p:spPr>
          <a:xfrm>
            <a:off x="548640" y="3813048"/>
            <a:ext cx="164592" cy="164592"/>
          </a:xfrm>
          <a:prstGeom prst="ellipse">
            <a:avLst/>
          </a:prstGeom>
          <a:solidFill>
            <a:srgbClr val="2D9B8A"/>
          </a:solidFill>
          <a:ln w="12700">
            <a:solidFill>
              <a:srgbClr val="2D9B8A"/>
            </a:solidFill>
            <a:prstDash val="solid"/>
          </a:ln>
        </p:spPr>
      </p:sp>
      <p:sp>
        <p:nvSpPr>
          <p:cNvPr id="10" name="Text 8"/>
          <p:cNvSpPr txBox="1"/>
          <p:nvPr/>
        </p:nvSpPr>
        <p:spPr>
          <a:xfrm>
            <a:off x="786384" y="3749040"/>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correctness gate — byte / bit-identical</a:t>
            </a:r>
            <a:endParaRPr lang="en-US" sz="1050" dirty="0"/>
          </a:p>
        </p:txBody>
      </p:sp>
      <p:sp>
        <p:nvSpPr>
          <p:cNvPr id="11" name="Shape 9"/>
          <p:cNvSpPr/>
          <p:nvPr/>
        </p:nvSpPr>
        <p:spPr>
          <a:xfrm>
            <a:off x="4261104" y="3813048"/>
            <a:ext cx="164592" cy="164592"/>
          </a:xfrm>
          <a:prstGeom prst="ellipse">
            <a:avLst/>
          </a:prstGeom>
          <a:solidFill>
            <a:srgbClr val="2D9B8A"/>
          </a:solidFill>
          <a:ln w="12700">
            <a:solidFill>
              <a:srgbClr val="2D9B8A"/>
            </a:solidFill>
            <a:prstDash val="solid"/>
          </a:ln>
        </p:spPr>
      </p:sp>
      <p:sp>
        <p:nvSpPr>
          <p:cNvPr id="12" name="Text 10"/>
          <p:cNvSpPr txBox="1"/>
          <p:nvPr/>
        </p:nvSpPr>
        <p:spPr>
          <a:xfrm>
            <a:off x="4498848" y="3749040"/>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extended — 16 streams vs libbz2</a:t>
            </a:r>
            <a:endParaRPr lang="en-US" sz="1050" dirty="0"/>
          </a:p>
        </p:txBody>
      </p:sp>
      <p:sp>
        <p:nvSpPr>
          <p:cNvPr id="13" name="Shape 11"/>
          <p:cNvSpPr/>
          <p:nvPr/>
        </p:nvSpPr>
        <p:spPr>
          <a:xfrm>
            <a:off x="7973568" y="3813048"/>
            <a:ext cx="164592" cy="164592"/>
          </a:xfrm>
          <a:prstGeom prst="ellipse">
            <a:avLst/>
          </a:prstGeom>
          <a:solidFill>
            <a:srgbClr val="2D9B8A"/>
          </a:solidFill>
          <a:ln w="12700">
            <a:solidFill>
              <a:srgbClr val="2D9B8A"/>
            </a:solidFill>
            <a:prstDash val="solid"/>
          </a:ln>
        </p:spPr>
      </p:sp>
      <p:sp>
        <p:nvSpPr>
          <p:cNvPr id="14" name="Text 12"/>
          <p:cNvSpPr txBox="1"/>
          <p:nvPr/>
        </p:nvSpPr>
        <p:spPr>
          <a:xfrm>
            <a:off x="8211312" y="3749040"/>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golden model — 148,271 symbols</a:t>
            </a:r>
            <a:endParaRPr lang="en-US" sz="1050" dirty="0"/>
          </a:p>
        </p:txBody>
      </p:sp>
      <p:sp>
        <p:nvSpPr>
          <p:cNvPr id="15" name="Shape 13"/>
          <p:cNvSpPr/>
          <p:nvPr/>
        </p:nvSpPr>
        <p:spPr>
          <a:xfrm>
            <a:off x="548640" y="4197096"/>
            <a:ext cx="164592" cy="164592"/>
          </a:xfrm>
          <a:prstGeom prst="ellipse">
            <a:avLst/>
          </a:prstGeom>
          <a:solidFill>
            <a:srgbClr val="2D9B8A"/>
          </a:solidFill>
          <a:ln w="12700">
            <a:solidFill>
              <a:srgbClr val="2D9B8A"/>
            </a:solidFill>
            <a:prstDash val="solid"/>
          </a:ln>
        </p:spPr>
      </p:sp>
      <p:sp>
        <p:nvSpPr>
          <p:cNvPr id="16" name="Text 14"/>
          <p:cNvSpPr txBox="1"/>
          <p:nvPr/>
        </p:nvSpPr>
        <p:spPr>
          <a:xfrm>
            <a:off x="786384" y="4133088"/>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sqrt model — 6,008 samples</a:t>
            </a:r>
            <a:endParaRPr lang="en-US" sz="1050" dirty="0"/>
          </a:p>
        </p:txBody>
      </p:sp>
      <p:sp>
        <p:nvSpPr>
          <p:cNvPr id="17" name="Shape 15"/>
          <p:cNvSpPr/>
          <p:nvPr/>
        </p:nvSpPr>
        <p:spPr>
          <a:xfrm>
            <a:off x="4261104" y="4197096"/>
            <a:ext cx="164592" cy="164592"/>
          </a:xfrm>
          <a:prstGeom prst="ellipse">
            <a:avLst/>
          </a:prstGeom>
          <a:solidFill>
            <a:srgbClr val="2D9B8A"/>
          </a:solidFill>
          <a:ln w="12700">
            <a:solidFill>
              <a:srgbClr val="2D9B8A"/>
            </a:solidFill>
            <a:prstDash val="solid"/>
          </a:ln>
        </p:spPr>
      </p:sp>
      <p:sp>
        <p:nvSpPr>
          <p:cNvPr id="18" name="Text 16"/>
          <p:cNvSpPr txBox="1"/>
          <p:nvPr/>
        </p:nvSpPr>
        <p:spPr>
          <a:xfrm>
            <a:off x="4498848" y="4133088"/>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tb_huffman_decoder — symbol + bits</a:t>
            </a:r>
            <a:endParaRPr lang="en-US" sz="1050" dirty="0"/>
          </a:p>
        </p:txBody>
      </p:sp>
      <p:sp>
        <p:nvSpPr>
          <p:cNvPr id="19" name="Shape 17"/>
          <p:cNvSpPr/>
          <p:nvPr/>
        </p:nvSpPr>
        <p:spPr>
          <a:xfrm>
            <a:off x="7973568" y="4197096"/>
            <a:ext cx="164592" cy="164592"/>
          </a:xfrm>
          <a:prstGeom prst="ellipse">
            <a:avLst/>
          </a:prstGeom>
          <a:solidFill>
            <a:srgbClr val="2D9B8A"/>
          </a:solidFill>
          <a:ln w="12700">
            <a:solidFill>
              <a:srgbClr val="2D9B8A"/>
            </a:solidFill>
            <a:prstDash val="solid"/>
          </a:ln>
        </p:spPr>
      </p:sp>
      <p:sp>
        <p:nvSpPr>
          <p:cNvPr id="20" name="Text 18"/>
          <p:cNvSpPr txBox="1"/>
          <p:nvPr/>
        </p:nvSpPr>
        <p:spPr>
          <a:xfrm>
            <a:off x="8211312" y="4133088"/>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tb_bit_window — 12 retires, 1 to 20 b</a:t>
            </a:r>
            <a:endParaRPr lang="en-US" sz="1050" dirty="0"/>
          </a:p>
        </p:txBody>
      </p:sp>
      <p:sp>
        <p:nvSpPr>
          <p:cNvPr id="21" name="Shape 19"/>
          <p:cNvSpPr/>
          <p:nvPr/>
        </p:nvSpPr>
        <p:spPr>
          <a:xfrm>
            <a:off x="548640" y="4581144"/>
            <a:ext cx="164592" cy="164592"/>
          </a:xfrm>
          <a:prstGeom prst="ellipse">
            <a:avLst/>
          </a:prstGeom>
          <a:solidFill>
            <a:srgbClr val="2D9B8A"/>
          </a:solidFill>
          <a:ln w="12700">
            <a:solidFill>
              <a:srgbClr val="2D9B8A"/>
            </a:solidFill>
            <a:prstDash val="solid"/>
          </a:ln>
        </p:spPr>
      </p:sp>
      <p:sp>
        <p:nvSpPr>
          <p:cNvPr id="22" name="Text 20"/>
          <p:cNvSpPr txBox="1"/>
          <p:nvPr/>
        </p:nvSpPr>
        <p:spPr>
          <a:xfrm>
            <a:off x="786384" y="4517136"/>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tb_mtf_unit — pre-move entry</a:t>
            </a:r>
            <a:endParaRPr lang="en-US" sz="1050" dirty="0"/>
          </a:p>
        </p:txBody>
      </p:sp>
      <p:sp>
        <p:nvSpPr>
          <p:cNvPr id="23" name="Shape 21"/>
          <p:cNvSpPr/>
          <p:nvPr/>
        </p:nvSpPr>
        <p:spPr>
          <a:xfrm>
            <a:off x="4261104" y="4581144"/>
            <a:ext cx="164592" cy="164592"/>
          </a:xfrm>
          <a:prstGeom prst="ellipse">
            <a:avLst/>
          </a:prstGeom>
          <a:solidFill>
            <a:srgbClr val="2D9B8A"/>
          </a:solidFill>
          <a:ln w="12700">
            <a:solidFill>
              <a:srgbClr val="2D9B8A"/>
            </a:solidFill>
            <a:prstDash val="solid"/>
          </a:ln>
        </p:spPr>
      </p:sp>
      <p:sp>
        <p:nvSpPr>
          <p:cNvPr id="24" name="Text 22"/>
          <p:cNvSpPr txBox="1"/>
          <p:nvPr/>
        </p:nvSpPr>
        <p:spPr>
          <a:xfrm>
            <a:off x="4498848" y="4517136"/>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tb_run_expander — RUNA/RUNB + stall</a:t>
            </a:r>
            <a:endParaRPr lang="en-US" sz="1050" dirty="0"/>
          </a:p>
        </p:txBody>
      </p:sp>
      <p:sp>
        <p:nvSpPr>
          <p:cNvPr id="25" name="Shape 23"/>
          <p:cNvSpPr/>
          <p:nvPr/>
        </p:nvSpPr>
        <p:spPr>
          <a:xfrm>
            <a:off x="7973568" y="4581144"/>
            <a:ext cx="164592" cy="164592"/>
          </a:xfrm>
          <a:prstGeom prst="ellipse">
            <a:avLst/>
          </a:prstGeom>
          <a:solidFill>
            <a:srgbClr val="2D9B8A"/>
          </a:solidFill>
          <a:ln w="12700">
            <a:solidFill>
              <a:srgbClr val="2D9B8A"/>
            </a:solidFill>
            <a:prstDash val="solid"/>
          </a:ln>
        </p:spPr>
      </p:sp>
      <p:sp>
        <p:nvSpPr>
          <p:cNvPr id="26" name="Text 24"/>
          <p:cNvSpPr txBox="1"/>
          <p:nvPr/>
        </p:nvSpPr>
        <p:spPr>
          <a:xfrm>
            <a:off x="8211312" y="4517136"/>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tb_rle_final — outer RLE, zero count</a:t>
            </a:r>
            <a:endParaRPr lang="en-US" sz="1050" dirty="0"/>
          </a:p>
        </p:txBody>
      </p:sp>
      <p:sp>
        <p:nvSpPr>
          <p:cNvPr id="27" name="Shape 25"/>
          <p:cNvSpPr/>
          <p:nvPr/>
        </p:nvSpPr>
        <p:spPr>
          <a:xfrm>
            <a:off x="548640" y="4965192"/>
            <a:ext cx="164592" cy="164592"/>
          </a:xfrm>
          <a:prstGeom prst="ellipse">
            <a:avLst/>
          </a:prstGeom>
          <a:solidFill>
            <a:srgbClr val="2D9B8A"/>
          </a:solidFill>
          <a:ln w="12700">
            <a:solidFill>
              <a:srgbClr val="2D9B8A"/>
            </a:solidFill>
            <a:prstDash val="solid"/>
          </a:ln>
        </p:spPr>
      </p:sp>
      <p:sp>
        <p:nvSpPr>
          <p:cNvPr id="28" name="Text 26"/>
          <p:cNvSpPr txBox="1"/>
          <p:nvPr/>
        </p:nvSpPr>
        <p:spPr>
          <a:xfrm>
            <a:off x="786384" y="4901184"/>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tb_bwt_index_builder — T[] vs software</a:t>
            </a:r>
            <a:endParaRPr lang="en-US" sz="1050" dirty="0"/>
          </a:p>
        </p:txBody>
      </p:sp>
      <p:sp>
        <p:nvSpPr>
          <p:cNvPr id="29" name="Shape 27"/>
          <p:cNvSpPr/>
          <p:nvPr/>
        </p:nvSpPr>
        <p:spPr>
          <a:xfrm>
            <a:off x="4261104" y="4965192"/>
            <a:ext cx="164592" cy="164592"/>
          </a:xfrm>
          <a:prstGeom prst="ellipse">
            <a:avLst/>
          </a:prstGeom>
          <a:solidFill>
            <a:srgbClr val="2D9B8A"/>
          </a:solidFill>
          <a:ln w="12700">
            <a:solidFill>
              <a:srgbClr val="2D9B8A"/>
            </a:solidFill>
            <a:prstDash val="solid"/>
          </a:ln>
        </p:spPr>
      </p:sp>
      <p:sp>
        <p:nvSpPr>
          <p:cNvPr id="30" name="Text 28"/>
          <p:cNvSpPr txBox="1"/>
          <p:nvPr/>
        </p:nvSpPr>
        <p:spPr>
          <a:xfrm>
            <a:off x="4498848" y="4901184"/>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tb_bwt_reverse — chase vs software</a:t>
            </a:r>
            <a:endParaRPr lang="en-US" sz="1050" dirty="0"/>
          </a:p>
        </p:txBody>
      </p:sp>
      <p:sp>
        <p:nvSpPr>
          <p:cNvPr id="31" name="Shape 29"/>
          <p:cNvSpPr/>
          <p:nvPr/>
        </p:nvSpPr>
        <p:spPr>
          <a:xfrm>
            <a:off x="7973568" y="4965192"/>
            <a:ext cx="164592" cy="164592"/>
          </a:xfrm>
          <a:prstGeom prst="ellipse">
            <a:avLst/>
          </a:prstGeom>
          <a:solidFill>
            <a:srgbClr val="E8833A"/>
          </a:solidFill>
          <a:ln w="12700">
            <a:solidFill>
              <a:srgbClr val="E8833A"/>
            </a:solidFill>
            <a:prstDash val="solid"/>
          </a:ln>
        </p:spPr>
      </p:sp>
      <p:sp>
        <p:nvSpPr>
          <p:cNvPr id="32" name="Text 30"/>
          <p:cNvSpPr txBox="1"/>
          <p:nvPr/>
        </p:nvSpPr>
        <p:spPr>
          <a:xfrm>
            <a:off x="8211312" y="4901184"/>
            <a:ext cx="3383280" cy="292608"/>
          </a:xfrm>
          <a:prstGeom prst="rect">
            <a:avLst/>
          </a:prstGeom>
          <a:noFill/>
          <a:ln/>
        </p:spPr>
        <p:txBody>
          <a:bodyPr wrap="square" lIns="0" tIns="0" rIns="0" bIns="0" rtlCol="0" anchor="ctr"/>
          <a:lstStyle/>
          <a:p>
            <a:pPr indent="0" marL="0">
              <a:buNone/>
            </a:pPr>
            <a:r>
              <a:rPr lang="en-US" sz="1050" b="1" dirty="0">
                <a:solidFill>
                  <a:srgbClr val="1B2430"/>
                </a:solidFill>
                <a:latin typeface="Calibri" pitchFamily="34" charset="0"/>
                <a:ea typeface="Calibri" pitchFamily="34" charset="-122"/>
                <a:cs typeface="Calibri" pitchFamily="34" charset="-120"/>
              </a:rPr>
              <a:t>tb_top_block — END TO END, whole block</a:t>
            </a:r>
            <a:endParaRPr lang="en-US" sz="1050" dirty="0"/>
          </a:p>
        </p:txBody>
      </p:sp>
      <p:sp>
        <p:nvSpPr>
          <p:cNvPr id="33" name="Shape 31"/>
          <p:cNvSpPr/>
          <p:nvPr/>
        </p:nvSpPr>
        <p:spPr>
          <a:xfrm>
            <a:off x="548640" y="5349240"/>
            <a:ext cx="164592" cy="164592"/>
          </a:xfrm>
          <a:prstGeom prst="ellipse">
            <a:avLst/>
          </a:prstGeom>
          <a:solidFill>
            <a:srgbClr val="2D9B8A"/>
          </a:solidFill>
          <a:ln w="12700">
            <a:solidFill>
              <a:srgbClr val="2D9B8A"/>
            </a:solidFill>
            <a:prstDash val="solid"/>
          </a:ln>
        </p:spPr>
      </p:sp>
      <p:sp>
        <p:nvSpPr>
          <p:cNvPr id="34" name="Text 32"/>
          <p:cNvSpPr txBox="1"/>
          <p:nvPr/>
        </p:nvSpPr>
        <p:spPr>
          <a:xfrm>
            <a:off x="786384" y="5285232"/>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tb_ray_sphere — single PE, bit-exact</a:t>
            </a:r>
            <a:endParaRPr lang="en-US" sz="1050" dirty="0"/>
          </a:p>
        </p:txBody>
      </p:sp>
      <p:sp>
        <p:nvSpPr>
          <p:cNvPr id="35" name="Shape 33"/>
          <p:cNvSpPr/>
          <p:nvPr/>
        </p:nvSpPr>
        <p:spPr>
          <a:xfrm>
            <a:off x="4261104" y="5349240"/>
            <a:ext cx="164592" cy="164592"/>
          </a:xfrm>
          <a:prstGeom prst="ellipse">
            <a:avLst/>
          </a:prstGeom>
          <a:solidFill>
            <a:srgbClr val="2D9B8A"/>
          </a:solidFill>
          <a:ln w="12700">
            <a:solidFill>
              <a:srgbClr val="2D9B8A"/>
            </a:solidFill>
            <a:prstDash val="solid"/>
          </a:ln>
        </p:spPr>
      </p:sp>
      <p:sp>
        <p:nvSpPr>
          <p:cNvPr id="36" name="Text 34"/>
          <p:cNvSpPr txBox="1"/>
          <p:nvPr/>
        </p:nvSpPr>
        <p:spPr>
          <a:xfrm>
            <a:off x="4498848" y="5285232"/>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tb_ray_array — nearest of 8 spheres</a:t>
            </a:r>
            <a:endParaRPr lang="en-US" sz="1050" dirty="0"/>
          </a:p>
        </p:txBody>
      </p:sp>
      <p:sp>
        <p:nvSpPr>
          <p:cNvPr id="37" name="Shape 35"/>
          <p:cNvSpPr/>
          <p:nvPr/>
        </p:nvSpPr>
        <p:spPr>
          <a:xfrm>
            <a:off x="7973568" y="5349240"/>
            <a:ext cx="164592" cy="164592"/>
          </a:xfrm>
          <a:prstGeom prst="ellipse">
            <a:avLst/>
          </a:prstGeom>
          <a:solidFill>
            <a:srgbClr val="2D9B8A"/>
          </a:solidFill>
          <a:ln w="12700">
            <a:solidFill>
              <a:srgbClr val="2D9B8A"/>
            </a:solidFill>
            <a:prstDash val="solid"/>
          </a:ln>
        </p:spPr>
      </p:sp>
      <p:sp>
        <p:nvSpPr>
          <p:cNvPr id="38" name="Text 36"/>
          <p:cNvSpPr txBox="1"/>
          <p:nvPr/>
        </p:nvSpPr>
        <p:spPr>
          <a:xfrm>
            <a:off x="8211312" y="5285232"/>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tb_fp_random — 400 vectors, bit-exact</a:t>
            </a:r>
            <a:endParaRPr lang="en-US" sz="1050" dirty="0"/>
          </a:p>
        </p:txBody>
      </p:sp>
      <p:sp>
        <p:nvSpPr>
          <p:cNvPr id="39" name="Text 37"/>
          <p:cNvSpPr txBox="1"/>
          <p:nvPr/>
        </p:nvSpPr>
        <p:spPr>
          <a:xfrm>
            <a:off x="5394960" y="5742432"/>
            <a:ext cx="6245352" cy="320040"/>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15 / 15 green in the guest  ·  ./tools/regress.sh</a:t>
            </a:r>
            <a:endParaRPr lang="en-US" sz="1400" dirty="0"/>
          </a:p>
        </p:txBody>
      </p:sp>
      <p:sp>
        <p:nvSpPr>
          <p:cNvPr id="40" name="Text 38"/>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41" name="Text 39"/>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SYNTHESIS</a:t>
            </a:r>
            <a:endParaRPr lang="en-US" sz="1100" dirty="0"/>
          </a:p>
        </p:txBody>
      </p:sp>
      <p:sp>
        <p:nvSpPr>
          <p:cNvPr id="3" name="Text 1"/>
          <p:cNvSpPr txBox="1"/>
          <p:nvPr/>
        </p:nvSpPr>
        <p:spPr>
          <a:xfrm>
            <a:off x="548640" y="713232"/>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Two benchmarks, two paradigms</a:t>
            </a:r>
            <a:endParaRPr lang="en-US" sz="3200" dirty="0"/>
          </a:p>
        </p:txBody>
      </p:sp>
      <p:sp>
        <p:nvSpPr>
          <p:cNvPr id="4" name="Text 2"/>
          <p:cNvSpPr txBox="1"/>
          <p:nvPr/>
        </p:nvSpPr>
        <p:spPr>
          <a:xfrm>
            <a:off x="548640" y="1417320"/>
            <a:ext cx="10698480" cy="457200"/>
          </a:xfrm>
          <a:prstGeom prst="rect">
            <a:avLst/>
          </a:prstGeom>
          <a:noFill/>
          <a:ln/>
        </p:spPr>
        <p:txBody>
          <a:bodyPr wrap="square" lIns="0" tIns="0" rIns="0" bIns="0" rtlCol="0" anchor="ctr"/>
          <a:lstStyle/>
          <a:p>
            <a:pPr indent="0" marL="0">
              <a:lnSpc>
                <a:spcPts val="1900"/>
              </a:lnSpc>
              <a:buNone/>
            </a:pPr>
            <a:r>
              <a:rPr lang="en-US" sz="1400" dirty="0">
                <a:solidFill>
                  <a:srgbClr val="AFBECD"/>
                </a:solidFill>
                <a:latin typeface="Calibri" pitchFamily="34" charset="0"/>
                <a:ea typeface="Calibri" pitchFamily="34" charset="-122"/>
                <a:cs typeface="Calibri" pitchFamily="34" charset="-120"/>
              </a:rPr>
              <a:t>This is why we chose the pair we did. The same project motivates both of the dominant accelerator patterns from the course — and, more importantly, shows why each one is wrong for the other workload.</a:t>
            </a:r>
            <a:endParaRPr lang="en-US" sz="1400" dirty="0"/>
          </a:p>
        </p:txBody>
      </p:sp>
      <p:sp>
        <p:nvSpPr>
          <p:cNvPr id="5" name="Text 3"/>
          <p:cNvSpPr txBox="1"/>
          <p:nvPr/>
        </p:nvSpPr>
        <p:spPr>
          <a:xfrm>
            <a:off x="548640" y="2057400"/>
            <a:ext cx="2377440" cy="310896"/>
          </a:xfrm>
          <a:prstGeom prst="rect">
            <a:avLst/>
          </a:prstGeom>
          <a:noFill/>
          <a:ln/>
        </p:spPr>
        <p:txBody>
          <a:bodyPr wrap="square" lIns="0" tIns="0" rIns="0" bIns="0" rtlCol="0" anchor="ctr"/>
          <a:lstStyle/>
          <a:p>
            <a:pPr indent="0" marL="0">
              <a:buNone/>
            </a:pPr>
            <a:endParaRPr lang="en-US" sz="1400" dirty="0"/>
          </a:p>
        </p:txBody>
      </p:sp>
      <p:sp>
        <p:nvSpPr>
          <p:cNvPr id="6" name="Text 4"/>
          <p:cNvSpPr txBox="1"/>
          <p:nvPr/>
        </p:nvSpPr>
        <p:spPr>
          <a:xfrm>
            <a:off x="2926080" y="2057400"/>
            <a:ext cx="4206240" cy="310896"/>
          </a:xfrm>
          <a:prstGeom prst="rect">
            <a:avLst/>
          </a:prstGeom>
          <a:noFill/>
          <a:ln/>
        </p:spPr>
        <p:txBody>
          <a:bodyPr wrap="square" lIns="0" tIns="0" rIns="0" bIns="0" rtlCol="0" anchor="ctr"/>
          <a:lstStyle/>
          <a:p>
            <a:pPr indent="0" marL="0">
              <a:buNone/>
            </a:pPr>
            <a:r>
              <a:rPr lang="en-US" sz="1400" b="1" dirty="0">
                <a:solidFill>
                  <a:srgbClr val="E8833A"/>
                </a:solidFill>
                <a:latin typeface="Calibri" pitchFamily="34" charset="0"/>
                <a:ea typeface="Calibri" pitchFamily="34" charset="-122"/>
                <a:cs typeface="Calibri" pitchFamily="34" charset="-120"/>
              </a:rPr>
              <a:t>pyflate</a:t>
            </a:r>
            <a:endParaRPr lang="en-US" sz="1400" dirty="0"/>
          </a:p>
        </p:txBody>
      </p:sp>
      <p:sp>
        <p:nvSpPr>
          <p:cNvPr id="7" name="Text 5"/>
          <p:cNvSpPr txBox="1"/>
          <p:nvPr/>
        </p:nvSpPr>
        <p:spPr>
          <a:xfrm>
            <a:off x="7132320" y="2057400"/>
            <a:ext cx="4480560" cy="310896"/>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raytrace</a:t>
            </a:r>
            <a:endParaRPr lang="en-US" sz="1400" dirty="0"/>
          </a:p>
        </p:txBody>
      </p:sp>
      <p:sp>
        <p:nvSpPr>
          <p:cNvPr id="8" name="Text 6"/>
          <p:cNvSpPr txBox="1"/>
          <p:nvPr/>
        </p:nvSpPr>
        <p:spPr>
          <a:xfrm>
            <a:off x="548640" y="2642616"/>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Bound by</a:t>
            </a:r>
            <a:endParaRPr lang="en-US" sz="1250" dirty="0"/>
          </a:p>
        </p:txBody>
      </p:sp>
      <p:sp>
        <p:nvSpPr>
          <p:cNvPr id="9" name="Text 7"/>
          <p:cNvSpPr txBox="1"/>
          <p:nvPr/>
        </p:nvSpPr>
        <p:spPr>
          <a:xfrm>
            <a:off x="2926080" y="2642616"/>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integer, control flow, memory</a:t>
            </a:r>
            <a:endParaRPr lang="en-US" sz="1250" dirty="0"/>
          </a:p>
        </p:txBody>
      </p:sp>
      <p:sp>
        <p:nvSpPr>
          <p:cNvPr id="10" name="Text 8"/>
          <p:cNvSpPr txBox="1"/>
          <p:nvPr/>
        </p:nvSpPr>
        <p:spPr>
          <a:xfrm>
            <a:off x="7132320" y="2642616"/>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floating point, allocation</a:t>
            </a:r>
            <a:endParaRPr lang="en-US" sz="1250" dirty="0"/>
          </a:p>
        </p:txBody>
      </p:sp>
      <p:sp>
        <p:nvSpPr>
          <p:cNvPr id="11" name="Text 9"/>
          <p:cNvSpPr txBox="1"/>
          <p:nvPr/>
        </p:nvSpPr>
        <p:spPr>
          <a:xfrm>
            <a:off x="548640" y="3227832"/>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Data rate</a:t>
            </a:r>
            <a:endParaRPr lang="en-US" sz="1250" dirty="0"/>
          </a:p>
        </p:txBody>
      </p:sp>
      <p:sp>
        <p:nvSpPr>
          <p:cNvPr id="12" name="Text 10"/>
          <p:cNvSpPr txBox="1"/>
          <p:nvPr/>
        </p:nvSpPr>
        <p:spPr>
          <a:xfrm>
            <a:off x="2926080" y="3227832"/>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VARIABLE — 1 to 20 bits/symbol</a:t>
            </a:r>
            <a:endParaRPr lang="en-US" sz="1250" dirty="0"/>
          </a:p>
        </p:txBody>
      </p:sp>
      <p:sp>
        <p:nvSpPr>
          <p:cNvPr id="13" name="Text 11"/>
          <p:cNvSpPr txBox="1"/>
          <p:nvPr/>
        </p:nvSpPr>
        <p:spPr>
          <a:xfrm>
            <a:off x="7132320" y="3227832"/>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FIXED — same shape every test</a:t>
            </a:r>
            <a:endParaRPr lang="en-US" sz="1250" dirty="0"/>
          </a:p>
        </p:txBody>
      </p:sp>
      <p:sp>
        <p:nvSpPr>
          <p:cNvPr id="14" name="Text 12"/>
          <p:cNvSpPr txBox="1"/>
          <p:nvPr/>
        </p:nvSpPr>
        <p:spPr>
          <a:xfrm>
            <a:off x="548640" y="3813048"/>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Pattern</a:t>
            </a:r>
            <a:endParaRPr lang="en-US" sz="1250" dirty="0"/>
          </a:p>
        </p:txBody>
      </p:sp>
      <p:sp>
        <p:nvSpPr>
          <p:cNvPr id="15" name="Text 13"/>
          <p:cNvSpPr txBox="1"/>
          <p:nvPr/>
        </p:nvSpPr>
        <p:spPr>
          <a:xfrm>
            <a:off x="2926080" y="3813048"/>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DATAFLOW, valid/ready</a:t>
            </a:r>
            <a:endParaRPr lang="en-US" sz="1250" dirty="0"/>
          </a:p>
        </p:txBody>
      </p:sp>
      <p:sp>
        <p:nvSpPr>
          <p:cNvPr id="16" name="Text 14"/>
          <p:cNvSpPr txBox="1"/>
          <p:nvPr/>
        </p:nvSpPr>
        <p:spPr>
          <a:xfrm>
            <a:off x="7132320" y="3813048"/>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SYSTOLIC-STYLE, weight-stationary</a:t>
            </a:r>
            <a:endParaRPr lang="en-US" sz="1250" dirty="0"/>
          </a:p>
        </p:txBody>
      </p:sp>
      <p:sp>
        <p:nvSpPr>
          <p:cNvPr id="17" name="Text 15"/>
          <p:cNvSpPr txBox="1"/>
          <p:nvPr/>
        </p:nvSpPr>
        <p:spPr>
          <a:xfrm>
            <a:off x="548640" y="4398264"/>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Key idea</a:t>
            </a:r>
            <a:endParaRPr lang="en-US" sz="1250" dirty="0"/>
          </a:p>
        </p:txBody>
      </p:sp>
      <p:sp>
        <p:nvSpPr>
          <p:cNvPr id="18" name="Text 16"/>
          <p:cNvSpPr txBox="1"/>
          <p:nvPr/>
        </p:nvSpPr>
        <p:spPr>
          <a:xfrm>
            <a:off x="2926080" y="4398264"/>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20 comparators + priority encoder</a:t>
            </a:r>
            <a:endParaRPr lang="en-US" sz="1250" dirty="0"/>
          </a:p>
        </p:txBody>
      </p:sp>
      <p:sp>
        <p:nvSpPr>
          <p:cNvPr id="19" name="Text 17"/>
          <p:cNvSpPr txBox="1"/>
          <p:nvPr/>
        </p:nvSpPr>
        <p:spPr>
          <a:xfrm>
            <a:off x="7132320" y="4398264"/>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preload spheres, stream rays</a:t>
            </a:r>
            <a:endParaRPr lang="en-US" sz="1250" dirty="0"/>
          </a:p>
        </p:txBody>
      </p:sp>
      <p:sp>
        <p:nvSpPr>
          <p:cNvPr id="20" name="Text 18"/>
          <p:cNvSpPr txBox="1"/>
          <p:nvPr/>
        </p:nvSpPr>
        <p:spPr>
          <a:xfrm>
            <a:off x="548640" y="4983480"/>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Bit-exact?</a:t>
            </a:r>
            <a:endParaRPr lang="en-US" sz="1250" dirty="0"/>
          </a:p>
        </p:txBody>
      </p:sp>
      <p:sp>
        <p:nvSpPr>
          <p:cNvPr id="21" name="Text 19"/>
          <p:cNvSpPr txBox="1"/>
          <p:nvPr/>
        </p:nvSpPr>
        <p:spPr>
          <a:xfrm>
            <a:off x="2926080" y="4983480"/>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yes</a:t>
            </a:r>
            <a:endParaRPr lang="en-US" sz="1250" dirty="0"/>
          </a:p>
        </p:txBody>
      </p:sp>
      <p:sp>
        <p:nvSpPr>
          <p:cNvPr id="22" name="Text 20"/>
          <p:cNvSpPr txBox="1"/>
          <p:nvPr/>
        </p:nvSpPr>
        <p:spPr>
          <a:xfrm>
            <a:off x="7132320" y="4983480"/>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no — truncating sqrt, 1.16 ulp</a:t>
            </a:r>
            <a:endParaRPr lang="en-US" sz="1250" dirty="0"/>
          </a:p>
        </p:txBody>
      </p:sp>
      <p:sp>
        <p:nvSpPr>
          <p:cNvPr id="23" name="Shape 21"/>
          <p:cNvSpPr/>
          <p:nvPr/>
        </p:nvSpPr>
        <p:spPr>
          <a:xfrm>
            <a:off x="548640" y="5349240"/>
            <a:ext cx="11091672" cy="777240"/>
          </a:xfrm>
          <a:prstGeom prst="roundRect">
            <a:avLst>
              <a:gd name="adj" fmla="val 7059"/>
            </a:avLst>
          </a:prstGeom>
          <a:solidFill>
            <a:srgbClr val="2B3A4A"/>
          </a:solidFill>
          <a:ln w="19050">
            <a:solidFill>
              <a:srgbClr val="E8833A"/>
            </a:solidFill>
            <a:prstDash val="solid"/>
          </a:ln>
        </p:spPr>
      </p:sp>
      <p:sp>
        <p:nvSpPr>
          <p:cNvPr id="24" name="Text 22"/>
          <p:cNvSpPr txBox="1"/>
          <p:nvPr/>
        </p:nvSpPr>
        <p:spPr>
          <a:xfrm>
            <a:off x="822960" y="5486400"/>
            <a:ext cx="10543032" cy="548640"/>
          </a:xfrm>
          <a:prstGeom prst="rect">
            <a:avLst/>
          </a:prstGeom>
          <a:noFill/>
          <a:ln/>
        </p:spPr>
        <p:txBody>
          <a:bodyPr wrap="square" lIns="0" tIns="0" rIns="0" bIns="0" rtlCol="0" anchor="ctr"/>
          <a:lstStyle/>
          <a:p>
            <a:pPr indent="0" marL="0">
              <a:lnSpc>
                <a:spcPts val="1800"/>
              </a:lnSpc>
              <a:buNone/>
            </a:pPr>
            <a:r>
              <a:rPr lang="en-US" sz="1350" dirty="0">
                <a:solidFill>
                  <a:srgbClr val="FFFFFF"/>
                </a:solidFill>
                <a:latin typeface="Calibri" pitchFamily="34" charset="0"/>
                <a:ea typeface="Calibri" pitchFamily="34" charset="-122"/>
                <a:cs typeface="Calibri" pitchFamily="34" charset="-120"/>
              </a:rPr>
              <a:t>A systolic array has no control circuitry. Feed it a variable-rate bitstream and it mis-aligns immediately — garbage in, garbage out. That single sentence is why these are two different machines.</a:t>
            </a:r>
            <a:endParaRPr lang="en-US" sz="1350" dirty="0"/>
          </a:p>
        </p:txBody>
      </p:sp>
      <p:sp>
        <p:nvSpPr>
          <p:cNvPr id="25" name="Text 2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Taha + Lana</a:t>
            </a:r>
            <a:endParaRPr lang="en-US" sz="1000" dirty="0"/>
          </a:p>
        </p:txBody>
      </p:sp>
      <p:sp>
        <p:nvSpPr>
          <p:cNvPr id="26" name="Text 2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B3543F"/>
                </a:solidFill>
                <a:latin typeface="Calibri" pitchFamily="34" charset="0"/>
                <a:ea typeface="Calibri" pitchFamily="34" charset="-122"/>
                <a:cs typeface="Calibri" pitchFamily="34" charset="-120"/>
              </a:rPr>
              <a:t>LIMITATIONS</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What we did not finish</a:t>
            </a:r>
            <a:endParaRPr lang="en-US" sz="2900" dirty="0"/>
          </a:p>
        </p:txBody>
      </p:sp>
      <p:sp>
        <p:nvSpPr>
          <p:cNvPr id="4" name="Text 2"/>
          <p:cNvSpPr txBox="1"/>
          <p:nvPr/>
        </p:nvSpPr>
        <p:spPr>
          <a:xfrm>
            <a:off x="548640" y="1371600"/>
            <a:ext cx="11091672" cy="274320"/>
          </a:xfrm>
          <a:prstGeom prst="rect">
            <a:avLst/>
          </a:prstGeom>
          <a:noFill/>
          <a:ln/>
        </p:spPr>
        <p:txBody>
          <a:bodyPr wrap="square" lIns="0" tIns="0" rIns="0" bIns="0" rtlCol="0" anchor="ctr"/>
          <a:lstStyle/>
          <a:p>
            <a:pPr indent="0" marL="0">
              <a:buNone/>
            </a:pPr>
            <a:r>
              <a:rPr lang="en-US" sz="1300" dirty="0">
                <a:solidFill>
                  <a:srgbClr val="6B7785"/>
                </a:solidFill>
                <a:latin typeface="Calibri" pitchFamily="34" charset="0"/>
                <a:ea typeface="Calibri" pitchFamily="34" charset="-122"/>
                <a:cs typeface="Calibri" pitchFamily="34" charset="-120"/>
              </a:rPr>
              <a:t>Stating this plainly is deliberate. Every claim in our reports is one we can defend; these are the ones we cannot.</a:t>
            </a:r>
            <a:endParaRPr lang="en-US" sz="1300" dirty="0"/>
          </a:p>
        </p:txBody>
      </p:sp>
      <p:sp>
        <p:nvSpPr>
          <p:cNvPr id="5" name="Shape 3"/>
          <p:cNvSpPr/>
          <p:nvPr/>
        </p:nvSpPr>
        <p:spPr>
          <a:xfrm>
            <a:off x="548640" y="1810512"/>
            <a:ext cx="256032" cy="256032"/>
          </a:xfrm>
          <a:prstGeom prst="ellipse">
            <a:avLst/>
          </a:prstGeom>
          <a:solidFill>
            <a:srgbClr val="B3543F"/>
          </a:solidFill>
          <a:ln w="12700">
            <a:solidFill>
              <a:srgbClr val="B3543F"/>
            </a:solidFill>
            <a:prstDash val="solid"/>
          </a:ln>
        </p:spPr>
      </p:sp>
      <p:sp>
        <p:nvSpPr>
          <p:cNvPr id="6" name="Text 4"/>
          <p:cNvSpPr txBox="1"/>
          <p:nvPr/>
        </p:nvSpPr>
        <p:spPr>
          <a:xfrm>
            <a:off x="548640" y="181051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0120" y="1783080"/>
            <a:ext cx="1060704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End-to-end simulation covers a SMALL block, not the benchmark file</a:t>
            </a:r>
            <a:endParaRPr lang="en-US" sz="1400" dirty="0"/>
          </a:p>
        </p:txBody>
      </p:sp>
      <p:sp>
        <p:nvSpPr>
          <p:cNvPr id="8" name="Text 6"/>
          <p:cNvSpPr txBox="1"/>
          <p:nvPr/>
        </p:nvSpPr>
        <p:spPr>
          <a:xfrm>
            <a:off x="960120" y="2103120"/>
            <a:ext cx="10607040" cy="100584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tb_top_block programs the accelerator through its CSRs, streams one compressed block in and checks the bytes that come out - so the assembled design does decompress. But the block is 15 bytes, generated by running the bzip2 encoder in Python. Feeding interpreter.tar.bz2 through the RTL would need a full driver model and a long simulation.</a:t>
            </a:r>
            <a:endParaRPr lang="en-US" sz="1200" dirty="0"/>
          </a:p>
        </p:txBody>
      </p:sp>
      <p:sp>
        <p:nvSpPr>
          <p:cNvPr id="9" name="Shape 7"/>
          <p:cNvSpPr/>
          <p:nvPr/>
        </p:nvSpPr>
        <p:spPr>
          <a:xfrm>
            <a:off x="548640" y="3227832"/>
            <a:ext cx="256032" cy="256032"/>
          </a:xfrm>
          <a:prstGeom prst="ellipse">
            <a:avLst/>
          </a:prstGeom>
          <a:solidFill>
            <a:srgbClr val="B3543F"/>
          </a:solidFill>
          <a:ln w="12700">
            <a:solidFill>
              <a:srgbClr val="B3543F"/>
            </a:solidFill>
            <a:prstDash val="solid"/>
          </a:ln>
        </p:spPr>
      </p:sp>
      <p:sp>
        <p:nvSpPr>
          <p:cNvPr id="10" name="Text 8"/>
          <p:cNvSpPr txBox="1"/>
          <p:nvPr/>
        </p:nvSpPr>
        <p:spPr>
          <a:xfrm>
            <a:off x="548640" y="322783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0120" y="3200400"/>
            <a:ext cx="1060704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One Huffman table at a time - the biggest gap to a usable accelerator</a:t>
            </a:r>
            <a:endParaRPr lang="en-US" sz="1400" dirty="0"/>
          </a:p>
        </p:txBody>
      </p:sp>
      <p:sp>
        <p:nvSpPr>
          <p:cNvPr id="12" name="Text 10"/>
          <p:cNvSpPr txBox="1"/>
          <p:nvPr/>
        </p:nvSpPr>
        <p:spPr>
          <a:xfrm>
            <a:off x="960120" y="3520440"/>
            <a:ext cx="10607040" cy="100584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A real block carries up to six tables and switches every 50 symbols. The hardware holds one set, so the driver would reprogram it at each switch - roughly 3,000 bursts for the benchmark block. A production design holds six banks and selects with the decoded selector stream.</a:t>
            </a:r>
            <a:endParaRPr lang="en-US" sz="1200" dirty="0"/>
          </a:p>
        </p:txBody>
      </p:sp>
      <p:sp>
        <p:nvSpPr>
          <p:cNvPr id="13" name="Shape 11"/>
          <p:cNvSpPr/>
          <p:nvPr/>
        </p:nvSpPr>
        <p:spPr>
          <a:xfrm>
            <a:off x="548640" y="4645152"/>
            <a:ext cx="256032" cy="256032"/>
          </a:xfrm>
          <a:prstGeom prst="ellipse">
            <a:avLst/>
          </a:prstGeom>
          <a:solidFill>
            <a:srgbClr val="B3543F"/>
          </a:solidFill>
          <a:ln w="12700">
            <a:solidFill>
              <a:srgbClr val="B3543F"/>
            </a:solidFill>
            <a:prstDash val="solid"/>
          </a:ln>
        </p:spPr>
      </p:sp>
      <p:sp>
        <p:nvSpPr>
          <p:cNvPr id="14" name="Text 12"/>
          <p:cNvSpPr txBox="1"/>
          <p:nvPr/>
        </p:nvSpPr>
        <p:spPr>
          <a:xfrm>
            <a:off x="548640" y="464515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txBox="1"/>
          <p:nvPr/>
        </p:nvSpPr>
        <p:spPr>
          <a:xfrm>
            <a:off x="960120" y="4617720"/>
            <a:ext cx="1060704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Amdahl caps both accelerators</a:t>
            </a:r>
            <a:endParaRPr lang="en-US" sz="1400" dirty="0"/>
          </a:p>
        </p:txBody>
      </p:sp>
      <p:sp>
        <p:nvSpPr>
          <p:cNvPr id="16" name="Text 14"/>
          <p:cNvSpPr txBox="1"/>
          <p:nvPr/>
        </p:nvSpPr>
        <p:spPr>
          <a:xfrm>
            <a:off x="960120" y="4937760"/>
            <a:ext cx="10607040" cy="100584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raytrace intersection is 35% of the optimized runtime → 1.54× ceiling on a whole frame. For pyflate, a 67 KB input behind PCIe would be dominated by the round trip — which is why this belongs on-die, not on a discrete card.</a:t>
            </a:r>
            <a:endParaRPr lang="en-US" sz="1200" dirty="0"/>
          </a:p>
        </p:txBody>
      </p:sp>
      <p:sp>
        <p:nvSpPr>
          <p:cNvPr id="17" name="Text 1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18" name="Text 1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6858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548640" y="960120"/>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Requirement was 7% on two benchmarks</a:t>
            </a:r>
            <a:endParaRPr lang="en-US" sz="3200" dirty="0"/>
          </a:p>
        </p:txBody>
      </p:sp>
      <p:sp>
        <p:nvSpPr>
          <p:cNvPr id="4" name="Shape 2"/>
          <p:cNvSpPr/>
          <p:nvPr/>
        </p:nvSpPr>
        <p:spPr>
          <a:xfrm>
            <a:off x="548640" y="1828800"/>
            <a:ext cx="11091672" cy="868680"/>
          </a:xfrm>
          <a:prstGeom prst="roundRect">
            <a:avLst>
              <a:gd name="adj" fmla="val 6316"/>
            </a:avLst>
          </a:prstGeom>
          <a:solidFill>
            <a:srgbClr val="2B3A4A"/>
          </a:solidFill>
          <a:ln w="9525">
            <a:solidFill>
              <a:srgbClr val="3C4E61"/>
            </a:solidFill>
            <a:prstDash val="solid"/>
          </a:ln>
        </p:spPr>
      </p:sp>
      <p:sp>
        <p:nvSpPr>
          <p:cNvPr id="5" name="Text 3"/>
          <p:cNvSpPr txBox="1"/>
          <p:nvPr/>
        </p:nvSpPr>
        <p:spPr>
          <a:xfrm>
            <a:off x="822960" y="2029968"/>
            <a:ext cx="1828800" cy="457200"/>
          </a:xfrm>
          <a:prstGeom prst="rect">
            <a:avLst/>
          </a:prstGeom>
          <a:noFill/>
          <a:ln/>
        </p:spPr>
        <p:txBody>
          <a:bodyPr wrap="square" lIns="0" tIns="0" rIns="0" bIns="0" rtlCol="0" anchor="ctr"/>
          <a:lstStyle/>
          <a:p>
            <a:pPr indent="0" marL="0">
              <a:buNone/>
            </a:pPr>
            <a:r>
              <a:rPr lang="en-US" sz="1800" b="1" dirty="0">
                <a:solidFill>
                  <a:srgbClr val="E8EDF2"/>
                </a:solidFill>
                <a:latin typeface="Cambria" pitchFamily="34" charset="0"/>
                <a:ea typeface="Cambria" pitchFamily="34" charset="-122"/>
                <a:cs typeface="Cambria" pitchFamily="34" charset="-120"/>
              </a:rPr>
              <a:t>pyflate</a:t>
            </a:r>
            <a:endParaRPr lang="en-US" sz="1800" dirty="0"/>
          </a:p>
        </p:txBody>
      </p:sp>
      <p:sp>
        <p:nvSpPr>
          <p:cNvPr id="6" name="Text 4"/>
          <p:cNvSpPr txBox="1"/>
          <p:nvPr/>
        </p:nvSpPr>
        <p:spPr>
          <a:xfrm>
            <a:off x="2651760" y="2029968"/>
            <a:ext cx="1737360" cy="457200"/>
          </a:xfrm>
          <a:prstGeom prst="rect">
            <a:avLst/>
          </a:prstGeom>
          <a:noFill/>
          <a:ln/>
        </p:spPr>
        <p:txBody>
          <a:bodyPr wrap="square" lIns="0" tIns="0" rIns="0" bIns="0" rtlCol="0" anchor="ctr"/>
          <a:lstStyle/>
          <a:p>
            <a:pPr indent="0" marL="0">
              <a:buNone/>
            </a:pPr>
            <a:r>
              <a:rPr lang="en-US" sz="1400" dirty="0">
                <a:solidFill>
                  <a:srgbClr val="E8833A"/>
                </a:solidFill>
                <a:latin typeface="Calibri" pitchFamily="34" charset="0"/>
                <a:ea typeface="Calibri" pitchFamily="34" charset="-122"/>
                <a:cs typeface="Calibri" pitchFamily="34" charset="-120"/>
              </a:rPr>
              <a:t>1115.1 ms</a:t>
            </a:r>
            <a:endParaRPr lang="en-US" sz="1400" dirty="0"/>
          </a:p>
        </p:txBody>
      </p:sp>
      <p:sp>
        <p:nvSpPr>
          <p:cNvPr id="7" name="Text 5"/>
          <p:cNvSpPr txBox="1"/>
          <p:nvPr/>
        </p:nvSpPr>
        <p:spPr>
          <a:xfrm>
            <a:off x="4389120" y="2029968"/>
            <a:ext cx="1737360" cy="457200"/>
          </a:xfrm>
          <a:prstGeom prst="rect">
            <a:avLst/>
          </a:prstGeom>
          <a:noFill/>
          <a:ln/>
        </p:spPr>
        <p:txBody>
          <a:bodyPr wrap="square" lIns="0" tIns="0" rIns="0" bIns="0" rtlCol="0" anchor="ctr"/>
          <a:lstStyle/>
          <a:p>
            <a:pPr indent="0" marL="0">
              <a:buNone/>
            </a:pPr>
            <a:r>
              <a:rPr lang="en-US" sz="1400" dirty="0">
                <a:solidFill>
                  <a:srgbClr val="2D9B8A"/>
                </a:solidFill>
                <a:latin typeface="Calibri" pitchFamily="34" charset="0"/>
                <a:ea typeface="Calibri" pitchFamily="34" charset="-122"/>
                <a:cs typeface="Calibri" pitchFamily="34" charset="-120"/>
              </a:rPr>
              <a:t>444.6 ms</a:t>
            </a:r>
            <a:endParaRPr lang="en-US" sz="1400" dirty="0"/>
          </a:p>
        </p:txBody>
      </p:sp>
      <p:sp>
        <p:nvSpPr>
          <p:cNvPr id="8" name="Text 6"/>
          <p:cNvSpPr txBox="1"/>
          <p:nvPr/>
        </p:nvSpPr>
        <p:spPr>
          <a:xfrm>
            <a:off x="6126480" y="2029968"/>
            <a:ext cx="1554480" cy="457200"/>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60.1%</a:t>
            </a:r>
            <a:endParaRPr lang="en-US" sz="1400" dirty="0"/>
          </a:p>
        </p:txBody>
      </p:sp>
      <p:sp>
        <p:nvSpPr>
          <p:cNvPr id="9" name="Text 7"/>
          <p:cNvSpPr txBox="1"/>
          <p:nvPr/>
        </p:nvSpPr>
        <p:spPr>
          <a:xfrm>
            <a:off x="7680960" y="2029968"/>
            <a:ext cx="1554480" cy="457200"/>
          </a:xfrm>
          <a:prstGeom prst="rect">
            <a:avLst/>
          </a:prstGeom>
          <a:noFill/>
          <a:ln/>
        </p:spPr>
        <p:txBody>
          <a:bodyPr wrap="square" lIns="0" tIns="0" rIns="0" bIns="0" rtlCol="0" anchor="ctr"/>
          <a:lstStyle/>
          <a:p>
            <a:pPr indent="0" marL="0">
              <a:buNone/>
            </a:pPr>
            <a:r>
              <a:rPr lang="en-US" sz="2000" b="1" dirty="0">
                <a:solidFill>
                  <a:srgbClr val="2D9B8A"/>
                </a:solidFill>
                <a:latin typeface="Calibri" pitchFamily="34" charset="0"/>
                <a:ea typeface="Calibri" pitchFamily="34" charset="-122"/>
                <a:cs typeface="Calibri" pitchFamily="34" charset="-120"/>
              </a:rPr>
              <a:t>2.51×</a:t>
            </a:r>
            <a:endParaRPr lang="en-US" sz="2000" dirty="0"/>
          </a:p>
        </p:txBody>
      </p:sp>
      <p:sp>
        <p:nvSpPr>
          <p:cNvPr id="10" name="Text 8"/>
          <p:cNvSpPr txBox="1"/>
          <p:nvPr/>
        </p:nvSpPr>
        <p:spPr>
          <a:xfrm>
            <a:off x="9235440" y="2029968"/>
            <a:ext cx="1645920" cy="457200"/>
          </a:xfrm>
          <a:prstGeom prst="rect">
            <a:avLst/>
          </a:prstGeom>
          <a:noFill/>
          <a:ln/>
        </p:spPr>
        <p:txBody>
          <a:bodyPr wrap="square" lIns="0" tIns="0" rIns="0" bIns="0" rtlCol="0" anchor="ctr"/>
          <a:lstStyle/>
          <a:p>
            <a:pPr indent="0" marL="0">
              <a:buNone/>
            </a:pPr>
            <a:r>
              <a:rPr lang="en-US" sz="1400" dirty="0">
                <a:solidFill>
                  <a:srgbClr val="E8EDF2"/>
                </a:solidFill>
                <a:latin typeface="Calibri" pitchFamily="34" charset="0"/>
                <a:ea typeface="Calibri" pitchFamily="34" charset="-122"/>
                <a:cs typeface="Calibri" pitchFamily="34" charset="-120"/>
              </a:rPr>
              <a:t>t = 676.00</a:t>
            </a:r>
            <a:endParaRPr lang="en-US" sz="1400" dirty="0"/>
          </a:p>
        </p:txBody>
      </p:sp>
      <p:sp>
        <p:nvSpPr>
          <p:cNvPr id="11" name="Shape 9"/>
          <p:cNvSpPr/>
          <p:nvPr/>
        </p:nvSpPr>
        <p:spPr>
          <a:xfrm>
            <a:off x="548640" y="2880360"/>
            <a:ext cx="11091672" cy="868680"/>
          </a:xfrm>
          <a:prstGeom prst="roundRect">
            <a:avLst>
              <a:gd name="adj" fmla="val 6316"/>
            </a:avLst>
          </a:prstGeom>
          <a:solidFill>
            <a:srgbClr val="2B3A4A"/>
          </a:solidFill>
          <a:ln w="9525">
            <a:solidFill>
              <a:srgbClr val="3C4E61"/>
            </a:solidFill>
            <a:prstDash val="solid"/>
          </a:ln>
        </p:spPr>
      </p:sp>
      <p:sp>
        <p:nvSpPr>
          <p:cNvPr id="12" name="Text 10"/>
          <p:cNvSpPr txBox="1"/>
          <p:nvPr/>
        </p:nvSpPr>
        <p:spPr>
          <a:xfrm>
            <a:off x="822960" y="3081528"/>
            <a:ext cx="1828800" cy="457200"/>
          </a:xfrm>
          <a:prstGeom prst="rect">
            <a:avLst/>
          </a:prstGeom>
          <a:noFill/>
          <a:ln/>
        </p:spPr>
        <p:txBody>
          <a:bodyPr wrap="square" lIns="0" tIns="0" rIns="0" bIns="0" rtlCol="0" anchor="ctr"/>
          <a:lstStyle/>
          <a:p>
            <a:pPr indent="0" marL="0">
              <a:buNone/>
            </a:pPr>
            <a:r>
              <a:rPr lang="en-US" sz="1800" b="1" dirty="0">
                <a:solidFill>
                  <a:srgbClr val="E8EDF2"/>
                </a:solidFill>
                <a:latin typeface="Cambria" pitchFamily="34" charset="0"/>
                <a:ea typeface="Cambria" pitchFamily="34" charset="-122"/>
                <a:cs typeface="Cambria" pitchFamily="34" charset="-120"/>
              </a:rPr>
              <a:t>raytrace</a:t>
            </a:r>
            <a:endParaRPr lang="en-US" sz="1800" dirty="0"/>
          </a:p>
        </p:txBody>
      </p:sp>
      <p:sp>
        <p:nvSpPr>
          <p:cNvPr id="13" name="Text 11"/>
          <p:cNvSpPr txBox="1"/>
          <p:nvPr/>
        </p:nvSpPr>
        <p:spPr>
          <a:xfrm>
            <a:off x="2651760" y="3081528"/>
            <a:ext cx="1737360" cy="457200"/>
          </a:xfrm>
          <a:prstGeom prst="rect">
            <a:avLst/>
          </a:prstGeom>
          <a:noFill/>
          <a:ln/>
        </p:spPr>
        <p:txBody>
          <a:bodyPr wrap="square" lIns="0" tIns="0" rIns="0" bIns="0" rtlCol="0" anchor="ctr"/>
          <a:lstStyle/>
          <a:p>
            <a:pPr indent="0" marL="0">
              <a:buNone/>
            </a:pPr>
            <a:r>
              <a:rPr lang="en-US" sz="1400" dirty="0">
                <a:solidFill>
                  <a:srgbClr val="E8833A"/>
                </a:solidFill>
                <a:latin typeface="Calibri" pitchFamily="34" charset="0"/>
                <a:ea typeface="Calibri" pitchFamily="34" charset="-122"/>
                <a:cs typeface="Calibri" pitchFamily="34" charset="-120"/>
              </a:rPr>
              <a:t>809.3 ms</a:t>
            </a:r>
            <a:endParaRPr lang="en-US" sz="1400" dirty="0"/>
          </a:p>
        </p:txBody>
      </p:sp>
      <p:sp>
        <p:nvSpPr>
          <p:cNvPr id="14" name="Text 12"/>
          <p:cNvSpPr txBox="1"/>
          <p:nvPr/>
        </p:nvSpPr>
        <p:spPr>
          <a:xfrm>
            <a:off x="4389120" y="3081528"/>
            <a:ext cx="1737360" cy="457200"/>
          </a:xfrm>
          <a:prstGeom prst="rect">
            <a:avLst/>
          </a:prstGeom>
          <a:noFill/>
          <a:ln/>
        </p:spPr>
        <p:txBody>
          <a:bodyPr wrap="square" lIns="0" tIns="0" rIns="0" bIns="0" rtlCol="0" anchor="ctr"/>
          <a:lstStyle/>
          <a:p>
            <a:pPr indent="0" marL="0">
              <a:buNone/>
            </a:pPr>
            <a:r>
              <a:rPr lang="en-US" sz="1400" dirty="0">
                <a:solidFill>
                  <a:srgbClr val="2D9B8A"/>
                </a:solidFill>
                <a:latin typeface="Calibri" pitchFamily="34" charset="0"/>
                <a:ea typeface="Calibri" pitchFamily="34" charset="-122"/>
                <a:cs typeface="Calibri" pitchFamily="34" charset="-120"/>
              </a:rPr>
              <a:t>282.2 ms</a:t>
            </a:r>
            <a:endParaRPr lang="en-US" sz="1400" dirty="0"/>
          </a:p>
        </p:txBody>
      </p:sp>
      <p:sp>
        <p:nvSpPr>
          <p:cNvPr id="15" name="Text 13"/>
          <p:cNvSpPr txBox="1"/>
          <p:nvPr/>
        </p:nvSpPr>
        <p:spPr>
          <a:xfrm>
            <a:off x="6126480" y="3081528"/>
            <a:ext cx="1554480" cy="457200"/>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65.1%</a:t>
            </a:r>
            <a:endParaRPr lang="en-US" sz="1400" dirty="0"/>
          </a:p>
        </p:txBody>
      </p:sp>
      <p:sp>
        <p:nvSpPr>
          <p:cNvPr id="16" name="Text 14"/>
          <p:cNvSpPr txBox="1"/>
          <p:nvPr/>
        </p:nvSpPr>
        <p:spPr>
          <a:xfrm>
            <a:off x="7680960" y="3081528"/>
            <a:ext cx="1554480" cy="457200"/>
          </a:xfrm>
          <a:prstGeom prst="rect">
            <a:avLst/>
          </a:prstGeom>
          <a:noFill/>
          <a:ln/>
        </p:spPr>
        <p:txBody>
          <a:bodyPr wrap="square" lIns="0" tIns="0" rIns="0" bIns="0" rtlCol="0" anchor="ctr"/>
          <a:lstStyle/>
          <a:p>
            <a:pPr indent="0" marL="0">
              <a:buNone/>
            </a:pPr>
            <a:r>
              <a:rPr lang="en-US" sz="2000" b="1" dirty="0">
                <a:solidFill>
                  <a:srgbClr val="2D9B8A"/>
                </a:solidFill>
                <a:latin typeface="Calibri" pitchFamily="34" charset="0"/>
                <a:ea typeface="Calibri" pitchFamily="34" charset="-122"/>
                <a:cs typeface="Calibri" pitchFamily="34" charset="-120"/>
              </a:rPr>
              <a:t>2.87×</a:t>
            </a:r>
            <a:endParaRPr lang="en-US" sz="2000" dirty="0"/>
          </a:p>
        </p:txBody>
      </p:sp>
      <p:sp>
        <p:nvSpPr>
          <p:cNvPr id="17" name="Text 15"/>
          <p:cNvSpPr txBox="1"/>
          <p:nvPr/>
        </p:nvSpPr>
        <p:spPr>
          <a:xfrm>
            <a:off x="9235440" y="3081528"/>
            <a:ext cx="1645920" cy="457200"/>
          </a:xfrm>
          <a:prstGeom prst="rect">
            <a:avLst/>
          </a:prstGeom>
          <a:noFill/>
          <a:ln/>
        </p:spPr>
        <p:txBody>
          <a:bodyPr wrap="square" lIns="0" tIns="0" rIns="0" bIns="0" rtlCol="0" anchor="ctr"/>
          <a:lstStyle/>
          <a:p>
            <a:pPr indent="0" marL="0">
              <a:buNone/>
            </a:pPr>
            <a:r>
              <a:rPr lang="en-US" sz="1400" dirty="0">
                <a:solidFill>
                  <a:srgbClr val="E8EDF2"/>
                </a:solidFill>
                <a:latin typeface="Calibri" pitchFamily="34" charset="0"/>
                <a:ea typeface="Calibri" pitchFamily="34" charset="-122"/>
                <a:cs typeface="Calibri" pitchFamily="34" charset="-120"/>
              </a:rPr>
              <a:t>t = 315.11</a:t>
            </a:r>
            <a:endParaRPr lang="en-US" sz="1400" dirty="0"/>
          </a:p>
        </p:txBody>
      </p:sp>
      <p:sp>
        <p:nvSpPr>
          <p:cNvPr id="18" name="Text 16"/>
          <p:cNvSpPr txBox="1"/>
          <p:nvPr/>
        </p:nvSpPr>
        <p:spPr>
          <a:xfrm>
            <a:off x="548640" y="4069080"/>
            <a:ext cx="10698480" cy="457200"/>
          </a:xfrm>
          <a:prstGeom prst="rect">
            <a:avLst/>
          </a:prstGeom>
          <a:noFill/>
          <a:ln/>
        </p:spPr>
        <p:txBody>
          <a:bodyPr wrap="square" lIns="0" tIns="0" rIns="0" bIns="0" rtlCol="0" anchor="ctr"/>
          <a:lstStyle/>
          <a:p>
            <a:pPr indent="0" marL="0">
              <a:lnSpc>
                <a:spcPts val="1900"/>
              </a:lnSpc>
              <a:buNone/>
            </a:pPr>
            <a:r>
              <a:rPr lang="en-US" sz="1400" dirty="0">
                <a:solidFill>
                  <a:srgbClr val="AFBECD"/>
                </a:solidFill>
                <a:latin typeface="Calibri" pitchFamily="34" charset="0"/>
                <a:ea typeface="Calibri" pitchFamily="34" charset="-122"/>
                <a:cs typeface="Calibri" pitchFamily="34" charset="-120"/>
              </a:rPr>
              <a:t>Measured inside the course QEMU guest. Both clear the bar by roughly 9×, both statistically significant, and both with output identical to the original — byte for byte for pyflate, pixel for pixel for raytrace.</a:t>
            </a:r>
            <a:endParaRPr lang="en-US" sz="1400" dirty="0"/>
          </a:p>
        </p:txBody>
      </p:sp>
      <p:sp>
        <p:nvSpPr>
          <p:cNvPr id="19" name="Shape 17"/>
          <p:cNvSpPr/>
          <p:nvPr/>
        </p:nvSpPr>
        <p:spPr>
          <a:xfrm>
            <a:off x="548640" y="4709160"/>
            <a:ext cx="11091672" cy="1234440"/>
          </a:xfrm>
          <a:prstGeom prst="roundRect">
            <a:avLst>
              <a:gd name="adj" fmla="val 4444"/>
            </a:avLst>
          </a:prstGeom>
          <a:solidFill>
            <a:srgbClr val="2B3A4A"/>
          </a:solidFill>
          <a:ln w="19050">
            <a:solidFill>
              <a:srgbClr val="2D9B8A"/>
            </a:solidFill>
            <a:prstDash val="solid"/>
          </a:ln>
        </p:spPr>
      </p:sp>
      <p:sp>
        <p:nvSpPr>
          <p:cNvPr id="20" name="Text 18"/>
          <p:cNvSpPr txBox="1"/>
          <p:nvPr/>
        </p:nvSpPr>
        <p:spPr>
          <a:xfrm>
            <a:off x="868680" y="4846320"/>
            <a:ext cx="10424160" cy="274320"/>
          </a:xfrm>
          <a:prstGeom prst="rect">
            <a:avLst/>
          </a:prstGeom>
          <a:noFill/>
          <a:ln/>
        </p:spPr>
        <p:txBody>
          <a:bodyPr wrap="square" lIns="0" tIns="0" rIns="0" bIns="0" rtlCol="0" anchor="ctr"/>
          <a:lstStyle/>
          <a:p>
            <a:pPr indent="0" marL="0">
              <a:buNone/>
            </a:pPr>
            <a:r>
              <a:rPr lang="en-US" sz="1300" b="1" dirty="0">
                <a:solidFill>
                  <a:srgbClr val="2D9B8A"/>
                </a:solidFill>
                <a:latin typeface="Calibri" pitchFamily="34" charset="0"/>
                <a:ea typeface="Calibri" pitchFamily="34" charset="-122"/>
                <a:cs typeface="Calibri" pitchFamily="34" charset="-120"/>
              </a:rPr>
              <a:t>What we would want you to take away</a:t>
            </a:r>
            <a:endParaRPr lang="en-US" sz="1300" dirty="0"/>
          </a:p>
        </p:txBody>
      </p:sp>
      <p:sp>
        <p:nvSpPr>
          <p:cNvPr id="21" name="Text 19"/>
          <p:cNvSpPr txBox="1"/>
          <p:nvPr/>
        </p:nvSpPr>
        <p:spPr>
          <a:xfrm>
            <a:off x="868680" y="5138928"/>
            <a:ext cx="10424160" cy="685800"/>
          </a:xfrm>
          <a:prstGeom prst="rect">
            <a:avLst/>
          </a:prstGeom>
          <a:noFill/>
          <a:ln/>
        </p:spPr>
        <p:txBody>
          <a:bodyPr wrap="square" lIns="0" tIns="0" rIns="0" bIns="0" rtlCol="0" anchor="ctr"/>
          <a:lstStyle/>
          <a:p>
            <a:pPr indent="0" marL="0">
              <a:lnSpc>
                <a:spcPts val="1800"/>
              </a:lnSpc>
              <a:buNone/>
            </a:pPr>
            <a:r>
              <a:rPr lang="en-US" sz="1350" dirty="0">
                <a:solidFill>
                  <a:srgbClr val="FFFFFF"/>
                </a:solidFill>
                <a:latin typeface="Calibri" pitchFamily="34" charset="0"/>
                <a:ea typeface="Calibri" pitchFamily="34" charset="-122"/>
                <a:cs typeface="Calibri" pitchFamily="34" charset="-120"/>
              </a:rPr>
              <a:t>In both benchmarks the obvious diagnosis was wrong, and the counters — not intuition — settled it. Cycles fell in step with the stopwatch while IPC barely moved. We did not make the machine faster; we stopped asking it to do work that was never needed.</a:t>
            </a:r>
            <a:endParaRPr lang="en-US" sz="1350" dirty="0"/>
          </a:p>
        </p:txBody>
      </p:sp>
      <p:sp>
        <p:nvSpPr>
          <p:cNvPr id="22" name="Text 2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Lana</a:t>
            </a:r>
            <a:endParaRPr lang="en-US" sz="1000" dirty="0"/>
          </a:p>
        </p:txBody>
      </p:sp>
      <p:sp>
        <p:nvSpPr>
          <p:cNvPr id="23" name="Text 2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B1</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Canonical Huffman: why limit/base/perm works</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Text 3"/>
          <p:cNvSpPr txBox="1"/>
          <p:nvPr/>
        </p:nvSpPr>
        <p:spPr>
          <a:xfrm>
            <a:off x="548640" y="1371600"/>
            <a:ext cx="11091672" cy="50292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populate_huffman_symbols() already assigns canonical MSB-first codes — codes handed out in increasing order, shifted left whenever the length grows. That structure is what the linear scan ignores.</a:t>
            </a:r>
            <a:endParaRPr lang="en-US" sz="1300" dirty="0"/>
          </a:p>
        </p:txBody>
      </p:sp>
      <p:sp>
        <p:nvSpPr>
          <p:cNvPr id="6" name="Shape 4"/>
          <p:cNvSpPr/>
          <p:nvPr/>
        </p:nvSpPr>
        <p:spPr>
          <a:xfrm>
            <a:off x="548640" y="1965960"/>
            <a:ext cx="6035040" cy="1828800"/>
          </a:xfrm>
          <a:prstGeom prst="roundRect">
            <a:avLst>
              <a:gd name="adj" fmla="val 2500"/>
            </a:avLst>
          </a:prstGeom>
          <a:solidFill>
            <a:srgbClr val="1B2430"/>
          </a:solidFill>
          <a:ln w="12700">
            <a:solidFill>
              <a:srgbClr val="1B2430"/>
            </a:solidFill>
            <a:prstDash val="solid"/>
          </a:ln>
        </p:spPr>
      </p:sp>
      <p:sp>
        <p:nvSpPr>
          <p:cNvPr id="7" name="Text 5"/>
          <p:cNvSpPr txBox="1"/>
          <p:nvPr/>
        </p:nvSpPr>
        <p:spPr>
          <a:xfrm>
            <a:off x="777240" y="2103120"/>
            <a:ext cx="5577840" cy="1554480"/>
          </a:xfrm>
          <a:prstGeom prst="rect">
            <a:avLst/>
          </a:prstGeom>
          <a:noFill/>
          <a:ln/>
        </p:spPr>
        <p:txBody>
          <a:bodyPr wrap="square" lIns="0" tIns="0" rIns="0" bIns="0" rtlCol="0" anchor="ctr"/>
          <a:lstStyle/>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zvec = next min_len bits</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while zvec &gt; limit[zn]:</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    zn += 1</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    zvec = (zvec &lt;&lt; 1) | next_bit</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sym = perm[zvec - base[zn]]</a:t>
            </a:r>
            <a:endParaRPr lang="en-US" sz="1200" dirty="0"/>
          </a:p>
        </p:txBody>
      </p:sp>
      <p:sp>
        <p:nvSpPr>
          <p:cNvPr id="8" name="Shape 6"/>
          <p:cNvSpPr/>
          <p:nvPr/>
        </p:nvSpPr>
        <p:spPr>
          <a:xfrm>
            <a:off x="6766560" y="1965960"/>
            <a:ext cx="4873752" cy="1828800"/>
          </a:xfrm>
          <a:prstGeom prst="roundRect">
            <a:avLst>
              <a:gd name="adj" fmla="val 3000"/>
            </a:avLst>
          </a:prstGeom>
          <a:solidFill>
            <a:srgbClr val="F3F6F8"/>
          </a:solidFill>
          <a:ln w="9525">
            <a:solidFill>
              <a:srgbClr val="DBE2E8"/>
            </a:solidFill>
            <a:prstDash val="solid"/>
          </a:ln>
        </p:spPr>
      </p:sp>
      <p:sp>
        <p:nvSpPr>
          <p:cNvPr id="9" name="Text 7"/>
          <p:cNvSpPr txBox="1"/>
          <p:nvPr/>
        </p:nvSpPr>
        <p:spPr>
          <a:xfrm>
            <a:off x="6995160" y="2103120"/>
            <a:ext cx="4389120" cy="274320"/>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Worked example (6 symbols)</a:t>
            </a:r>
            <a:endParaRPr lang="en-US" sz="1200" dirty="0"/>
          </a:p>
        </p:txBody>
      </p:sp>
      <p:sp>
        <p:nvSpPr>
          <p:cNvPr id="10" name="Text 8"/>
          <p:cNvSpPr txBox="1"/>
          <p:nvPr/>
        </p:nvSpPr>
        <p:spPr>
          <a:xfrm>
            <a:off x="6995160" y="2395728"/>
            <a:ext cx="4389120" cy="1280160"/>
          </a:xfrm>
          <a:prstGeom prst="rect">
            <a:avLst/>
          </a:prstGeom>
          <a:noFill/>
          <a:ln/>
        </p:spPr>
        <p:txBody>
          <a:bodyPr wrap="square" lIns="0" tIns="0" rIns="0" bIns="0" rtlCol="0" anchor="ctr"/>
          <a:lstStyle/>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lengths [2,2,2,3,4,4]</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sym 0→00  1→01  2→10</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sym 3→110  4→1110  5→1111</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limit[2]=2 base[2]=0</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limit[3]=6 base[3]=3</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limit[4]=15 base[4]=10</a:t>
            </a:r>
            <a:endParaRPr lang="en-US" sz="1050" dirty="0"/>
          </a:p>
        </p:txBody>
      </p:sp>
      <p:sp>
        <p:nvSpPr>
          <p:cNvPr id="11" name="Text 9"/>
          <p:cNvSpPr txBox="1"/>
          <p:nvPr/>
        </p:nvSpPr>
        <p:spPr>
          <a:xfrm>
            <a:off x="548640" y="3977640"/>
            <a:ext cx="11091672" cy="54864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These are the exact vectors in tb_huffman_decoder.v. The testbench checks both the decoded symbol and the number of bits retired — a decoder that returns the right symbol while consuming the wrong number of bits destroys the rest of the stream.</a:t>
            </a:r>
            <a:endParaRPr lang="en-US" sz="1250" dirty="0"/>
          </a:p>
        </p:txBody>
      </p:sp>
      <p:sp>
        <p:nvSpPr>
          <p:cNvPr id="12" name="Text 1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13" name="Text 1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B2</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Host/software interface and the three rules</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Shape 3"/>
          <p:cNvSpPr/>
          <p:nvPr/>
        </p:nvSpPr>
        <p:spPr>
          <a:xfrm>
            <a:off x="548640" y="1371600"/>
            <a:ext cx="11091672" cy="1188720"/>
          </a:xfrm>
          <a:prstGeom prst="roundRect">
            <a:avLst>
              <a:gd name="adj" fmla="val 4615"/>
            </a:avLst>
          </a:prstGeom>
          <a:solidFill>
            <a:srgbClr val="F3F6F8"/>
          </a:solidFill>
          <a:ln w="9525">
            <a:solidFill>
              <a:srgbClr val="DBE2E8"/>
            </a:solidFill>
            <a:prstDash val="solid"/>
          </a:ln>
        </p:spPr>
      </p:sp>
      <p:sp>
        <p:nvSpPr>
          <p:cNvPr id="6" name="Text 4"/>
          <p:cNvSpPr txBox="1"/>
          <p:nvPr/>
        </p:nvSpPr>
        <p:spPr>
          <a:xfrm>
            <a:off x="822960" y="1508760"/>
            <a:ext cx="1097280" cy="274320"/>
          </a:xfrm>
          <a:prstGeom prst="rect">
            <a:avLst/>
          </a:prstGeom>
          <a:noFill/>
          <a:ln/>
        </p:spPr>
        <p:txBody>
          <a:bodyPr wrap="square" lIns="0" tIns="0" rIns="0" bIns="0" rtlCol="0" anchor="ctr"/>
          <a:lstStyle/>
          <a:p>
            <a:pPr indent="0" marL="0">
              <a:buNone/>
            </a:pPr>
            <a:r>
              <a:rPr lang="en-US" sz="1300" b="1" dirty="0">
                <a:solidFill>
                  <a:srgbClr val="E8833A"/>
                </a:solidFill>
                <a:latin typeface="Calibri" pitchFamily="34" charset="0"/>
                <a:ea typeface="Calibri" pitchFamily="34" charset="-122"/>
                <a:cs typeface="Calibri" pitchFamily="34" charset="-120"/>
              </a:rPr>
              <a:t>Rule 1</a:t>
            </a:r>
            <a:endParaRPr lang="en-US" sz="1300" dirty="0"/>
          </a:p>
        </p:txBody>
      </p:sp>
      <p:sp>
        <p:nvSpPr>
          <p:cNvPr id="7" name="Text 5"/>
          <p:cNvSpPr txBox="1"/>
          <p:nvPr/>
        </p:nvSpPr>
        <p:spPr>
          <a:xfrm>
            <a:off x="1965960" y="1508760"/>
            <a:ext cx="932688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Do not expect users to change their code</a:t>
            </a:r>
            <a:endParaRPr lang="en-US" sz="1350" dirty="0"/>
          </a:p>
        </p:txBody>
      </p:sp>
      <p:sp>
        <p:nvSpPr>
          <p:cNvPr id="8" name="Text 6"/>
          <p:cNvSpPr txBox="1"/>
          <p:nvPr/>
        </p:nvSpPr>
        <p:spPr>
          <a:xfrm>
            <a:off x="1965960" y="1828800"/>
            <a:ext cx="9326880" cy="64008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Python still calls bz2.decompress(). Nothing above the library moves.</a:t>
            </a:r>
            <a:endParaRPr lang="en-US" sz="1200" dirty="0"/>
          </a:p>
        </p:txBody>
      </p:sp>
      <p:sp>
        <p:nvSpPr>
          <p:cNvPr id="9" name="Shape 7"/>
          <p:cNvSpPr/>
          <p:nvPr/>
        </p:nvSpPr>
        <p:spPr>
          <a:xfrm>
            <a:off x="548640" y="2743200"/>
            <a:ext cx="11091672" cy="1188720"/>
          </a:xfrm>
          <a:prstGeom prst="roundRect">
            <a:avLst>
              <a:gd name="adj" fmla="val 4615"/>
            </a:avLst>
          </a:prstGeom>
          <a:solidFill>
            <a:srgbClr val="F3F6F8"/>
          </a:solidFill>
          <a:ln w="9525">
            <a:solidFill>
              <a:srgbClr val="DBE2E8"/>
            </a:solidFill>
            <a:prstDash val="solid"/>
          </a:ln>
        </p:spPr>
      </p:sp>
      <p:sp>
        <p:nvSpPr>
          <p:cNvPr id="10" name="Text 8"/>
          <p:cNvSpPr txBox="1"/>
          <p:nvPr/>
        </p:nvSpPr>
        <p:spPr>
          <a:xfrm>
            <a:off x="822960" y="2880360"/>
            <a:ext cx="1097280" cy="274320"/>
          </a:xfrm>
          <a:prstGeom prst="rect">
            <a:avLst/>
          </a:prstGeom>
          <a:noFill/>
          <a:ln/>
        </p:spPr>
        <p:txBody>
          <a:bodyPr wrap="square" lIns="0" tIns="0" rIns="0" bIns="0" rtlCol="0" anchor="ctr"/>
          <a:lstStyle/>
          <a:p>
            <a:pPr indent="0" marL="0">
              <a:buNone/>
            </a:pPr>
            <a:r>
              <a:rPr lang="en-US" sz="1300" b="1" dirty="0">
                <a:solidFill>
                  <a:srgbClr val="E8833A"/>
                </a:solidFill>
                <a:latin typeface="Calibri" pitchFamily="34" charset="0"/>
                <a:ea typeface="Calibri" pitchFamily="34" charset="-122"/>
                <a:cs typeface="Calibri" pitchFamily="34" charset="-120"/>
              </a:rPr>
              <a:t>Rule 2</a:t>
            </a:r>
            <a:endParaRPr lang="en-US" sz="1300" dirty="0"/>
          </a:p>
        </p:txBody>
      </p:sp>
      <p:sp>
        <p:nvSpPr>
          <p:cNvPr id="11" name="Text 9"/>
          <p:cNvSpPr txBox="1"/>
          <p:nvPr/>
        </p:nvSpPr>
        <p:spPr>
          <a:xfrm>
            <a:off x="1965960" y="2880360"/>
            <a:ext cx="932688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If software must change, confine it to the library</a:t>
            </a:r>
            <a:endParaRPr lang="en-US" sz="1350" dirty="0"/>
          </a:p>
        </p:txBody>
      </p:sp>
      <p:sp>
        <p:nvSpPr>
          <p:cNvPr id="12" name="Text 10"/>
          <p:cNvSpPr txBox="1"/>
          <p:nvPr/>
        </p:nvSpPr>
        <p:spPr>
          <a:xfrm>
            <a:off x="1965960" y="3200400"/>
            <a:ext cx="9326880" cy="64008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Only the decompressor gains a fast path: map buffers, push the Huffman tables through the CSR window, write CTRL.START, sleep on the interrupt.</a:t>
            </a:r>
            <a:endParaRPr lang="en-US" sz="1200" dirty="0"/>
          </a:p>
        </p:txBody>
      </p:sp>
      <p:sp>
        <p:nvSpPr>
          <p:cNvPr id="13" name="Shape 11"/>
          <p:cNvSpPr/>
          <p:nvPr/>
        </p:nvSpPr>
        <p:spPr>
          <a:xfrm>
            <a:off x="548640" y="4114800"/>
            <a:ext cx="11091672" cy="1188720"/>
          </a:xfrm>
          <a:prstGeom prst="roundRect">
            <a:avLst>
              <a:gd name="adj" fmla="val 4615"/>
            </a:avLst>
          </a:prstGeom>
          <a:solidFill>
            <a:srgbClr val="F3F6F8"/>
          </a:solidFill>
          <a:ln w="9525">
            <a:solidFill>
              <a:srgbClr val="DBE2E8"/>
            </a:solidFill>
            <a:prstDash val="solid"/>
          </a:ln>
        </p:spPr>
      </p:sp>
      <p:sp>
        <p:nvSpPr>
          <p:cNvPr id="14" name="Text 12"/>
          <p:cNvSpPr txBox="1"/>
          <p:nvPr/>
        </p:nvSpPr>
        <p:spPr>
          <a:xfrm>
            <a:off x="822960" y="4251960"/>
            <a:ext cx="1097280" cy="274320"/>
          </a:xfrm>
          <a:prstGeom prst="rect">
            <a:avLst/>
          </a:prstGeom>
          <a:noFill/>
          <a:ln/>
        </p:spPr>
        <p:txBody>
          <a:bodyPr wrap="square" lIns="0" tIns="0" rIns="0" bIns="0" rtlCol="0" anchor="ctr"/>
          <a:lstStyle/>
          <a:p>
            <a:pPr indent="0" marL="0">
              <a:buNone/>
            </a:pPr>
            <a:r>
              <a:rPr lang="en-US" sz="1300" b="1" dirty="0">
                <a:solidFill>
                  <a:srgbClr val="E8833A"/>
                </a:solidFill>
                <a:latin typeface="Calibri" pitchFamily="34" charset="0"/>
                <a:ea typeface="Calibri" pitchFamily="34" charset="-122"/>
                <a:cs typeface="Calibri" pitchFamily="34" charset="-120"/>
              </a:rPr>
              <a:t>Rule 3</a:t>
            </a:r>
            <a:endParaRPr lang="en-US" sz="1300" dirty="0"/>
          </a:p>
        </p:txBody>
      </p:sp>
      <p:sp>
        <p:nvSpPr>
          <p:cNvPr id="15" name="Text 13"/>
          <p:cNvSpPr txBox="1"/>
          <p:nvPr/>
        </p:nvSpPr>
        <p:spPr>
          <a:xfrm>
            <a:off x="1965960" y="4251960"/>
            <a:ext cx="932688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Never break the user's code</a:t>
            </a:r>
            <a:endParaRPr lang="en-US" sz="1350" dirty="0"/>
          </a:p>
        </p:txBody>
      </p:sp>
      <p:sp>
        <p:nvSpPr>
          <p:cNvPr id="16" name="Text 14"/>
          <p:cNvSpPr txBox="1"/>
          <p:nvPr/>
        </p:nvSpPr>
        <p:spPr>
          <a:xfrm>
            <a:off x="1965960" y="4572000"/>
            <a:ext cx="9326880" cy="64008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START returns UNSUPPORTED for a randomised block or one larger than the on-chip SRAM, and the driver falls back to software. Our optimized Python mirrors this: a gzip input falls back to the baseline decoder.</a:t>
            </a:r>
            <a:endParaRPr lang="en-US" sz="1200" dirty="0"/>
          </a:p>
        </p:txBody>
      </p:sp>
      <p:sp>
        <p:nvSpPr>
          <p:cNvPr id="17" name="Text 15"/>
          <p:cNvSpPr txBox="1"/>
          <p:nvPr/>
        </p:nvSpPr>
        <p:spPr>
          <a:xfrm>
            <a:off x="548640" y="5596128"/>
            <a:ext cx="11091672" cy="475488"/>
          </a:xfrm>
          <a:prstGeom prst="rect">
            <a:avLst/>
          </a:prstGeom>
          <a:noFill/>
          <a:ln/>
        </p:spPr>
        <p:txBody>
          <a:bodyPr wrap="square" lIns="0" tIns="0" rIns="0" bIns="0" rtlCol="0" anchor="ctr"/>
          <a:lstStyle/>
          <a:p>
            <a:pPr indent="0" marL="0">
              <a:buNone/>
            </a:pPr>
            <a:r>
              <a:rPr lang="en-US" sz="1250" i="1" dirty="0">
                <a:solidFill>
                  <a:srgbClr val="2D9B8A"/>
                </a:solidFill>
                <a:latin typeface="Calibri" pitchFamily="34" charset="0"/>
                <a:ea typeface="Calibri" pitchFamily="34" charset="-122"/>
                <a:cs typeface="Calibri" pitchFamily="34" charset="-120"/>
              </a:rPr>
              <a:t>Security: the accelerator is a DMA master behind the IOMMU, with per-device page tables, so it can only touch the buffers the driver mapped for that request.</a:t>
            </a:r>
            <a:endParaRPr lang="en-US" sz="1250" dirty="0"/>
          </a:p>
        </p:txBody>
      </p:sp>
      <p:sp>
        <p:nvSpPr>
          <p:cNvPr id="18" name="Text 16"/>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19" name="Text 17"/>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B3</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Measurement environment</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Text 3"/>
          <p:cNvSpPr txBox="1"/>
          <p:nvPr/>
        </p:nvSpPr>
        <p:spPr>
          <a:xfrm>
            <a:off x="548640" y="137160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where</a:t>
            </a:r>
            <a:endParaRPr lang="en-US" sz="1200" dirty="0"/>
          </a:p>
        </p:txBody>
      </p:sp>
      <p:sp>
        <p:nvSpPr>
          <p:cNvPr id="6" name="Text 4"/>
          <p:cNvSpPr txBox="1"/>
          <p:nvPr/>
        </p:nvSpPr>
        <p:spPr>
          <a:xfrm>
            <a:off x="2286000" y="137160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INSIDE the course QEMU image — systemd-detect-virt = kvm</a:t>
            </a:r>
            <a:endParaRPr lang="en-US" sz="1250" dirty="0"/>
          </a:p>
        </p:txBody>
      </p:sp>
      <p:sp>
        <p:nvSpPr>
          <p:cNvPr id="7" name="Text 5"/>
          <p:cNvSpPr txBox="1"/>
          <p:nvPr/>
        </p:nvSpPr>
        <p:spPr>
          <a:xfrm>
            <a:off x="548640" y="187452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distro</a:t>
            </a:r>
            <a:endParaRPr lang="en-US" sz="1200" dirty="0"/>
          </a:p>
        </p:txBody>
      </p:sp>
      <p:sp>
        <p:nvSpPr>
          <p:cNvPr id="8" name="Text 6"/>
          <p:cNvSpPr txBox="1"/>
          <p:nvPr/>
        </p:nvSpPr>
        <p:spPr>
          <a:xfrm>
            <a:off x="2286000" y="187452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Ubuntu 22.04.5 LTS, kernel 5.15.0-1080-kvm</a:t>
            </a:r>
            <a:endParaRPr lang="en-US" sz="1250" dirty="0"/>
          </a:p>
        </p:txBody>
      </p:sp>
      <p:sp>
        <p:nvSpPr>
          <p:cNvPr id="9" name="Text 7"/>
          <p:cNvSpPr txBox="1"/>
          <p:nvPr/>
        </p:nvSpPr>
        <p:spPr>
          <a:xfrm>
            <a:off x="548640" y="237744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guest</a:t>
            </a:r>
            <a:endParaRPr lang="en-US" sz="1200" dirty="0"/>
          </a:p>
        </p:txBody>
      </p:sp>
      <p:sp>
        <p:nvSpPr>
          <p:cNvPr id="10" name="Text 8"/>
          <p:cNvSpPr txBox="1"/>
          <p:nvPr/>
        </p:nvSpPr>
        <p:spPr>
          <a:xfrm>
            <a:off x="2286000" y="237744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8 vcpus, 3938 MB, Haswell vPMU</a:t>
            </a:r>
            <a:endParaRPr lang="en-US" sz="1250" dirty="0"/>
          </a:p>
        </p:txBody>
      </p:sp>
      <p:sp>
        <p:nvSpPr>
          <p:cNvPr id="11" name="Text 9"/>
          <p:cNvSpPr txBox="1"/>
          <p:nvPr/>
        </p:nvSpPr>
        <p:spPr>
          <a:xfrm>
            <a:off x="548640" y="288036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python</a:t>
            </a:r>
            <a:endParaRPr lang="en-US" sz="1200" dirty="0"/>
          </a:p>
        </p:txBody>
      </p:sp>
      <p:sp>
        <p:nvSpPr>
          <p:cNvPr id="12" name="Text 10"/>
          <p:cNvSpPr txBox="1"/>
          <p:nvPr/>
        </p:nvSpPr>
        <p:spPr>
          <a:xfrm>
            <a:off x="2286000" y="288036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CPython 3.10.12  ·  pyperf 2.10.0  ·  perf 5.15.179</a:t>
            </a:r>
            <a:endParaRPr lang="en-US" sz="1250" dirty="0"/>
          </a:p>
        </p:txBody>
      </p:sp>
      <p:sp>
        <p:nvSpPr>
          <p:cNvPr id="13" name="Text 11"/>
          <p:cNvSpPr txBox="1"/>
          <p:nvPr/>
        </p:nvSpPr>
        <p:spPr>
          <a:xfrm>
            <a:off x="548640" y="338328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profilers</a:t>
            </a:r>
            <a:endParaRPr lang="en-US" sz="1200" dirty="0"/>
          </a:p>
        </p:txBody>
      </p:sp>
      <p:sp>
        <p:nvSpPr>
          <p:cNvPr id="14" name="Text 12"/>
          <p:cNvSpPr txBox="1"/>
          <p:nvPr/>
        </p:nvSpPr>
        <p:spPr>
          <a:xfrm>
            <a:off x="2286000" y="338328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py-spy 0.4.2 (Python frames)  ·  cProfile (call counts)</a:t>
            </a:r>
            <a:endParaRPr lang="en-US" sz="1250" dirty="0"/>
          </a:p>
        </p:txBody>
      </p:sp>
      <p:sp>
        <p:nvSpPr>
          <p:cNvPr id="15" name="Text 13"/>
          <p:cNvSpPr txBox="1"/>
          <p:nvPr/>
        </p:nvSpPr>
        <p:spPr>
          <a:xfrm>
            <a:off x="548640" y="388620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simulator</a:t>
            </a:r>
            <a:endParaRPr lang="en-US" sz="1200" dirty="0"/>
          </a:p>
        </p:txBody>
      </p:sp>
      <p:sp>
        <p:nvSpPr>
          <p:cNvPr id="16" name="Text 14"/>
          <p:cNvSpPr txBox="1"/>
          <p:nvPr/>
        </p:nvSpPr>
        <p:spPr>
          <a:xfrm>
            <a:off x="2286000" y="388620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Icarus Verilog 11.0</a:t>
            </a:r>
            <a:endParaRPr lang="en-US" sz="1250" dirty="0"/>
          </a:p>
        </p:txBody>
      </p:sp>
      <p:sp>
        <p:nvSpPr>
          <p:cNvPr id="17" name="Text 15"/>
          <p:cNvSpPr txBox="1"/>
          <p:nvPr/>
        </p:nvSpPr>
        <p:spPr>
          <a:xfrm>
            <a:off x="548640" y="438912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launch</a:t>
            </a:r>
            <a:endParaRPr lang="en-US" sz="1200" dirty="0"/>
          </a:p>
        </p:txBody>
      </p:sp>
      <p:sp>
        <p:nvSpPr>
          <p:cNvPr id="18" name="Text 16"/>
          <p:cNvSpPr txBox="1"/>
          <p:nvPr/>
        </p:nvSpPr>
        <p:spPr>
          <a:xfrm>
            <a:off x="2286000" y="438912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-cpu host,pmu=on over a qcow2 overlay; image never written</a:t>
            </a:r>
            <a:endParaRPr lang="en-US" sz="1250" dirty="0"/>
          </a:p>
        </p:txBody>
      </p:sp>
      <p:sp>
        <p:nvSpPr>
          <p:cNvPr id="19" name="Text 17"/>
          <p:cNvSpPr txBox="1"/>
          <p:nvPr/>
        </p:nvSpPr>
        <p:spPr>
          <a:xfrm>
            <a:off x="548640" y="489204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method</a:t>
            </a:r>
            <a:endParaRPr lang="en-US" sz="1200" dirty="0"/>
          </a:p>
        </p:txBody>
      </p:sp>
      <p:sp>
        <p:nvSpPr>
          <p:cNvPr id="20" name="Text 18"/>
          <p:cNvSpPr txBox="1"/>
          <p:nvPr/>
        </p:nvSpPr>
        <p:spPr>
          <a:xfrm>
            <a:off x="2286000" y="489204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pyperf --rigorous, taskset -c 2, counters in groups of two</a:t>
            </a:r>
            <a:endParaRPr lang="en-US" sz="1250" dirty="0"/>
          </a:p>
        </p:txBody>
      </p:sp>
      <p:sp>
        <p:nvSpPr>
          <p:cNvPr id="21" name="Text 19"/>
          <p:cNvSpPr txBox="1"/>
          <p:nvPr/>
        </p:nvSpPr>
        <p:spPr>
          <a:xfrm>
            <a:off x="548640" y="5577840"/>
            <a:ext cx="11091672" cy="548640"/>
          </a:xfrm>
          <a:prstGeom prst="rect">
            <a:avLst/>
          </a:prstGeom>
          <a:noFill/>
          <a:ln/>
        </p:spPr>
        <p:txBody>
          <a:bodyPr wrap="square" lIns="0" tIns="0" rIns="0" bIns="0" rtlCol="0" anchor="ctr"/>
          <a:lstStyle/>
          <a:p>
            <a:pPr indent="0" marL="0">
              <a:lnSpc>
                <a:spcPts val="1500"/>
              </a:lnSpc>
              <a:buNone/>
            </a:pPr>
            <a:r>
              <a:rPr lang="en-US" sz="1150" i="1" dirty="0">
                <a:solidFill>
                  <a:srgbClr val="6B7785"/>
                </a:solidFill>
                <a:latin typeface="Calibri" pitchFamily="34" charset="0"/>
                <a:ea typeface="Calibri" pitchFamily="34" charset="-122"/>
                <a:cs typeface="Calibri" pitchFamily="34" charset="-120"/>
              </a:rPr>
              <a:t>pmu=on is what makes hardware counters work at all in the guest; without it perf answers &lt;not supported&gt; for every hardware event. Every table in both reports regenerates with ./script_pyflate.sh and ./script_raytrace.sh, run inside the guest.</a:t>
            </a:r>
            <a:endParaRPr lang="en-US" sz="1150" dirty="0"/>
          </a:p>
        </p:txBody>
      </p:sp>
      <p:sp>
        <p:nvSpPr>
          <p:cNvPr id="22" name="Text 2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23" name="Text 2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B4</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Things we tried and rejected</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Text 3"/>
          <p:cNvSpPr txBox="1"/>
          <p:nvPr/>
        </p:nvSpPr>
        <p:spPr>
          <a:xfrm>
            <a:off x="548640" y="137160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6" name="Text 4"/>
          <p:cNvSpPr txBox="1"/>
          <p:nvPr/>
        </p:nvSpPr>
        <p:spPr>
          <a:xfrm>
            <a:off x="914400" y="137160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A full 2^20-entry Huffman LUT</a:t>
            </a:r>
            <a:endParaRPr lang="en-US" sz="1350" dirty="0"/>
          </a:p>
        </p:txBody>
      </p:sp>
      <p:sp>
        <p:nvSpPr>
          <p:cNvPr id="7" name="Text 5"/>
          <p:cNvSpPr txBox="1"/>
          <p:nvPr/>
        </p:nvSpPr>
        <p:spPr>
          <a:xfrm>
            <a:off x="914400" y="166420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Would decode in one step, but bzip2 allows 6 tables of length ≤ 20 — about 6M entries to BUILD per block, for a block that decodes 148k symbols. Table construction costs more than it saves.</a:t>
            </a:r>
            <a:endParaRPr lang="en-US" sz="1200" dirty="0"/>
          </a:p>
        </p:txBody>
      </p:sp>
      <p:sp>
        <p:nvSpPr>
          <p:cNvPr id="8" name="Text 6"/>
          <p:cNvSpPr txBox="1"/>
          <p:nvPr/>
        </p:nvSpPr>
        <p:spPr>
          <a:xfrm>
            <a:off x="548640" y="233172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914400" y="233172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numpy for the inverse BWT</a:t>
            </a:r>
            <a:endParaRPr lang="en-US" sz="1350" dirty="0"/>
          </a:p>
        </p:txBody>
      </p:sp>
      <p:sp>
        <p:nvSpPr>
          <p:cNvPr id="10" name="Text 8"/>
          <p:cNvSpPr txBox="1"/>
          <p:nvPr/>
        </p:nvSpPr>
        <p:spPr>
          <a:xfrm>
            <a:off x="914400" y="262432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An added dependency for a stage the ablation shows is worth ~3%.</a:t>
            </a:r>
            <a:endParaRPr lang="en-US" sz="1200" dirty="0"/>
          </a:p>
        </p:txBody>
      </p:sp>
      <p:sp>
        <p:nvSpPr>
          <p:cNvPr id="11" name="Text 9"/>
          <p:cNvSpPr txBox="1"/>
          <p:nvPr/>
        </p:nvSpPr>
        <p:spPr>
          <a:xfrm>
            <a:off x="548640" y="329184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914400" y="329184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A BVH for raytrace</a:t>
            </a:r>
            <a:endParaRPr lang="en-US" sz="1350" dirty="0"/>
          </a:p>
        </p:txBody>
      </p:sp>
      <p:sp>
        <p:nvSpPr>
          <p:cNvPr id="13" name="Text 11"/>
          <p:cNvSpPr txBox="1"/>
          <p:nvPr/>
        </p:nvSpPr>
        <p:spPr>
          <a:xfrm>
            <a:off x="914400" y="358444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The first thing a graphics person proposes. With 8 objects, traversal overhead exceeds the 8 intersection tests it would save.</a:t>
            </a:r>
            <a:endParaRPr lang="en-US" sz="1200" dirty="0"/>
          </a:p>
        </p:txBody>
      </p:sp>
      <p:sp>
        <p:nvSpPr>
          <p:cNvPr id="14" name="Text 12"/>
          <p:cNvSpPr txBox="1"/>
          <p:nvPr/>
        </p:nvSpPr>
        <p:spPr>
          <a:xfrm>
            <a:off x="548640" y="425196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914400" y="425196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bfloat16 in the raytrace datapath</a:t>
            </a:r>
            <a:endParaRPr lang="en-US" sz="1350" dirty="0"/>
          </a:p>
        </p:txBody>
      </p:sp>
      <p:sp>
        <p:nvSpPr>
          <p:cNvPr id="16" name="Text 14"/>
          <p:cNvSpPr txBox="1"/>
          <p:nvPr/>
        </p:nvSpPr>
        <p:spPr>
          <a:xfrm>
            <a:off x="914400" y="454456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Halves multiplier area, but 8 mantissa bits cannot survive the catastrophic cancellation in (cc − v·v).</a:t>
            </a:r>
            <a:endParaRPr lang="en-US" sz="1200" dirty="0"/>
          </a:p>
        </p:txBody>
      </p:sp>
      <p:sp>
        <p:nvSpPr>
          <p:cNvPr id="17" name="Text 15"/>
          <p:cNvSpPr txBox="1"/>
          <p:nvPr/>
        </p:nvSpPr>
        <p:spPr>
          <a:xfrm>
            <a:off x="548640" y="521208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18" name="Text 16"/>
          <p:cNvSpPr txBox="1"/>
          <p:nvPr/>
        </p:nvSpPr>
        <p:spPr>
          <a:xfrm>
            <a:off x="914400" y="521208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Swapping in libbz2 / a C extension</a:t>
            </a:r>
            <a:endParaRPr lang="en-US" sz="1350" dirty="0"/>
          </a:p>
        </p:txBody>
      </p:sp>
      <p:sp>
        <p:nvSpPr>
          <p:cNvPr id="19" name="Text 17"/>
          <p:cNvSpPr txBox="1"/>
          <p:nvPr/>
        </p:nvSpPr>
        <p:spPr>
          <a:xfrm>
            <a:off x="914400" y="550468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Would post a huge speedup while measuring nothing. The benchmark exists to measure the interpreter.</a:t>
            </a:r>
            <a:endParaRPr lang="en-US" sz="1200" dirty="0"/>
          </a:p>
        </p:txBody>
      </p:sp>
      <p:sp>
        <p:nvSpPr>
          <p:cNvPr id="20" name="Text 18"/>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21" name="Text 19"/>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B5</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How we tested beyond the benchmark</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Shape 3"/>
          <p:cNvSpPr/>
          <p:nvPr/>
        </p:nvSpPr>
        <p:spPr>
          <a:xfrm>
            <a:off x="548640" y="1371600"/>
            <a:ext cx="5394960" cy="2194560"/>
          </a:xfrm>
          <a:prstGeom prst="roundRect">
            <a:avLst>
              <a:gd name="adj" fmla="val 2500"/>
            </a:avLst>
          </a:prstGeom>
          <a:solidFill>
            <a:srgbClr val="F3F6F8"/>
          </a:solidFill>
          <a:ln w="9525">
            <a:solidFill>
              <a:srgbClr val="DBE2E8"/>
            </a:solidFill>
            <a:prstDash val="solid"/>
          </a:ln>
        </p:spPr>
      </p:sp>
      <p:sp>
        <p:nvSpPr>
          <p:cNvPr id="6" name="Text 4"/>
          <p:cNvSpPr txBox="1"/>
          <p:nvPr/>
        </p:nvSpPr>
        <p:spPr>
          <a:xfrm>
            <a:off x="822960" y="1536192"/>
            <a:ext cx="484632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pyflate — 16 streams vs libbz2</a:t>
            </a:r>
            <a:endParaRPr lang="en-US" sz="1400" dirty="0"/>
          </a:p>
        </p:txBody>
      </p:sp>
      <p:sp>
        <p:nvSpPr>
          <p:cNvPr id="7" name="Text 5"/>
          <p:cNvSpPr txBox="1"/>
          <p:nvPr/>
        </p:nvSpPr>
        <p:spPr>
          <a:xfrm>
            <a:off x="822960" y="1874520"/>
            <a:ext cx="4846320" cy="155448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empty, 1 byte, 1 KB of zeros, RLE runs</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highly repetitive, text, 64 KB random</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a 900 KB MULTI-BLOCK file</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levels 1 and 9 — checked against libbz2,</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an oracle we did not write</a:t>
            </a:r>
            <a:endParaRPr lang="en-US" sz="1200" dirty="0"/>
          </a:p>
        </p:txBody>
      </p:sp>
      <p:sp>
        <p:nvSpPr>
          <p:cNvPr id="8" name="Shape 6"/>
          <p:cNvSpPr/>
          <p:nvPr/>
        </p:nvSpPr>
        <p:spPr>
          <a:xfrm>
            <a:off x="6245352" y="1371600"/>
            <a:ext cx="5394960" cy="2194560"/>
          </a:xfrm>
          <a:prstGeom prst="roundRect">
            <a:avLst>
              <a:gd name="adj" fmla="val 2500"/>
            </a:avLst>
          </a:prstGeom>
          <a:solidFill>
            <a:srgbClr val="F3F6F8"/>
          </a:solidFill>
          <a:ln w="9525">
            <a:solidFill>
              <a:srgbClr val="DBE2E8"/>
            </a:solidFill>
            <a:prstDash val="solid"/>
          </a:ln>
        </p:spPr>
      </p:sp>
      <p:sp>
        <p:nvSpPr>
          <p:cNvPr id="9" name="Text 7"/>
          <p:cNvSpPr txBox="1"/>
          <p:nvPr/>
        </p:nvSpPr>
        <p:spPr>
          <a:xfrm>
            <a:off x="6519672" y="1536192"/>
            <a:ext cx="484632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raytrace — 7 resolutions</a:t>
            </a:r>
            <a:endParaRPr lang="en-US" sz="1400" dirty="0"/>
          </a:p>
        </p:txBody>
      </p:sp>
      <p:sp>
        <p:nvSpPr>
          <p:cNvPr id="10" name="Text 8"/>
          <p:cNvSpPr txBox="1"/>
          <p:nvPr/>
        </p:nvSpPr>
        <p:spPr>
          <a:xfrm>
            <a:off x="6519672" y="1874520"/>
            <a:ext cx="4846320" cy="155448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2×2, 3×7, 16×16, 50×50</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100×100, 101×37, 128×96</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bit-identical at every one</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the default is not a special case</a:t>
            </a:r>
            <a:endParaRPr lang="en-US" sz="1200" dirty="0"/>
          </a:p>
        </p:txBody>
      </p:sp>
      <p:sp>
        <p:nvSpPr>
          <p:cNvPr id="11" name="Text 9"/>
          <p:cNvSpPr txBox="1"/>
          <p:nvPr/>
        </p:nvSpPr>
        <p:spPr>
          <a:xfrm>
            <a:off x="548640" y="379476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Two API divergences we found and disclosed</a:t>
            </a:r>
            <a:endParaRPr lang="en-US" sz="1400" dirty="0"/>
          </a:p>
        </p:txBody>
      </p:sp>
      <p:sp>
        <p:nvSpPr>
          <p:cNvPr id="12" name="Text 10"/>
          <p:cNvSpPr txBox="1"/>
          <p:nvPr/>
        </p:nvSpPr>
        <p:spPr>
          <a:xfrm>
            <a:off x="548640" y="4114800"/>
            <a:ext cx="11091672" cy="640080"/>
          </a:xfrm>
          <a:prstGeom prst="rect">
            <a:avLst/>
          </a:prstGeom>
          <a:noFill/>
          <a:ln/>
        </p:spPr>
        <p:txBody>
          <a:bodyPr wrap="square" lIns="0" tIns="0" rIns="0" bIns="0" rtlCol="0" anchor="ctr"/>
          <a:lstStyle/>
          <a:p>
            <a:pPr indent="0" marL="0">
              <a:lnSpc>
                <a:spcPts val="1700"/>
              </a:lnSpc>
              <a:buNone/>
            </a:pPr>
            <a:r>
              <a:rPr lang="en-US" sz="1250" dirty="0">
                <a:solidFill>
                  <a:srgbClr val="6B7785"/>
                </a:solidFill>
                <a:latin typeface="Calibri" pitchFamily="34" charset="0"/>
                <a:ea typeface="Calibri" pitchFamily="34" charset="-122"/>
                <a:cs typeface="Calibri" pitchFamily="34" charset="-120"/>
              </a:rPr>
              <a:t>Removing the type assertions (O3) means Vector − Point and Vector.dot(Point) now compute silently where the baseline raised TypeError. Both are invalid usage the renderer never produces — but they are a behaviour change, so we documented them rather than leaving them to be discovered.</a:t>
            </a:r>
            <a:endParaRPr lang="en-US" sz="1250" dirty="0"/>
          </a:p>
        </p:txBody>
      </p:sp>
      <p:sp>
        <p:nvSpPr>
          <p:cNvPr id="13" name="Text 11"/>
          <p:cNvSpPr txBox="1"/>
          <p:nvPr/>
        </p:nvSpPr>
        <p:spPr>
          <a:xfrm>
            <a:off x="548640" y="4892040"/>
            <a:ext cx="11091672" cy="457200"/>
          </a:xfrm>
          <a:prstGeom prst="rect">
            <a:avLst/>
          </a:prstGeom>
          <a:noFill/>
          <a:ln/>
        </p:spPr>
        <p:txBody>
          <a:bodyPr wrap="square" lIns="0" tIns="0" rIns="0" bIns="0" rtlCol="0" anchor="ctr"/>
          <a:lstStyle/>
          <a:p>
            <a:pPr indent="0" marL="0">
              <a:lnSpc>
                <a:spcPts val="1700"/>
              </a:lnSpc>
              <a:buNone/>
            </a:pPr>
            <a:r>
              <a:rPr lang="en-US" sz="1250" i="1" dirty="0">
                <a:solidFill>
                  <a:srgbClr val="2D9B8A"/>
                </a:solidFill>
                <a:latin typeface="Calibri" pitchFamily="34" charset="0"/>
                <a:ea typeface="Calibri" pitchFamily="34" charset="-122"/>
                <a:cs typeface="Calibri" pitchFamily="34" charset="-120"/>
              </a:rPr>
              <a:t>The correctness gate runs before any timing is reported. tools/verify.py compares all 399,360 decompressed bytes and the full 30,000-byte framebuffer.</a:t>
            </a:r>
            <a:endParaRPr lang="en-US" sz="1250" dirty="0"/>
          </a:p>
        </p:txBody>
      </p:sp>
      <p:sp>
        <p:nvSpPr>
          <p:cNvPr id="14" name="Text 12"/>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15" name="Text 13"/>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HW/SW Co-design - Final Project</dc:title>
  <dc:subject>PptxGenJS Presentation</dc:subject>
  <dc:creator>Taha Taha, Lana Bakre</dc:creator>
  <cp:lastModifiedBy>Taha Taha, Lana Bakre</cp:lastModifiedBy>
  <cp:revision>1</cp:revision>
  <dcterms:created xsi:type="dcterms:W3CDTF">2026-09-20T20:13:38Z</dcterms:created>
  <dcterms:modified xsi:type="dcterms:W3CDTF">2026-09-20T20:13:38Z</dcterms:modified>
</cp:coreProperties>
</file>